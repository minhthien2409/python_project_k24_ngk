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vi-VN"/>
          </a:p>
        </p:txBody>
      </p:sp>
    </p:spTree>
  </p:cSld>
  <p:clrMap bg1="lt1" tx1="dk1" bg2="lt2" tx2="dk2" accent1="accent1" accent2="accent2" accent3="accent3" accent4="accent4" accent5="accent5" accent6="accent6" hlink="hlink" folHlink="folHlink"/>
  <p:hf/>
  <p:notesStyle>
    <a:lvl1pPr marL="0" algn="l">
      <a:defRPr lang="vi-V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Xin chào. Hôm nay tôi trình bày báo cáo BRD và TRD cho nền tảng Pobby, một sàn thương mại B2B2C kết nối ba nhóm đối tượng: khách hàng, người bán và quản trị viên. Mục tiêu của MVP là hoàn thành trong mười tuần, với hơn năm mươi người bán, năm trăm sản phẩm và một nghìn đơn hàng. Đây là mục tiêu, không phải kết quả đã đạt được. Tài liệu hiện ở phiên bản hai, ngày mười sáu tháng chín năm hai nghìn không trăm hai mươi sáu, ở trạng thái dự thảo và bảo mật nội bộ.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Bối cảnh xuất phát từ các doanh nghiệp vừa và nhỏ đang gặp bốn vấn đề chính. Chi phí bán hàng cao, việc quản lý bị rời rạc giữa nhiều kênh, thiếu công cụ phân tích kết quả, và rào cản kỹ thuật khiến họ khó tự xây dựng nền tảng. Nhu cầu chung là có một nơi duy nhất để bán hàng, quản lý và theo dõi kết quả.</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Giải pháp là nền tảng Pobby kết nối ba giao diện. Khách hàng dùng giao diện mua sắm để khám phá và mua sản phẩm. Người bán dùng cổng bán hàng để vận hành gian hàng. Quản trị viên dùng bảng điều khiển để kiểm duyệt và giám sát. Cả ba giao diện dùng chung một nền tảng, dữ liệu, đơn hàng và quyền được tập trung. Người bán đăng ký, được duyệt KYC, rồi mới đăng bán.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Phạm vi MVP gồm tài khoản, gian hàng, sản phẩm, giỏ hàng, đơn hàng và quản trị. Ma trận phân quyền cho thấy khách vãng lai chỉ xem và tìm sản phẩm. Khách hàng đã đăng nhập thêm được giỏ hàng và đặt hàng. Người bán chỉ thấy dữ liệu của gian hàng mình. Quản trị viên và quản trị viên cấp cao quản lý người bán, người dùng, cấu hình và nhật ký kiểm toán. Lưu ý, khách vãng lai mua hàng không cần đăng nhập hiện còn mâu thuẫn với yêu cầu nghiệp vụ BR-010, cần chốt trước khi triển khai.</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Ba đối tượng cùng tham gia một hành trình đơn hàng. Khách hàng tìm sản phẩm, đặt hàng, theo dõi và đánh giá. Người bán quản lý gian hàng, xử lý đơn, theo dõi tồn kho và doanh thu. Quản trị viên duyệt người bán, kiểm duyệt sản phẩm, quản lý người dùng và giám sát. Đơn hàng đi qua bốn trạng thái: chờ xác nhận, đang xử lý, đang giao và đã giao. Hủy đơn và hoàn tiền là nhánh ngoại lệ, không nằm trong luồng chính.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Kiến trúc gồm ba lớp. Lớp trình diễn là ứng dụng React phục vụ ba giao diện. Lớp nghiệp vụ là API Flask xử lý xác thực, phân quyền và đơn hàng. Lớp dữ liệu là PostgreSQL lưu trữ tập trung. Khi triển khai, Nginx đứng trước, chuyển tiếp đến Gunicorn và Flask. Một backend duy nhất phục vụ cả ba giao diện.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Mô hình dữ liệu lõi gồm sáu thực thể: người dùng, gian hàng, danh mục, sản phẩm, đơn hàng và chi tiết đơn hàng. Gian hàng thuộc về người dùng, sản phẩm thuộc về gian hàng và danh mục, đơn hàng gắn với người dùng và gian hàng, chi tiết đơn hàng gắn với đơn hàng và sản phẩm. Email của người dùng và tên danh mục là duy nhất. Đây là mô hình giản lược, bỏ qua các bảng phụ như địa chỉ, thanh toán và đánh giá để tập trung vào luồng đơn hàng.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VN" dirty="0"/>
              <a:t>Về phi chức năng, trang tải dưới ba giây, API phản hồi dưới năm trăm mili giây. Hệ thống dùng HTTPS, mã hóa và phân quyền. Mục tiêu khả dụng là chín mươi chín phẩy năm phần trăm. Thiết kế theo module để dễ mở rộng, kèm nhật ký kiểm toán. Lộ trình mười tuần chia năm giai đoạn: khởi tạo hạ tầng, tài khoản và xác thực, gian hàng và sản phẩm, giỏ hàng và đơn hàng, cuối cùng là quản trị, kiểm thử và ra mắt. Các mốc là tương đối, chưa chốt ngày cụ thể.</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VN" dirty="0"/>
              <a:t>Tóm lại, nhánh BRD trả lời vì sao và làm gì, nhánh TRD trả lời làm thế nào, cả hai hội tụ về một MVP trong mười tuần với ba giao diện trên một nền tảng. Trước khi bắt đầu, cần chốt bốn quyết định: khách vãng lai mua hàng, phương thức thanh toán, chính sách hủy đơn và hoàn tiền, và ngày khởi động chính thức. Chốt xong bốn điểm này, đội có thể bắt đầu Sprint đầu tiên.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pobby_brd_trd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obby_brd_trd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438150" y="597218"/>
            <a:ext cx="3617214" cy="3351466"/>
            <a:chOff x="438150" y="597218"/>
            <a:chExt cx="3617214" cy="3351466"/>
          </a:xfrm>
        </p:grpSpPr>
        <p:sp>
          <p:nvSpPr>
            <p:cNvPr id="2" name="TextBox 2"/>
            <p:cNvSpPr txBox="1"/>
            <p:nvPr/>
          </p:nvSpPr>
          <p:spPr>
            <a:xfrm>
              <a:off x="450342" y="597218"/>
              <a:ext cx="24812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POBBY · BÁO CÁO BRD &amp; TRD</a:t>
              </a:r>
            </a:p>
          </p:txBody>
        </p:sp>
        <p:sp>
          <p:nvSpPr>
            <p:cNvPr id="3" name="TextBox 3"/>
            <p:cNvSpPr txBox="1"/>
            <p:nvPr/>
          </p:nvSpPr>
          <p:spPr>
            <a:xfrm>
              <a:off x="438150" y="1043940"/>
              <a:ext cx="1925056" cy="933450"/>
            </a:xfrm>
            <a:prstGeom prst="rect">
              <a:avLst/>
            </a:prstGeom>
            <a:noFill/>
            <a:ln>
              <a:noFill/>
            </a:ln>
          </p:spPr>
          <p:txBody>
            <a:bodyPr wrap="none" lIns="0" tIns="0" rIns="0" bIns="0" anchor="t" anchorCtr="0">
              <a:spAutoFit/>
            </a:bodyPr>
            <a:lstStyle/>
            <a:p>
              <a:pPr algn="l"/>
              <a:r>
                <a:rPr lang="vi-VN" sz="4800" b="1" dirty="0">
                  <a:solidFill>
                    <a:schemeClr val="dk1"/>
                  </a:solidFill>
                  <a:latin typeface="+mn-lt"/>
                  <a:ea typeface="+mn-ea"/>
                  <a:cs typeface="+mn-cs"/>
                </a:rPr>
                <a:t>Pobby</a:t>
              </a:r>
            </a:p>
          </p:txBody>
        </p:sp>
        <p:sp>
          <p:nvSpPr>
            <p:cNvPr id="4" name="TextBox 4"/>
            <p:cNvSpPr txBox="1"/>
            <p:nvPr/>
          </p:nvSpPr>
          <p:spPr>
            <a:xfrm>
              <a:off x="441198" y="1907858"/>
              <a:ext cx="2489311" cy="1130427"/>
            </a:xfrm>
            <a:prstGeom prst="rect">
              <a:avLst/>
            </a:prstGeom>
            <a:noFill/>
            <a:ln>
              <a:noFill/>
            </a:ln>
          </p:spPr>
          <p:txBody>
            <a:bodyPr wrap="none" lIns="0" tIns="0" rIns="0" bIns="0" anchor="t" anchorCtr="0">
              <a:spAutoFit/>
            </a:bodyPr>
            <a:lstStyle/>
            <a:p>
              <a:pPr algn="l">
                <a:lnSpc>
                  <a:spcPts val="4050"/>
                </a:lnSpc>
              </a:pPr>
              <a:r>
                <a:rPr lang="vi-VN" sz="3150" b="1" dirty="0">
                  <a:solidFill>
                    <a:schemeClr val="dk1"/>
                  </a:solidFill>
                  <a:latin typeface="+mn-lt"/>
                  <a:ea typeface="+mn-ea"/>
                  <a:cs typeface="+mn-cs"/>
                </a:rPr>
                <a:t>Từ nhu cầu</a:t>
              </a:r>
              <a:br/>
              <a:r>
                <a:rPr lang="vi-VN" sz="3150" b="1" dirty="0">
                  <a:solidFill>
                    <a:schemeClr val="dk1"/>
                  </a:solidFill>
                  <a:latin typeface="+mn-lt"/>
                  <a:ea typeface="+mn-ea"/>
                  <a:cs typeface="+mn-cs"/>
                </a:rPr>
                <a:t>đến thiết kế</a:t>
              </a:r>
            </a:p>
          </p:txBody>
        </p:sp>
        <p:sp>
          <p:nvSpPr>
            <p:cNvPr id="5" name="Freeform 5"/>
            <p:cNvSpPr/>
            <p:nvPr/>
          </p:nvSpPr>
          <p:spPr>
            <a:xfrm>
              <a:off x="476250" y="2908300"/>
              <a:ext cx="3105150" cy="53975"/>
            </a:xfrm>
            <a:custGeom>
              <a:avLst/>
              <a:gdLst/>
              <a:ahLst/>
              <a:cxnLst/>
              <a:rect l="l" t="t" r="r" b="b"/>
              <a:pathLst>
                <a:path w="3105150" h="53975">
                  <a:moveTo>
                    <a:pt x="0" y="44450"/>
                  </a:moveTo>
                  <a:cubicBezTo>
                    <a:pt x="1016000" y="0"/>
                    <a:pt x="2051050" y="3175"/>
                    <a:pt x="3105150" y="53975"/>
                  </a:cubicBezTo>
                </a:path>
              </a:pathLst>
            </a:custGeom>
            <a:noFill/>
            <a:ln w="47625" cap="rnd">
              <a:solidFill>
                <a:schemeClr val="accent2"/>
              </a:solidFill>
            </a:ln>
          </p:spPr>
        </p:sp>
        <p:sp>
          <p:nvSpPr>
            <p:cNvPr id="6" name="TextBox 6"/>
            <p:cNvSpPr txBox="1"/>
            <p:nvPr/>
          </p:nvSpPr>
          <p:spPr>
            <a:xfrm>
              <a:off x="448056" y="3253740"/>
              <a:ext cx="3607308" cy="694944"/>
            </a:xfrm>
            <a:prstGeom prst="rect">
              <a:avLst/>
            </a:prstGeom>
            <a:noFill/>
            <a:ln>
              <a:noFill/>
            </a:ln>
          </p:spPr>
          <p:txBody>
            <a:bodyPr wrap="none" lIns="0" tIns="0" rIns="0" bIns="0" anchor="t" anchorCtr="0">
              <a:spAutoFit/>
            </a:bodyPr>
            <a:lstStyle/>
            <a:p>
              <a:pPr algn="l">
                <a:lnSpc>
                  <a:spcPts val="2700"/>
                </a:lnSpc>
              </a:pPr>
              <a:r>
                <a:rPr lang="vi-VN" sz="1800" dirty="0">
                  <a:solidFill>
                    <a:schemeClr val="dk1"/>
                  </a:solidFill>
                  <a:latin typeface="+mn-lt"/>
                  <a:ea typeface="+mn-ea"/>
                  <a:cs typeface="+mn-cs"/>
                </a:rPr>
                <a:t>Nền tảng B2B2C cho SME Việt Nam</a:t>
              </a:r>
              <a:br/>
              <a:r>
                <a:rPr lang="vi-VN" sz="1800" dirty="0">
                  <a:solidFill>
                    <a:schemeClr val="dk1"/>
                  </a:solidFill>
                  <a:latin typeface="+mn-lt"/>
                  <a:ea typeface="+mn-ea"/>
                  <a:cs typeface="+mn-cs"/>
                </a:rPr>
                <a:t>Thời trang · Phụ kiện · Đồng hồ</a:t>
              </a:r>
            </a:p>
          </p:txBody>
        </p:sp>
      </p:grpSp>
      <p:grpSp>
        <p:nvGrpSpPr>
          <p:cNvPr id="21" name="Group 21"/>
          <p:cNvGrpSpPr/>
          <p:nvPr/>
        </p:nvGrpSpPr>
        <p:grpSpPr>
          <a:xfrm>
            <a:off x="7010400" y="609600"/>
            <a:ext cx="4724400" cy="3486150"/>
            <a:chOff x="7010400" y="609600"/>
            <a:chExt cx="4724400" cy="3486150"/>
          </a:xfrm>
        </p:grpSpPr>
        <p:sp>
          <p:nvSpPr>
            <p:cNvPr id="8" name="Rectangle 8"/>
            <p:cNvSpPr/>
            <p:nvPr/>
          </p:nvSpPr>
          <p:spPr>
            <a:xfrm>
              <a:off x="7010400" y="609600"/>
              <a:ext cx="4724400" cy="3486150"/>
            </a:xfrm>
            <a:prstGeom prst="roundRect">
              <a:avLst>
                <a:gd name="adj" fmla="val 4372"/>
              </a:avLst>
            </a:prstGeom>
            <a:solidFill>
              <a:schemeClr val="lt2"/>
            </a:solidFill>
            <a:ln>
              <a:noFill/>
            </a:ln>
          </p:spPr>
        </p:sp>
        <p:sp>
          <p:nvSpPr>
            <p:cNvPr id="9" name="TextBox 9"/>
            <p:cNvSpPr txBox="1"/>
            <p:nvPr/>
          </p:nvSpPr>
          <p:spPr>
            <a:xfrm>
              <a:off x="7308342" y="882968"/>
              <a:ext cx="2135581"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MỘT NỀN TẢNG · BA PHÍA</a:t>
              </a:r>
            </a:p>
          </p:txBody>
        </p:sp>
        <p:sp>
          <p:nvSpPr>
            <p:cNvPr id="10" name="Line 10"/>
            <p:cNvSpPr/>
            <p:nvPr/>
          </p:nvSpPr>
          <p:spPr>
            <a:xfrm>
              <a:off x="7677150" y="1562100"/>
              <a:ext cx="9525" cy="1914525"/>
            </a:xfrm>
            <a:custGeom>
              <a:avLst/>
              <a:gdLst/>
              <a:ahLst/>
              <a:cxnLst/>
              <a:rect l="l" t="t" r="r" b="b"/>
              <a:pathLst>
                <a:path w="9525" h="1914525">
                  <a:moveTo>
                    <a:pt x="0" y="0"/>
                  </a:moveTo>
                  <a:lnTo>
                    <a:pt x="0" y="1914525"/>
                  </a:lnTo>
                </a:path>
              </a:pathLst>
            </a:custGeom>
            <a:noFill/>
            <a:ln w="28575">
              <a:solidFill>
                <a:schemeClr val="accent6"/>
              </a:solidFill>
            </a:ln>
          </p:spPr>
        </p:sp>
        <p:sp>
          <p:nvSpPr>
            <p:cNvPr id="11" name="Ellipse 11"/>
            <p:cNvSpPr/>
            <p:nvPr/>
          </p:nvSpPr>
          <p:spPr>
            <a:xfrm>
              <a:off x="7458075" y="1419225"/>
              <a:ext cx="438150" cy="438150"/>
            </a:xfrm>
            <a:prstGeom prst="ellipse">
              <a:avLst/>
            </a:prstGeom>
            <a:solidFill>
              <a:schemeClr val="accent1">
                <a:alpha val="14000"/>
              </a:schemeClr>
            </a:solidFill>
            <a:ln>
              <a:noFill/>
            </a:ln>
          </p:spPr>
        </p:sp>
        <p:sp>
          <p:nvSpPr>
            <p:cNvPr id="12" name="Ellipse 12"/>
            <p:cNvSpPr/>
            <p:nvPr/>
          </p:nvSpPr>
          <p:spPr>
            <a:xfrm>
              <a:off x="7458075" y="2314575"/>
              <a:ext cx="438150" cy="438150"/>
            </a:xfrm>
            <a:prstGeom prst="ellipse">
              <a:avLst/>
            </a:prstGeom>
            <a:solidFill>
              <a:schemeClr val="accent3">
                <a:alpha val="14000"/>
              </a:schemeClr>
            </a:solidFill>
            <a:ln>
              <a:noFill/>
            </a:ln>
          </p:spPr>
        </p:sp>
        <p:sp>
          <p:nvSpPr>
            <p:cNvPr id="13" name="Ellipse 13"/>
            <p:cNvSpPr/>
            <p:nvPr/>
          </p:nvSpPr>
          <p:spPr>
            <a:xfrm>
              <a:off x="7458075" y="3209925"/>
              <a:ext cx="438150" cy="438150"/>
            </a:xfrm>
            <a:prstGeom prst="ellipse">
              <a:avLst/>
            </a:prstGeom>
            <a:solidFill>
              <a:srgbClr val="EA4335">
                <a:alpha val="14000"/>
              </a:srgbClr>
            </a:solidFill>
            <a:ln>
              <a:noFill/>
            </a:ln>
          </p:spPr>
        </p:sp>
        <p:grpSp>
          <p:nvGrpSpPr>
            <p:cNvPr id="17" name="Group 17"/>
            <p:cNvGrpSpPr/>
            <p:nvPr/>
          </p:nvGrpSpPr>
          <p:grpSpPr>
            <a:xfrm>
              <a:off x="7611223" y="1543050"/>
              <a:ext cx="131855" cy="2084070"/>
              <a:chOff x="7611223" y="1543050"/>
              <a:chExt cx="131855" cy="2084070"/>
            </a:xfrm>
          </p:grpSpPr>
          <p:sp>
            <p:nvSpPr>
              <p:cNvPr id="14" name="TextBox 14"/>
              <p:cNvSpPr txBox="1"/>
              <p:nvPr/>
            </p:nvSpPr>
            <p:spPr>
              <a:xfrm>
                <a:off x="7611223" y="1543050"/>
                <a:ext cx="131855" cy="293370"/>
              </a:xfrm>
              <a:prstGeom prst="rect">
                <a:avLst/>
              </a:prstGeom>
              <a:noFill/>
              <a:ln>
                <a:noFill/>
              </a:ln>
            </p:spPr>
            <p:txBody>
              <a:bodyPr wrap="none" lIns="0" tIns="0" rIns="0" bIns="0" anchor="t" anchorCtr="0">
                <a:spAutoFit/>
              </a:bodyPr>
              <a:lstStyle/>
              <a:p>
                <a:pPr algn="ctr"/>
                <a:r>
                  <a:rPr lang="vi-VN" sz="1500" b="1" dirty="0">
                    <a:solidFill>
                      <a:schemeClr val="dk1"/>
                    </a:solidFill>
                    <a:latin typeface="+mn-lt"/>
                    <a:ea typeface="+mn-ea"/>
                    <a:cs typeface="+mn-cs"/>
                  </a:rPr>
                  <a:t>1</a:t>
                </a:r>
              </a:p>
            </p:txBody>
          </p:sp>
          <p:sp>
            <p:nvSpPr>
              <p:cNvPr id="15" name="TextBox 15"/>
              <p:cNvSpPr txBox="1"/>
              <p:nvPr/>
            </p:nvSpPr>
            <p:spPr>
              <a:xfrm>
                <a:off x="7611223" y="2438400"/>
                <a:ext cx="131855" cy="293370"/>
              </a:xfrm>
              <a:prstGeom prst="rect">
                <a:avLst/>
              </a:prstGeom>
              <a:noFill/>
              <a:ln>
                <a:noFill/>
              </a:ln>
            </p:spPr>
            <p:txBody>
              <a:bodyPr wrap="none" lIns="0" tIns="0" rIns="0" bIns="0" anchor="t" anchorCtr="0">
                <a:spAutoFit/>
              </a:bodyPr>
              <a:lstStyle/>
              <a:p>
                <a:pPr algn="ctr"/>
                <a:r>
                  <a:rPr lang="vi-VN" sz="1500" b="1" dirty="0">
                    <a:solidFill>
                      <a:schemeClr val="dk1"/>
                    </a:solidFill>
                    <a:latin typeface="+mn-lt"/>
                    <a:ea typeface="+mn-ea"/>
                    <a:cs typeface="+mn-cs"/>
                  </a:rPr>
                  <a:t>2</a:t>
                </a:r>
              </a:p>
            </p:txBody>
          </p:sp>
          <p:sp>
            <p:nvSpPr>
              <p:cNvPr id="16" name="TextBox 16"/>
              <p:cNvSpPr txBox="1"/>
              <p:nvPr/>
            </p:nvSpPr>
            <p:spPr>
              <a:xfrm>
                <a:off x="7611223" y="3333750"/>
                <a:ext cx="131855" cy="293370"/>
              </a:xfrm>
              <a:prstGeom prst="rect">
                <a:avLst/>
              </a:prstGeom>
              <a:noFill/>
              <a:ln>
                <a:noFill/>
              </a:ln>
            </p:spPr>
            <p:txBody>
              <a:bodyPr wrap="none" lIns="0" tIns="0" rIns="0" bIns="0" anchor="t" anchorCtr="0">
                <a:spAutoFit/>
              </a:bodyPr>
              <a:lstStyle/>
              <a:p>
                <a:pPr algn="ctr"/>
                <a:r>
                  <a:rPr lang="vi-VN" sz="1500" b="1" dirty="0">
                    <a:solidFill>
                      <a:schemeClr val="dk1"/>
                    </a:solidFill>
                    <a:latin typeface="+mn-lt"/>
                    <a:ea typeface="+mn-ea"/>
                    <a:cs typeface="+mn-cs"/>
                  </a:rPr>
                  <a:t>3</a:t>
                </a:r>
              </a:p>
            </p:txBody>
          </p:sp>
        </p:grpSp>
        <p:sp>
          <p:nvSpPr>
            <p:cNvPr id="18" name="TextBox 18"/>
            <p:cNvSpPr txBox="1"/>
            <p:nvPr/>
          </p:nvSpPr>
          <p:spPr>
            <a:xfrm>
              <a:off x="8144256" y="1520190"/>
              <a:ext cx="136245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Khách hàng</a:t>
              </a:r>
            </a:p>
          </p:txBody>
        </p:sp>
        <p:sp>
          <p:nvSpPr>
            <p:cNvPr id="19" name="TextBox 19"/>
            <p:cNvSpPr txBox="1"/>
            <p:nvPr/>
          </p:nvSpPr>
          <p:spPr>
            <a:xfrm>
              <a:off x="8144256" y="2415540"/>
              <a:ext cx="115852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Người bán</a:t>
              </a:r>
            </a:p>
          </p:txBody>
        </p:sp>
        <p:sp>
          <p:nvSpPr>
            <p:cNvPr id="20" name="TextBox 20"/>
            <p:cNvSpPr txBox="1"/>
            <p:nvPr/>
          </p:nvSpPr>
          <p:spPr>
            <a:xfrm>
              <a:off x="8144256" y="3310890"/>
              <a:ext cx="1706179"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Quản trị viên</a:t>
              </a:r>
            </a:p>
          </p:txBody>
        </p:sp>
      </p:grpSp>
      <p:grpSp>
        <p:nvGrpSpPr>
          <p:cNvPr id="34" name="Group 34"/>
          <p:cNvGrpSpPr/>
          <p:nvPr/>
        </p:nvGrpSpPr>
        <p:grpSpPr>
          <a:xfrm>
            <a:off x="441198" y="4438650"/>
            <a:ext cx="11293602" cy="1426845"/>
            <a:chOff x="441198" y="4438650"/>
            <a:chExt cx="11293602" cy="1426845"/>
          </a:xfrm>
        </p:grpSpPr>
        <p:sp>
          <p:nvSpPr>
            <p:cNvPr id="22" name="Line 22"/>
            <p:cNvSpPr/>
            <p:nvPr/>
          </p:nvSpPr>
          <p:spPr>
            <a:xfrm>
              <a:off x="457200" y="4438650"/>
              <a:ext cx="11277600" cy="9525"/>
            </a:xfrm>
            <a:custGeom>
              <a:avLst/>
              <a:gdLst/>
              <a:ahLst/>
              <a:cxnLst/>
              <a:rect l="l" t="t" r="r" b="b"/>
              <a:pathLst>
                <a:path w="11277600" h="9525">
                  <a:moveTo>
                    <a:pt x="0" y="0"/>
                  </a:moveTo>
                  <a:lnTo>
                    <a:pt x="11277600" y="0"/>
                  </a:lnTo>
                </a:path>
              </a:pathLst>
            </a:custGeom>
            <a:noFill/>
            <a:ln w="9525">
              <a:solidFill>
                <a:schemeClr val="accent6"/>
              </a:solidFill>
            </a:ln>
          </p:spPr>
        </p:sp>
        <p:sp>
          <p:nvSpPr>
            <p:cNvPr id="23" name="TextBox 23"/>
            <p:cNvSpPr txBox="1"/>
            <p:nvPr/>
          </p:nvSpPr>
          <p:spPr>
            <a:xfrm>
              <a:off x="450342" y="4616768"/>
              <a:ext cx="382539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MỤC TIÊU MVP — KHÔNG PHẢI KẾT QUẢ ĐÃ ĐẠT</a:t>
              </a:r>
            </a:p>
          </p:txBody>
        </p:sp>
        <p:grpSp>
          <p:nvGrpSpPr>
            <p:cNvPr id="28" name="Group 28"/>
            <p:cNvGrpSpPr/>
            <p:nvPr/>
          </p:nvGrpSpPr>
          <p:grpSpPr>
            <a:xfrm>
              <a:off x="441198" y="5003482"/>
              <a:ext cx="10188148" cy="616077"/>
              <a:chOff x="441198" y="5003482"/>
              <a:chExt cx="10188148" cy="616077"/>
            </a:xfrm>
          </p:grpSpPr>
          <p:sp>
            <p:nvSpPr>
              <p:cNvPr id="24" name="TextBox 24"/>
              <p:cNvSpPr txBox="1"/>
              <p:nvPr/>
            </p:nvSpPr>
            <p:spPr>
              <a:xfrm>
                <a:off x="441198" y="5003482"/>
                <a:ext cx="1634924"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10 tuần</a:t>
                </a:r>
              </a:p>
            </p:txBody>
          </p:sp>
          <p:sp>
            <p:nvSpPr>
              <p:cNvPr id="25" name="TextBox 25"/>
              <p:cNvSpPr txBox="1"/>
              <p:nvPr/>
            </p:nvSpPr>
            <p:spPr>
              <a:xfrm>
                <a:off x="3336798" y="5003482"/>
                <a:ext cx="766676"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50+</a:t>
                </a:r>
              </a:p>
            </p:txBody>
          </p:sp>
          <p:sp>
            <p:nvSpPr>
              <p:cNvPr id="26" name="TextBox 26"/>
              <p:cNvSpPr txBox="1"/>
              <p:nvPr/>
            </p:nvSpPr>
            <p:spPr>
              <a:xfrm>
                <a:off x="6232398" y="5003482"/>
                <a:ext cx="1011566"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500+</a:t>
                </a:r>
              </a:p>
            </p:txBody>
          </p:sp>
          <p:sp>
            <p:nvSpPr>
              <p:cNvPr id="27" name="TextBox 27"/>
              <p:cNvSpPr txBox="1"/>
              <p:nvPr/>
            </p:nvSpPr>
            <p:spPr>
              <a:xfrm>
                <a:off x="9127998" y="5003482"/>
                <a:ext cx="1501348"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1.000+</a:t>
                </a:r>
              </a:p>
            </p:txBody>
          </p:sp>
        </p:grpSp>
        <p:grpSp>
          <p:nvGrpSpPr>
            <p:cNvPr id="33" name="Group 33"/>
            <p:cNvGrpSpPr/>
            <p:nvPr/>
          </p:nvGrpSpPr>
          <p:grpSpPr>
            <a:xfrm>
              <a:off x="449580" y="5572125"/>
              <a:ext cx="10335244" cy="293370"/>
              <a:chOff x="449580" y="5572125"/>
              <a:chExt cx="10335244" cy="293370"/>
            </a:xfrm>
          </p:grpSpPr>
          <p:sp>
            <p:nvSpPr>
              <p:cNvPr id="29" name="TextBox 29"/>
              <p:cNvSpPr txBox="1"/>
              <p:nvPr/>
            </p:nvSpPr>
            <p:spPr>
              <a:xfrm>
                <a:off x="449580" y="5572125"/>
                <a:ext cx="1323888"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Thời gian MVP</a:t>
                </a:r>
              </a:p>
            </p:txBody>
          </p:sp>
          <p:sp>
            <p:nvSpPr>
              <p:cNvPr id="30" name="TextBox 30"/>
              <p:cNvSpPr txBox="1"/>
              <p:nvPr/>
            </p:nvSpPr>
            <p:spPr>
              <a:xfrm>
                <a:off x="3345180" y="5572125"/>
                <a:ext cx="1930229"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Người bán hoạt động</a:t>
                </a:r>
              </a:p>
            </p:txBody>
          </p:sp>
          <p:sp>
            <p:nvSpPr>
              <p:cNvPr id="31" name="TextBox 31"/>
              <p:cNvSpPr txBox="1"/>
              <p:nvPr/>
            </p:nvSpPr>
            <p:spPr>
              <a:xfrm>
                <a:off x="6240780" y="5572125"/>
                <a:ext cx="900738"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Sản phẩm</a:t>
                </a:r>
              </a:p>
            </p:txBody>
          </p:sp>
          <p:sp>
            <p:nvSpPr>
              <p:cNvPr id="32" name="TextBox 32"/>
              <p:cNvSpPr txBox="1"/>
              <p:nvPr/>
            </p:nvSpPr>
            <p:spPr>
              <a:xfrm>
                <a:off x="9136380" y="5572125"/>
                <a:ext cx="1648444"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Đơn hàng / tháng</a:t>
                </a:r>
              </a:p>
            </p:txBody>
          </p:sp>
        </p:grpSp>
      </p:grpSp>
      <p:grpSp>
        <p:nvGrpSpPr>
          <p:cNvPr id="38" name="Group 38"/>
          <p:cNvGrpSpPr/>
          <p:nvPr/>
        </p:nvGrpSpPr>
        <p:grpSpPr>
          <a:xfrm>
            <a:off x="450342" y="6416992"/>
            <a:ext cx="11291316" cy="264033"/>
            <a:chOff x="450342" y="6416992"/>
            <a:chExt cx="11291316" cy="264033"/>
          </a:xfrm>
        </p:grpSpPr>
        <p:sp>
          <p:nvSpPr>
            <p:cNvPr id="35" name="TextBox 35"/>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36" name="TextBox 36"/>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37" name="TextBox 37"/>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01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597218"/>
            <a:ext cx="9163420" cy="898017"/>
            <a:chOff x="441198" y="597218"/>
            <a:chExt cx="9163420" cy="898017"/>
          </a:xfrm>
        </p:grpSpPr>
        <p:sp>
          <p:nvSpPr>
            <p:cNvPr id="2" name="TextBox 2"/>
            <p:cNvSpPr txBox="1"/>
            <p:nvPr/>
          </p:nvSpPr>
          <p:spPr>
            <a:xfrm>
              <a:off x="450342" y="597218"/>
              <a:ext cx="2212391"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 · BỐI CẢNH NGHIỆP VỤ</a:t>
              </a:r>
            </a:p>
          </p:txBody>
        </p:sp>
        <p:sp>
          <p:nvSpPr>
            <p:cNvPr id="3" name="TextBox 3"/>
            <p:cNvSpPr txBox="1"/>
            <p:nvPr/>
          </p:nvSpPr>
          <p:spPr>
            <a:xfrm>
              <a:off x="441198" y="879158"/>
              <a:ext cx="9163420"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SME cần một nền tảng bán hàng dùng chung</a:t>
              </a:r>
            </a:p>
          </p:txBody>
        </p:sp>
      </p:grpSp>
      <p:grpSp>
        <p:nvGrpSpPr>
          <p:cNvPr id="43" name="Group 43"/>
          <p:cNvGrpSpPr/>
          <p:nvPr/>
        </p:nvGrpSpPr>
        <p:grpSpPr>
          <a:xfrm>
            <a:off x="457200" y="1676400"/>
            <a:ext cx="11049000" cy="2286000"/>
            <a:chOff x="457200" y="1676400"/>
            <a:chExt cx="11049000" cy="2286000"/>
          </a:xfrm>
        </p:grpSpPr>
        <p:grpSp>
          <p:nvGrpSpPr>
            <p:cNvPr id="13" name="Group 13"/>
            <p:cNvGrpSpPr/>
            <p:nvPr/>
          </p:nvGrpSpPr>
          <p:grpSpPr>
            <a:xfrm>
              <a:off x="457200" y="1676400"/>
              <a:ext cx="2617138" cy="2286000"/>
              <a:chOff x="457200" y="1676400"/>
              <a:chExt cx="2617138" cy="2286000"/>
            </a:xfrm>
          </p:grpSpPr>
          <p:sp>
            <p:nvSpPr>
              <p:cNvPr id="5" name="Rectangle 5"/>
              <p:cNvSpPr/>
              <p:nvPr/>
            </p:nvSpPr>
            <p:spPr>
              <a:xfrm>
                <a:off x="457200" y="1676400"/>
                <a:ext cx="2590800" cy="2286000"/>
              </a:xfrm>
              <a:prstGeom prst="roundRect">
                <a:avLst>
                  <a:gd name="adj" fmla="val 6667"/>
                </a:avLst>
              </a:prstGeom>
              <a:solidFill>
                <a:schemeClr val="lt2"/>
              </a:solidFill>
              <a:ln>
                <a:noFill/>
              </a:ln>
            </p:spPr>
          </p:sp>
          <p:grpSp>
            <p:nvGrpSpPr>
              <p:cNvPr id="9" name="Group 9"/>
              <p:cNvGrpSpPr/>
              <p:nvPr/>
            </p:nvGrpSpPr>
            <p:grpSpPr>
              <a:xfrm>
                <a:off x="809625" y="2028825"/>
                <a:ext cx="285751" cy="285751"/>
                <a:chOff x="809625" y="2028825"/>
                <a:chExt cx="285751" cy="285751"/>
              </a:xfrm>
            </p:grpSpPr>
            <p:sp>
              <p:nvSpPr>
                <p:cNvPr id="6" name="Freeform 6"/>
                <p:cNvSpPr/>
                <p:nvPr/>
              </p:nvSpPr>
              <p:spPr>
                <a:xfrm>
                  <a:off x="809625" y="2028825"/>
                  <a:ext cx="285751" cy="285751"/>
                </a:xfrm>
                <a:custGeom>
                  <a:avLst/>
                  <a:gdLst/>
                  <a:ahLst/>
                  <a:cxnLst/>
                  <a:rect l="l" t="t" r="r" b="b"/>
                  <a:pathLst>
                    <a:path w="285751" h="285751">
                      <a:moveTo>
                        <a:pt x="0" y="142875"/>
                      </a:moveTo>
                      <a:cubicBezTo>
                        <a:pt x="0" y="221783"/>
                        <a:pt x="63967" y="285751"/>
                        <a:pt x="142875" y="285751"/>
                      </a:cubicBezTo>
                      <a:cubicBezTo>
                        <a:pt x="221783" y="285751"/>
                        <a:pt x="285751" y="221783"/>
                        <a:pt x="285751" y="142875"/>
                      </a:cubicBezTo>
                      <a:cubicBezTo>
                        <a:pt x="285751" y="63967"/>
                        <a:pt x="221783" y="0"/>
                        <a:pt x="142875" y="0"/>
                      </a:cubicBezTo>
                      <a:cubicBezTo>
                        <a:pt x="63967" y="0"/>
                        <a:pt x="0" y="63967"/>
                        <a:pt x="0" y="142875"/>
                      </a:cubicBezTo>
                    </a:path>
                  </a:pathLst>
                </a:custGeom>
                <a:noFill/>
                <a:ln w="31750">
                  <a:solidFill>
                    <a:srgbClr val="EA4335"/>
                  </a:solidFill>
                </a:ln>
              </p:spPr>
            </p:sp>
            <p:sp>
              <p:nvSpPr>
                <p:cNvPr id="7" name="Freeform 7"/>
                <p:cNvSpPr/>
                <p:nvPr/>
              </p:nvSpPr>
              <p:spPr>
                <a:xfrm>
                  <a:off x="904875" y="2107805"/>
                  <a:ext cx="95250" cy="127790"/>
                </a:xfrm>
                <a:custGeom>
                  <a:avLst/>
                  <a:gdLst/>
                  <a:ahLst/>
                  <a:cxnLst/>
                  <a:rect l="l" t="t" r="r" b="b"/>
                  <a:pathLst>
                    <a:path w="95250" h="127790">
                      <a:moveTo>
                        <a:pt x="92075" y="16270"/>
                      </a:moveTo>
                      <a:cubicBezTo>
                        <a:pt x="86215" y="6105"/>
                        <a:pt x="75227" y="0"/>
                        <a:pt x="63500" y="395"/>
                      </a:cubicBezTo>
                      <a:lnTo>
                        <a:pt x="31750" y="395"/>
                      </a:lnTo>
                      <a:cubicBezTo>
                        <a:pt x="14215" y="395"/>
                        <a:pt x="0" y="14610"/>
                        <a:pt x="0" y="32145"/>
                      </a:cubicBezTo>
                      <a:cubicBezTo>
                        <a:pt x="0" y="49680"/>
                        <a:pt x="14215" y="63895"/>
                        <a:pt x="31750" y="63895"/>
                      </a:cubicBezTo>
                      <a:lnTo>
                        <a:pt x="63500" y="63895"/>
                      </a:lnTo>
                      <a:cubicBezTo>
                        <a:pt x="81035" y="63895"/>
                        <a:pt x="95250" y="78110"/>
                        <a:pt x="95250" y="95645"/>
                      </a:cubicBezTo>
                      <a:cubicBezTo>
                        <a:pt x="95250" y="113180"/>
                        <a:pt x="81035" y="127395"/>
                        <a:pt x="63500" y="127395"/>
                      </a:cubicBezTo>
                      <a:lnTo>
                        <a:pt x="31750" y="127395"/>
                      </a:lnTo>
                      <a:cubicBezTo>
                        <a:pt x="20023" y="127790"/>
                        <a:pt x="9035" y="121685"/>
                        <a:pt x="3175" y="111520"/>
                      </a:cubicBezTo>
                    </a:path>
                  </a:pathLst>
                </a:custGeom>
                <a:noFill/>
                <a:ln w="31750">
                  <a:solidFill>
                    <a:srgbClr val="EA4335"/>
                  </a:solidFill>
                </a:ln>
              </p:spPr>
            </p:sp>
            <p:sp>
              <p:nvSpPr>
                <p:cNvPr id="8" name="Freeform 8"/>
                <p:cNvSpPr/>
                <p:nvPr/>
              </p:nvSpPr>
              <p:spPr>
                <a:xfrm>
                  <a:off x="952500" y="2092325"/>
                  <a:ext cx="9525" cy="158750"/>
                </a:xfrm>
                <a:custGeom>
                  <a:avLst/>
                  <a:gdLst/>
                  <a:ahLst/>
                  <a:cxnLst/>
                  <a:rect l="l" t="t" r="r" b="b"/>
                  <a:pathLst>
                    <a:path w="9525" h="158750">
                      <a:moveTo>
                        <a:pt x="0" y="0"/>
                      </a:moveTo>
                      <a:lnTo>
                        <a:pt x="0" y="158750"/>
                      </a:lnTo>
                    </a:path>
                  </a:pathLst>
                </a:custGeom>
                <a:noFill/>
                <a:ln w="31750">
                  <a:solidFill>
                    <a:srgbClr val="EA4335"/>
                  </a:solidFill>
                </a:ln>
              </p:spPr>
            </p:sp>
          </p:grpSp>
          <p:sp>
            <p:nvSpPr>
              <p:cNvPr id="10" name="TextBox 10"/>
              <p:cNvSpPr txBox="1"/>
              <p:nvPr/>
            </p:nvSpPr>
            <p:spPr>
              <a:xfrm>
                <a:off x="752856" y="2586990"/>
                <a:ext cx="1375258"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Chi phí cao</a:t>
                </a:r>
              </a:p>
            </p:txBody>
          </p:sp>
          <p:sp>
            <p:nvSpPr>
              <p:cNvPr id="11" name="TextBox 11"/>
              <p:cNvSpPr txBox="1"/>
              <p:nvPr/>
            </p:nvSpPr>
            <p:spPr>
              <a:xfrm>
                <a:off x="755142" y="2997518"/>
                <a:ext cx="231919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Mở hệ thống riêng tốn kém</a:t>
                </a:r>
              </a:p>
            </p:txBody>
          </p:sp>
          <p:sp>
            <p:nvSpPr>
              <p:cNvPr id="12" name="TextBox 12"/>
              <p:cNvSpPr txBox="1"/>
              <p:nvPr/>
            </p:nvSpPr>
            <p:spPr>
              <a:xfrm>
                <a:off x="755142" y="3283268"/>
                <a:ext cx="117810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cho từng SME</a:t>
                </a:r>
              </a:p>
            </p:txBody>
          </p:sp>
        </p:grpSp>
        <p:grpSp>
          <p:nvGrpSpPr>
            <p:cNvPr id="23" name="Group 23"/>
            <p:cNvGrpSpPr/>
            <p:nvPr/>
          </p:nvGrpSpPr>
          <p:grpSpPr>
            <a:xfrm>
              <a:off x="3276600" y="1676400"/>
              <a:ext cx="2590800" cy="2286000"/>
              <a:chOff x="3276600" y="1676400"/>
              <a:chExt cx="2590800" cy="2286000"/>
            </a:xfrm>
          </p:grpSpPr>
          <p:sp>
            <p:nvSpPr>
              <p:cNvPr id="14" name="Rectangle 14"/>
              <p:cNvSpPr/>
              <p:nvPr/>
            </p:nvSpPr>
            <p:spPr>
              <a:xfrm>
                <a:off x="3276600" y="1676400"/>
                <a:ext cx="2590800" cy="2286000"/>
              </a:xfrm>
              <a:prstGeom prst="roundRect">
                <a:avLst>
                  <a:gd name="adj" fmla="val 6667"/>
                </a:avLst>
              </a:prstGeom>
              <a:solidFill>
                <a:schemeClr val="lt2"/>
              </a:solidFill>
              <a:ln>
                <a:noFill/>
              </a:ln>
            </p:spPr>
          </p:sp>
          <p:grpSp>
            <p:nvGrpSpPr>
              <p:cNvPr id="19" name="Group 19"/>
              <p:cNvGrpSpPr/>
              <p:nvPr/>
            </p:nvGrpSpPr>
            <p:grpSpPr>
              <a:xfrm>
                <a:off x="3644900" y="2044700"/>
                <a:ext cx="254000" cy="254000"/>
                <a:chOff x="3644900" y="2044700"/>
                <a:chExt cx="254000" cy="254000"/>
              </a:xfrm>
            </p:grpSpPr>
            <p:sp>
              <p:nvSpPr>
                <p:cNvPr id="15" name="Freeform 15"/>
                <p:cNvSpPr/>
                <p:nvPr/>
              </p:nvSpPr>
              <p:spPr>
                <a:xfrm>
                  <a:off x="3644900" y="2044700"/>
                  <a:ext cx="95250" cy="95250"/>
                </a:xfrm>
                <a:custGeom>
                  <a:avLst/>
                  <a:gdLst/>
                  <a:ahLst/>
                  <a:cxnLst/>
                  <a:rect l="l" t="t" r="r" b="b"/>
                  <a:pathLst>
                    <a:path w="95250" h="95250">
                      <a:moveTo>
                        <a:pt x="0" y="15875"/>
                      </a:moveTo>
                      <a:cubicBezTo>
                        <a:pt x="0" y="7107"/>
                        <a:pt x="7107" y="0"/>
                        <a:pt x="15875" y="0"/>
                      </a:cubicBezTo>
                      <a:lnTo>
                        <a:pt x="79375" y="0"/>
                      </a:lnTo>
                      <a:cubicBezTo>
                        <a:pt x="88143" y="0"/>
                        <a:pt x="95250" y="7107"/>
                        <a:pt x="95250" y="15875"/>
                      </a:cubicBezTo>
                      <a:lnTo>
                        <a:pt x="95250" y="79375"/>
                      </a:lnTo>
                      <a:cubicBezTo>
                        <a:pt x="95250" y="88143"/>
                        <a:pt x="88143" y="95250"/>
                        <a:pt x="79375" y="95250"/>
                      </a:cubicBezTo>
                      <a:lnTo>
                        <a:pt x="15875" y="95250"/>
                      </a:lnTo>
                      <a:cubicBezTo>
                        <a:pt x="7107" y="95250"/>
                        <a:pt x="0" y="88143"/>
                        <a:pt x="0" y="79375"/>
                      </a:cubicBezTo>
                      <a:lnTo>
                        <a:pt x="0" y="15875"/>
                      </a:lnTo>
                    </a:path>
                  </a:pathLst>
                </a:custGeom>
                <a:noFill/>
                <a:ln w="31750">
                  <a:solidFill>
                    <a:srgbClr val="EA4335"/>
                  </a:solidFill>
                </a:ln>
              </p:spPr>
            </p:sp>
            <p:sp>
              <p:nvSpPr>
                <p:cNvPr id="16" name="Freeform 16"/>
                <p:cNvSpPr/>
                <p:nvPr/>
              </p:nvSpPr>
              <p:spPr>
                <a:xfrm>
                  <a:off x="3803650" y="2044700"/>
                  <a:ext cx="95250" cy="95250"/>
                </a:xfrm>
                <a:custGeom>
                  <a:avLst/>
                  <a:gdLst/>
                  <a:ahLst/>
                  <a:cxnLst/>
                  <a:rect l="l" t="t" r="r" b="b"/>
                  <a:pathLst>
                    <a:path w="95250" h="95250">
                      <a:moveTo>
                        <a:pt x="0" y="15875"/>
                      </a:moveTo>
                      <a:cubicBezTo>
                        <a:pt x="0" y="7107"/>
                        <a:pt x="7107" y="0"/>
                        <a:pt x="15875" y="0"/>
                      </a:cubicBezTo>
                      <a:lnTo>
                        <a:pt x="79375" y="0"/>
                      </a:lnTo>
                      <a:cubicBezTo>
                        <a:pt x="88143" y="0"/>
                        <a:pt x="95250" y="7107"/>
                        <a:pt x="95250" y="15875"/>
                      </a:cubicBezTo>
                      <a:lnTo>
                        <a:pt x="95250" y="79375"/>
                      </a:lnTo>
                      <a:cubicBezTo>
                        <a:pt x="95250" y="88143"/>
                        <a:pt x="88143" y="95250"/>
                        <a:pt x="79375" y="95250"/>
                      </a:cubicBezTo>
                      <a:lnTo>
                        <a:pt x="15875" y="95250"/>
                      </a:lnTo>
                      <a:cubicBezTo>
                        <a:pt x="7107" y="95250"/>
                        <a:pt x="0" y="88143"/>
                        <a:pt x="0" y="79375"/>
                      </a:cubicBezTo>
                      <a:lnTo>
                        <a:pt x="0" y="15875"/>
                      </a:lnTo>
                    </a:path>
                  </a:pathLst>
                </a:custGeom>
                <a:noFill/>
                <a:ln w="31750">
                  <a:solidFill>
                    <a:srgbClr val="EA4335"/>
                  </a:solidFill>
                </a:ln>
              </p:spPr>
            </p:sp>
            <p:sp>
              <p:nvSpPr>
                <p:cNvPr id="17" name="Freeform 17"/>
                <p:cNvSpPr/>
                <p:nvPr/>
              </p:nvSpPr>
              <p:spPr>
                <a:xfrm>
                  <a:off x="3644900" y="2203450"/>
                  <a:ext cx="95250" cy="95250"/>
                </a:xfrm>
                <a:custGeom>
                  <a:avLst/>
                  <a:gdLst/>
                  <a:ahLst/>
                  <a:cxnLst/>
                  <a:rect l="l" t="t" r="r" b="b"/>
                  <a:pathLst>
                    <a:path w="95250" h="95250">
                      <a:moveTo>
                        <a:pt x="0" y="15875"/>
                      </a:moveTo>
                      <a:cubicBezTo>
                        <a:pt x="0" y="7107"/>
                        <a:pt x="7107" y="0"/>
                        <a:pt x="15875" y="0"/>
                      </a:cubicBezTo>
                      <a:lnTo>
                        <a:pt x="79375" y="0"/>
                      </a:lnTo>
                      <a:cubicBezTo>
                        <a:pt x="88143" y="0"/>
                        <a:pt x="95250" y="7107"/>
                        <a:pt x="95250" y="15875"/>
                      </a:cubicBezTo>
                      <a:lnTo>
                        <a:pt x="95250" y="79375"/>
                      </a:lnTo>
                      <a:cubicBezTo>
                        <a:pt x="95250" y="88143"/>
                        <a:pt x="88143" y="95250"/>
                        <a:pt x="79375" y="95250"/>
                      </a:cubicBezTo>
                      <a:lnTo>
                        <a:pt x="15875" y="95250"/>
                      </a:lnTo>
                      <a:cubicBezTo>
                        <a:pt x="7107" y="95250"/>
                        <a:pt x="0" y="88143"/>
                        <a:pt x="0" y="79375"/>
                      </a:cubicBezTo>
                      <a:lnTo>
                        <a:pt x="0" y="15875"/>
                      </a:lnTo>
                    </a:path>
                  </a:pathLst>
                </a:custGeom>
                <a:noFill/>
                <a:ln w="31750">
                  <a:solidFill>
                    <a:srgbClr val="EA4335"/>
                  </a:solidFill>
                </a:ln>
              </p:spPr>
            </p:sp>
            <p:sp>
              <p:nvSpPr>
                <p:cNvPr id="18" name="Freeform 18"/>
                <p:cNvSpPr/>
                <p:nvPr/>
              </p:nvSpPr>
              <p:spPr>
                <a:xfrm>
                  <a:off x="3803650" y="2203450"/>
                  <a:ext cx="95250" cy="95250"/>
                </a:xfrm>
                <a:custGeom>
                  <a:avLst/>
                  <a:gdLst/>
                  <a:ahLst/>
                  <a:cxnLst/>
                  <a:rect l="l" t="t" r="r" b="b"/>
                  <a:pathLst>
                    <a:path w="95250" h="95250">
                      <a:moveTo>
                        <a:pt x="0" y="15875"/>
                      </a:moveTo>
                      <a:cubicBezTo>
                        <a:pt x="0" y="7107"/>
                        <a:pt x="7107" y="0"/>
                        <a:pt x="15875" y="0"/>
                      </a:cubicBezTo>
                      <a:lnTo>
                        <a:pt x="79375" y="0"/>
                      </a:lnTo>
                      <a:cubicBezTo>
                        <a:pt x="88143" y="0"/>
                        <a:pt x="95250" y="7107"/>
                        <a:pt x="95250" y="15875"/>
                      </a:cubicBezTo>
                      <a:lnTo>
                        <a:pt x="95250" y="79375"/>
                      </a:lnTo>
                      <a:cubicBezTo>
                        <a:pt x="95250" y="88143"/>
                        <a:pt x="88143" y="95250"/>
                        <a:pt x="79375" y="95250"/>
                      </a:cubicBezTo>
                      <a:lnTo>
                        <a:pt x="15875" y="95250"/>
                      </a:lnTo>
                      <a:cubicBezTo>
                        <a:pt x="7107" y="95250"/>
                        <a:pt x="0" y="88143"/>
                        <a:pt x="0" y="79375"/>
                      </a:cubicBezTo>
                      <a:lnTo>
                        <a:pt x="0" y="15875"/>
                      </a:lnTo>
                    </a:path>
                  </a:pathLst>
                </a:custGeom>
                <a:noFill/>
                <a:ln w="31750">
                  <a:solidFill>
                    <a:srgbClr val="EA4335"/>
                  </a:solidFill>
                </a:ln>
              </p:spPr>
            </p:sp>
          </p:grpSp>
          <p:sp>
            <p:nvSpPr>
              <p:cNvPr id="20" name="TextBox 20"/>
              <p:cNvSpPr txBox="1"/>
              <p:nvPr/>
            </p:nvSpPr>
            <p:spPr>
              <a:xfrm>
                <a:off x="3572256" y="2586990"/>
                <a:ext cx="1858838"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Quản lý rời rạc</a:t>
                </a:r>
              </a:p>
            </p:txBody>
          </p:sp>
          <p:sp>
            <p:nvSpPr>
              <p:cNvPr id="21" name="TextBox 21"/>
              <p:cNvSpPr txBox="1"/>
              <p:nvPr/>
            </p:nvSpPr>
            <p:spPr>
              <a:xfrm>
                <a:off x="3574542" y="2997518"/>
                <a:ext cx="209203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Nhiều kênh, khó đồng bộ</a:t>
                </a:r>
              </a:p>
            </p:txBody>
          </p:sp>
          <p:sp>
            <p:nvSpPr>
              <p:cNvPr id="22" name="TextBox 22"/>
              <p:cNvSpPr txBox="1"/>
              <p:nvPr/>
            </p:nvSpPr>
            <p:spPr>
              <a:xfrm>
                <a:off x="3574542" y="3283268"/>
                <a:ext cx="164026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dữ liệu và vận hành</a:t>
                </a:r>
              </a:p>
            </p:txBody>
          </p:sp>
        </p:grpSp>
        <p:grpSp>
          <p:nvGrpSpPr>
            <p:cNvPr id="33" name="Group 33"/>
            <p:cNvGrpSpPr/>
            <p:nvPr/>
          </p:nvGrpSpPr>
          <p:grpSpPr>
            <a:xfrm>
              <a:off x="6096000" y="1676400"/>
              <a:ext cx="2698538" cy="2286000"/>
              <a:chOff x="6096000" y="1676400"/>
              <a:chExt cx="2698538" cy="2286000"/>
            </a:xfrm>
          </p:grpSpPr>
          <p:sp>
            <p:nvSpPr>
              <p:cNvPr id="24" name="Rectangle 24"/>
              <p:cNvSpPr/>
              <p:nvPr/>
            </p:nvSpPr>
            <p:spPr>
              <a:xfrm>
                <a:off x="6096000" y="1676400"/>
                <a:ext cx="2590800" cy="2286000"/>
              </a:xfrm>
              <a:prstGeom prst="roundRect">
                <a:avLst>
                  <a:gd name="adj" fmla="val 6667"/>
                </a:avLst>
              </a:prstGeom>
              <a:solidFill>
                <a:schemeClr val="lt2"/>
              </a:solidFill>
              <a:ln>
                <a:noFill/>
              </a:ln>
            </p:spPr>
          </p:sp>
          <p:grpSp>
            <p:nvGrpSpPr>
              <p:cNvPr id="29" name="Group 29"/>
              <p:cNvGrpSpPr/>
              <p:nvPr/>
            </p:nvGrpSpPr>
            <p:grpSpPr>
              <a:xfrm>
                <a:off x="6448425" y="2044700"/>
                <a:ext cx="285750" cy="263526"/>
                <a:chOff x="6448425" y="2044700"/>
                <a:chExt cx="285750" cy="263526"/>
              </a:xfrm>
            </p:grpSpPr>
            <p:sp>
              <p:nvSpPr>
                <p:cNvPr id="25" name="Freeform 25"/>
                <p:cNvSpPr/>
                <p:nvPr/>
              </p:nvSpPr>
              <p:spPr>
                <a:xfrm>
                  <a:off x="6448425" y="2171700"/>
                  <a:ext cx="95250" cy="127000"/>
                </a:xfrm>
                <a:custGeom>
                  <a:avLst/>
                  <a:gdLst/>
                  <a:ahLst/>
                  <a:cxnLst/>
                  <a:rect l="l" t="t" r="r" b="b"/>
                  <a:pathLst>
                    <a:path w="95250" h="127000">
                      <a:moveTo>
                        <a:pt x="0" y="15875"/>
                      </a:moveTo>
                      <a:cubicBezTo>
                        <a:pt x="0" y="7107"/>
                        <a:pt x="7107" y="0"/>
                        <a:pt x="15875" y="0"/>
                      </a:cubicBezTo>
                      <a:lnTo>
                        <a:pt x="79375" y="0"/>
                      </a:lnTo>
                      <a:cubicBezTo>
                        <a:pt x="88143" y="0"/>
                        <a:pt x="95250" y="7107"/>
                        <a:pt x="95250" y="15875"/>
                      </a:cubicBezTo>
                      <a:lnTo>
                        <a:pt x="95250" y="111125"/>
                      </a:lnTo>
                      <a:cubicBezTo>
                        <a:pt x="95250" y="119893"/>
                        <a:pt x="88143" y="127000"/>
                        <a:pt x="79375" y="127000"/>
                      </a:cubicBezTo>
                      <a:lnTo>
                        <a:pt x="15875" y="127000"/>
                      </a:lnTo>
                      <a:cubicBezTo>
                        <a:pt x="7107" y="127000"/>
                        <a:pt x="0" y="119893"/>
                        <a:pt x="0" y="111125"/>
                      </a:cubicBezTo>
                      <a:lnTo>
                        <a:pt x="0" y="15875"/>
                      </a:lnTo>
                    </a:path>
                  </a:pathLst>
                </a:custGeom>
                <a:noFill/>
                <a:ln w="31750">
                  <a:solidFill>
                    <a:srgbClr val="EA4335"/>
                  </a:solidFill>
                </a:ln>
              </p:spPr>
            </p:sp>
            <p:sp>
              <p:nvSpPr>
                <p:cNvPr id="26" name="Freeform 26"/>
                <p:cNvSpPr/>
                <p:nvPr/>
              </p:nvSpPr>
              <p:spPr>
                <a:xfrm>
                  <a:off x="6638925" y="2108200"/>
                  <a:ext cx="95250" cy="190500"/>
                </a:xfrm>
                <a:custGeom>
                  <a:avLst/>
                  <a:gdLst/>
                  <a:ahLst/>
                  <a:cxnLst/>
                  <a:rect l="l" t="t" r="r" b="b"/>
                  <a:pathLst>
                    <a:path w="95250" h="190500">
                      <a:moveTo>
                        <a:pt x="0" y="15875"/>
                      </a:moveTo>
                      <a:cubicBezTo>
                        <a:pt x="0" y="7107"/>
                        <a:pt x="7107" y="0"/>
                        <a:pt x="15875" y="0"/>
                      </a:cubicBezTo>
                      <a:lnTo>
                        <a:pt x="79375" y="0"/>
                      </a:lnTo>
                      <a:cubicBezTo>
                        <a:pt x="88143" y="0"/>
                        <a:pt x="95250" y="7107"/>
                        <a:pt x="95250" y="15875"/>
                      </a:cubicBezTo>
                      <a:lnTo>
                        <a:pt x="95250" y="174625"/>
                      </a:lnTo>
                      <a:cubicBezTo>
                        <a:pt x="95250" y="183393"/>
                        <a:pt x="88143" y="190500"/>
                        <a:pt x="79375" y="190500"/>
                      </a:cubicBezTo>
                      <a:lnTo>
                        <a:pt x="15875" y="190500"/>
                      </a:lnTo>
                      <a:cubicBezTo>
                        <a:pt x="7107" y="190500"/>
                        <a:pt x="0" y="183393"/>
                        <a:pt x="0" y="174625"/>
                      </a:cubicBezTo>
                      <a:lnTo>
                        <a:pt x="0" y="15875"/>
                      </a:lnTo>
                    </a:path>
                  </a:pathLst>
                </a:custGeom>
                <a:noFill/>
                <a:ln w="31750">
                  <a:solidFill>
                    <a:srgbClr val="EA4335"/>
                  </a:solidFill>
                </a:ln>
              </p:spPr>
            </p:sp>
            <p:sp>
              <p:nvSpPr>
                <p:cNvPr id="27" name="Freeform 27"/>
                <p:cNvSpPr/>
                <p:nvPr/>
              </p:nvSpPr>
              <p:spPr>
                <a:xfrm>
                  <a:off x="6543675" y="2044700"/>
                  <a:ext cx="95250" cy="254001"/>
                </a:xfrm>
                <a:custGeom>
                  <a:avLst/>
                  <a:gdLst/>
                  <a:ahLst/>
                  <a:cxnLst/>
                  <a:rect l="l" t="t" r="r" b="b"/>
                  <a:pathLst>
                    <a:path w="95250" h="254001">
                      <a:moveTo>
                        <a:pt x="0" y="15875"/>
                      </a:moveTo>
                      <a:cubicBezTo>
                        <a:pt x="0" y="7107"/>
                        <a:pt x="7107" y="0"/>
                        <a:pt x="15875" y="0"/>
                      </a:cubicBezTo>
                      <a:lnTo>
                        <a:pt x="79375" y="0"/>
                      </a:lnTo>
                      <a:cubicBezTo>
                        <a:pt x="88143" y="0"/>
                        <a:pt x="95250" y="7107"/>
                        <a:pt x="95250" y="15875"/>
                      </a:cubicBezTo>
                      <a:lnTo>
                        <a:pt x="95250" y="238125"/>
                      </a:lnTo>
                      <a:cubicBezTo>
                        <a:pt x="95250" y="246893"/>
                        <a:pt x="88143" y="254001"/>
                        <a:pt x="79375" y="254001"/>
                      </a:cubicBezTo>
                      <a:lnTo>
                        <a:pt x="15875" y="254001"/>
                      </a:lnTo>
                      <a:cubicBezTo>
                        <a:pt x="7107" y="254001"/>
                        <a:pt x="0" y="246893"/>
                        <a:pt x="0" y="238125"/>
                      </a:cubicBezTo>
                      <a:lnTo>
                        <a:pt x="0" y="15875"/>
                      </a:lnTo>
                    </a:path>
                  </a:pathLst>
                </a:custGeom>
                <a:noFill/>
                <a:ln w="31750">
                  <a:solidFill>
                    <a:srgbClr val="EA4335"/>
                  </a:solidFill>
                </a:ln>
              </p:spPr>
            </p:sp>
            <p:sp>
              <p:nvSpPr>
                <p:cNvPr id="28" name="Freeform 28"/>
                <p:cNvSpPr/>
                <p:nvPr/>
              </p:nvSpPr>
              <p:spPr>
                <a:xfrm>
                  <a:off x="6464300" y="2298701"/>
                  <a:ext cx="222250" cy="9525"/>
                </a:xfrm>
                <a:custGeom>
                  <a:avLst/>
                  <a:gdLst/>
                  <a:ahLst/>
                  <a:cxnLst/>
                  <a:rect l="l" t="t" r="r" b="b"/>
                  <a:pathLst>
                    <a:path w="222250" h="9525">
                      <a:moveTo>
                        <a:pt x="0" y="0"/>
                      </a:moveTo>
                      <a:lnTo>
                        <a:pt x="222250" y="0"/>
                      </a:lnTo>
                    </a:path>
                  </a:pathLst>
                </a:custGeom>
                <a:noFill/>
                <a:ln w="31750">
                  <a:solidFill>
                    <a:srgbClr val="EA4335"/>
                  </a:solidFill>
                </a:ln>
              </p:spPr>
            </p:sp>
          </p:grpSp>
          <p:sp>
            <p:nvSpPr>
              <p:cNvPr id="30" name="TextBox 30"/>
              <p:cNvSpPr txBox="1"/>
              <p:nvPr/>
            </p:nvSpPr>
            <p:spPr>
              <a:xfrm>
                <a:off x="6391656" y="2586990"/>
                <a:ext cx="1934835"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Thiếu phân tích</a:t>
                </a:r>
              </a:p>
            </p:txBody>
          </p:sp>
          <p:sp>
            <p:nvSpPr>
              <p:cNvPr id="31" name="TextBox 31"/>
              <p:cNvSpPr txBox="1"/>
              <p:nvPr/>
            </p:nvSpPr>
            <p:spPr>
              <a:xfrm>
                <a:off x="6393942" y="2997518"/>
                <a:ext cx="240059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Không thấy dữ liệu bán hàng</a:t>
                </a:r>
              </a:p>
            </p:txBody>
          </p:sp>
          <p:sp>
            <p:nvSpPr>
              <p:cNvPr id="32" name="TextBox 32"/>
              <p:cNvSpPr txBox="1"/>
              <p:nvPr/>
            </p:nvSpPr>
            <p:spPr>
              <a:xfrm>
                <a:off x="6393942" y="3283268"/>
                <a:ext cx="147669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để ra quyết định</a:t>
                </a:r>
              </a:p>
            </p:txBody>
          </p:sp>
        </p:grpSp>
        <p:grpSp>
          <p:nvGrpSpPr>
            <p:cNvPr id="42" name="Group 42"/>
            <p:cNvGrpSpPr/>
            <p:nvPr/>
          </p:nvGrpSpPr>
          <p:grpSpPr>
            <a:xfrm>
              <a:off x="8915400" y="1676400"/>
              <a:ext cx="2590800" cy="2286000"/>
              <a:chOff x="8915400" y="1676400"/>
              <a:chExt cx="2590800" cy="2286000"/>
            </a:xfrm>
          </p:grpSpPr>
          <p:sp>
            <p:nvSpPr>
              <p:cNvPr id="34" name="Rectangle 34"/>
              <p:cNvSpPr/>
              <p:nvPr/>
            </p:nvSpPr>
            <p:spPr>
              <a:xfrm>
                <a:off x="8915400" y="1676400"/>
                <a:ext cx="2590800" cy="2286000"/>
              </a:xfrm>
              <a:prstGeom prst="roundRect">
                <a:avLst>
                  <a:gd name="adj" fmla="val 6667"/>
                </a:avLst>
              </a:prstGeom>
              <a:solidFill>
                <a:schemeClr val="lt2"/>
              </a:solidFill>
              <a:ln>
                <a:noFill/>
              </a:ln>
            </p:spPr>
          </p:sp>
          <p:grpSp>
            <p:nvGrpSpPr>
              <p:cNvPr id="38" name="Group 38"/>
              <p:cNvGrpSpPr/>
              <p:nvPr/>
            </p:nvGrpSpPr>
            <p:grpSpPr>
              <a:xfrm>
                <a:off x="9267825" y="2044700"/>
                <a:ext cx="285751" cy="254001"/>
                <a:chOff x="9267825" y="2044700"/>
                <a:chExt cx="285751" cy="254001"/>
              </a:xfrm>
            </p:grpSpPr>
            <p:sp>
              <p:nvSpPr>
                <p:cNvPr id="35" name="Freeform 35"/>
                <p:cNvSpPr/>
                <p:nvPr/>
              </p:nvSpPr>
              <p:spPr>
                <a:xfrm>
                  <a:off x="9267825" y="2108200"/>
                  <a:ext cx="63500" cy="127000"/>
                </a:xfrm>
                <a:custGeom>
                  <a:avLst/>
                  <a:gdLst/>
                  <a:ahLst/>
                  <a:cxnLst/>
                  <a:rect l="l" t="t" r="r" b="b"/>
                  <a:pathLst>
                    <a:path w="63500" h="127000">
                      <a:moveTo>
                        <a:pt x="63500" y="0"/>
                      </a:moveTo>
                      <a:lnTo>
                        <a:pt x="0" y="63500"/>
                      </a:lnTo>
                      <a:lnTo>
                        <a:pt x="63500" y="127000"/>
                      </a:lnTo>
                    </a:path>
                  </a:pathLst>
                </a:custGeom>
                <a:noFill/>
                <a:ln w="31750">
                  <a:solidFill>
                    <a:srgbClr val="EA4335"/>
                  </a:solidFill>
                </a:ln>
              </p:spPr>
            </p:sp>
            <p:sp>
              <p:nvSpPr>
                <p:cNvPr id="36" name="Freeform 36"/>
                <p:cNvSpPr/>
                <p:nvPr/>
              </p:nvSpPr>
              <p:spPr>
                <a:xfrm>
                  <a:off x="9490076" y="2108200"/>
                  <a:ext cx="63500" cy="127000"/>
                </a:xfrm>
                <a:custGeom>
                  <a:avLst/>
                  <a:gdLst/>
                  <a:ahLst/>
                  <a:cxnLst/>
                  <a:rect l="l" t="t" r="r" b="b"/>
                  <a:pathLst>
                    <a:path w="63500" h="127000">
                      <a:moveTo>
                        <a:pt x="0" y="0"/>
                      </a:moveTo>
                      <a:lnTo>
                        <a:pt x="63500" y="63500"/>
                      </a:lnTo>
                      <a:lnTo>
                        <a:pt x="0" y="127000"/>
                      </a:lnTo>
                    </a:path>
                  </a:pathLst>
                </a:custGeom>
                <a:noFill/>
                <a:ln w="31750">
                  <a:solidFill>
                    <a:srgbClr val="EA4335"/>
                  </a:solidFill>
                </a:ln>
              </p:spPr>
            </p:sp>
            <p:sp>
              <p:nvSpPr>
                <p:cNvPr id="37" name="Freeform 37"/>
                <p:cNvSpPr/>
                <p:nvPr/>
              </p:nvSpPr>
              <p:spPr>
                <a:xfrm>
                  <a:off x="9378950" y="2044700"/>
                  <a:ext cx="63500" cy="254001"/>
                </a:xfrm>
                <a:custGeom>
                  <a:avLst/>
                  <a:gdLst/>
                  <a:ahLst/>
                  <a:cxnLst/>
                  <a:rect l="l" t="t" r="r" b="b"/>
                  <a:pathLst>
                    <a:path w="63500" h="254001">
                      <a:moveTo>
                        <a:pt x="63500" y="0"/>
                      </a:moveTo>
                      <a:lnTo>
                        <a:pt x="0" y="254001"/>
                      </a:lnTo>
                    </a:path>
                  </a:pathLst>
                </a:custGeom>
                <a:noFill/>
                <a:ln w="31750">
                  <a:solidFill>
                    <a:srgbClr val="EA4335"/>
                  </a:solidFill>
                </a:ln>
              </p:spPr>
            </p:sp>
          </p:grpSp>
          <p:sp>
            <p:nvSpPr>
              <p:cNvPr id="39" name="TextBox 39"/>
              <p:cNvSpPr txBox="1"/>
              <p:nvPr/>
            </p:nvSpPr>
            <p:spPr>
              <a:xfrm>
                <a:off x="9211056" y="2586990"/>
                <a:ext cx="2075382"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Rào cản kỹ thuật</a:t>
                </a:r>
              </a:p>
            </p:txBody>
          </p:sp>
          <p:sp>
            <p:nvSpPr>
              <p:cNvPr id="40" name="TextBox 40"/>
              <p:cNvSpPr txBox="1"/>
              <p:nvPr/>
            </p:nvSpPr>
            <p:spPr>
              <a:xfrm>
                <a:off x="9213342" y="2997518"/>
                <a:ext cx="199176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Khó tiếp cận công nghệ</a:t>
                </a:r>
              </a:p>
            </p:txBody>
          </p:sp>
          <p:sp>
            <p:nvSpPr>
              <p:cNvPr id="41" name="TextBox 41"/>
              <p:cNvSpPr txBox="1"/>
              <p:nvPr/>
            </p:nvSpPr>
            <p:spPr>
              <a:xfrm>
                <a:off x="9213342" y="3283268"/>
                <a:ext cx="1731131"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và bảo trì hệ thống</a:t>
                </a:r>
              </a:p>
            </p:txBody>
          </p:sp>
        </p:grpSp>
      </p:grpSp>
      <p:grpSp>
        <p:nvGrpSpPr>
          <p:cNvPr id="48" name="Group 48"/>
          <p:cNvGrpSpPr/>
          <p:nvPr/>
        </p:nvGrpSpPr>
        <p:grpSpPr>
          <a:xfrm>
            <a:off x="1752600" y="3962400"/>
            <a:ext cx="8458201" cy="285750"/>
            <a:chOff x="1752600" y="3962400"/>
            <a:chExt cx="8458201" cy="285750"/>
          </a:xfrm>
        </p:grpSpPr>
        <p:sp>
          <p:nvSpPr>
            <p:cNvPr id="44" name="Line 44"/>
            <p:cNvSpPr/>
            <p:nvPr/>
          </p:nvSpPr>
          <p:spPr>
            <a:xfrm>
              <a:off x="1752600" y="3962400"/>
              <a:ext cx="1" cy="285750"/>
            </a:xfrm>
            <a:prstGeom prst="line">
              <a:avLst/>
            </a:prstGeom>
            <a:noFill/>
            <a:ln w="28575">
              <a:solidFill>
                <a:schemeClr val="accent1"/>
              </a:solidFill>
              <a:tailEnd type="triangle" w="lg" len="lg"/>
            </a:ln>
          </p:spPr>
        </p:sp>
        <p:sp>
          <p:nvSpPr>
            <p:cNvPr id="45" name="Line 45"/>
            <p:cNvSpPr/>
            <p:nvPr/>
          </p:nvSpPr>
          <p:spPr>
            <a:xfrm>
              <a:off x="4572000" y="3962400"/>
              <a:ext cx="1" cy="285750"/>
            </a:xfrm>
            <a:prstGeom prst="line">
              <a:avLst/>
            </a:prstGeom>
            <a:noFill/>
            <a:ln w="28575">
              <a:solidFill>
                <a:schemeClr val="accent1"/>
              </a:solidFill>
              <a:tailEnd type="triangle" w="lg" len="lg"/>
            </a:ln>
          </p:spPr>
        </p:sp>
        <p:sp>
          <p:nvSpPr>
            <p:cNvPr id="46" name="Line 46"/>
            <p:cNvSpPr/>
            <p:nvPr/>
          </p:nvSpPr>
          <p:spPr>
            <a:xfrm>
              <a:off x="7391400" y="3962400"/>
              <a:ext cx="1" cy="285750"/>
            </a:xfrm>
            <a:prstGeom prst="line">
              <a:avLst/>
            </a:prstGeom>
            <a:noFill/>
            <a:ln w="28575">
              <a:solidFill>
                <a:schemeClr val="accent1"/>
              </a:solidFill>
              <a:tailEnd type="triangle" w="lg" len="lg"/>
            </a:ln>
          </p:spPr>
        </p:sp>
        <p:sp>
          <p:nvSpPr>
            <p:cNvPr id="47" name="Line 47"/>
            <p:cNvSpPr/>
            <p:nvPr/>
          </p:nvSpPr>
          <p:spPr>
            <a:xfrm>
              <a:off x="10210800" y="3962400"/>
              <a:ext cx="1" cy="285750"/>
            </a:xfrm>
            <a:prstGeom prst="line">
              <a:avLst/>
            </a:prstGeom>
            <a:noFill/>
            <a:ln w="28575">
              <a:solidFill>
                <a:schemeClr val="accent1"/>
              </a:solidFill>
              <a:tailEnd type="triangle" w="lg" len="lg"/>
            </a:ln>
          </p:spPr>
        </p:sp>
      </p:grpSp>
      <p:grpSp>
        <p:nvGrpSpPr>
          <p:cNvPr id="52" name="Group 52"/>
          <p:cNvGrpSpPr/>
          <p:nvPr/>
        </p:nvGrpSpPr>
        <p:grpSpPr>
          <a:xfrm>
            <a:off x="457200" y="4305300"/>
            <a:ext cx="11277600" cy="1143000"/>
            <a:chOff x="457200" y="4305300"/>
            <a:chExt cx="11277600" cy="1143000"/>
          </a:xfrm>
        </p:grpSpPr>
        <p:sp>
          <p:nvSpPr>
            <p:cNvPr id="49" name="Rectangle 49"/>
            <p:cNvSpPr/>
            <p:nvPr/>
          </p:nvSpPr>
          <p:spPr>
            <a:xfrm>
              <a:off x="457200" y="4305300"/>
              <a:ext cx="11277600" cy="1143000"/>
            </a:xfrm>
            <a:prstGeom prst="roundRect">
              <a:avLst>
                <a:gd name="adj" fmla="val 13333"/>
              </a:avLst>
            </a:prstGeom>
            <a:solidFill>
              <a:schemeClr val="accent1">
                <a:alpha val="8000"/>
              </a:schemeClr>
            </a:solidFill>
            <a:ln>
              <a:noFill/>
            </a:ln>
          </p:spPr>
        </p:sp>
        <p:sp>
          <p:nvSpPr>
            <p:cNvPr id="50" name="TextBox 50"/>
            <p:cNvSpPr txBox="1"/>
            <p:nvPr/>
          </p:nvSpPr>
          <p:spPr>
            <a:xfrm>
              <a:off x="755142" y="4616768"/>
              <a:ext cx="1290676" cy="264033"/>
            </a:xfrm>
            <a:prstGeom prst="rect">
              <a:avLst/>
            </a:prstGeom>
            <a:noFill/>
            <a:ln>
              <a:noFill/>
            </a:ln>
          </p:spPr>
          <p:txBody>
            <a:bodyPr wrap="none" lIns="0" tIns="0" rIns="0" bIns="0" anchor="t" anchorCtr="0">
              <a:spAutoFit/>
            </a:bodyPr>
            <a:lstStyle/>
            <a:p>
              <a:pPr algn="l"/>
              <a:r>
                <a:rPr lang="vi-VN" sz="1350" dirty="0">
                  <a:solidFill>
                    <a:schemeClr val="accent1"/>
                  </a:solidFill>
                  <a:latin typeface="+mn-lt"/>
                  <a:ea typeface="+mn-ea"/>
                  <a:cs typeface="+mn-cs"/>
                </a:rPr>
                <a:t>NHU CẦU CHUNG</a:t>
              </a:r>
            </a:p>
          </p:txBody>
        </p:sp>
        <p:sp>
          <p:nvSpPr>
            <p:cNvPr id="51" name="TextBox 51"/>
            <p:cNvSpPr txBox="1"/>
            <p:nvPr/>
          </p:nvSpPr>
          <p:spPr>
            <a:xfrm>
              <a:off x="751332" y="4916805"/>
              <a:ext cx="6889054" cy="410718"/>
            </a:xfrm>
            <a:prstGeom prst="rect">
              <a:avLst/>
            </a:prstGeom>
            <a:noFill/>
            <a:ln>
              <a:noFill/>
            </a:ln>
          </p:spPr>
          <p:txBody>
            <a:bodyPr wrap="none" lIns="0" tIns="0" rIns="0" bIns="0" anchor="t" anchorCtr="0">
              <a:spAutoFit/>
            </a:bodyPr>
            <a:lstStyle/>
            <a:p>
              <a:pPr algn="l"/>
              <a:r>
                <a:rPr lang="vi-VN" sz="2100" b="1" dirty="0">
                  <a:solidFill>
                    <a:schemeClr val="dk1"/>
                  </a:solidFill>
                  <a:latin typeface="+mn-lt"/>
                  <a:ea typeface="+mn-ea"/>
                  <a:cs typeface="+mn-cs"/>
                </a:rPr>
                <a:t>Một nơi để bán hàng, quản lý và theo dõi kết quả</a:t>
              </a:r>
            </a:p>
          </p:txBody>
        </p:sp>
      </p:grpSp>
      <p:grpSp>
        <p:nvGrpSpPr>
          <p:cNvPr id="56" name="Group 56"/>
          <p:cNvGrpSpPr/>
          <p:nvPr/>
        </p:nvGrpSpPr>
        <p:grpSpPr>
          <a:xfrm>
            <a:off x="450342" y="6416992"/>
            <a:ext cx="11291316" cy="264033"/>
            <a:chOff x="450342" y="6416992"/>
            <a:chExt cx="11291316" cy="264033"/>
          </a:xfrm>
        </p:grpSpPr>
        <p:sp>
          <p:nvSpPr>
            <p:cNvPr id="53" name="TextBox 53"/>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54" name="TextBox 54"/>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55" name="TextBox 55"/>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02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597218"/>
            <a:ext cx="7462995" cy="898017"/>
            <a:chOff x="441198" y="597218"/>
            <a:chExt cx="7462995" cy="898017"/>
          </a:xfrm>
        </p:grpSpPr>
        <p:sp>
          <p:nvSpPr>
            <p:cNvPr id="2" name="TextBox 2"/>
            <p:cNvSpPr txBox="1"/>
            <p:nvPr/>
          </p:nvSpPr>
          <p:spPr>
            <a:xfrm>
              <a:off x="450342" y="597218"/>
              <a:ext cx="210677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 · GIẢI PHÁP ĐỀ XUẤT</a:t>
              </a:r>
            </a:p>
          </p:txBody>
        </p:sp>
        <p:sp>
          <p:nvSpPr>
            <p:cNvPr id="3" name="TextBox 3"/>
            <p:cNvSpPr txBox="1"/>
            <p:nvPr/>
          </p:nvSpPr>
          <p:spPr>
            <a:xfrm>
              <a:off x="441198" y="879158"/>
              <a:ext cx="7462995"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Pobby kết nối mua — bán — quản trị</a:t>
              </a:r>
            </a:p>
          </p:txBody>
        </p:sp>
      </p:grpSp>
      <p:grpSp>
        <p:nvGrpSpPr>
          <p:cNvPr id="29" name="Group 29"/>
          <p:cNvGrpSpPr/>
          <p:nvPr/>
        </p:nvGrpSpPr>
        <p:grpSpPr>
          <a:xfrm>
            <a:off x="457200" y="1619250"/>
            <a:ext cx="11277600" cy="1905000"/>
            <a:chOff x="457200" y="1619250"/>
            <a:chExt cx="11277600" cy="1905000"/>
          </a:xfrm>
        </p:grpSpPr>
        <p:grpSp>
          <p:nvGrpSpPr>
            <p:cNvPr id="11" name="Group 11"/>
            <p:cNvGrpSpPr/>
            <p:nvPr/>
          </p:nvGrpSpPr>
          <p:grpSpPr>
            <a:xfrm>
              <a:off x="457200" y="1619250"/>
              <a:ext cx="3505200" cy="1905000"/>
              <a:chOff x="457200" y="1619250"/>
              <a:chExt cx="3505200" cy="1905000"/>
            </a:xfrm>
          </p:grpSpPr>
          <p:sp>
            <p:nvSpPr>
              <p:cNvPr id="5" name="Rectangle 5"/>
              <p:cNvSpPr/>
              <p:nvPr/>
            </p:nvSpPr>
            <p:spPr>
              <a:xfrm>
                <a:off x="457200" y="1619250"/>
                <a:ext cx="3505200" cy="1905000"/>
              </a:xfrm>
              <a:prstGeom prst="roundRect">
                <a:avLst>
                  <a:gd name="adj" fmla="val 8000"/>
                </a:avLst>
              </a:prstGeom>
              <a:solidFill>
                <a:schemeClr val="accent1">
                  <a:alpha val="8000"/>
                </a:schemeClr>
              </a:solidFill>
              <a:ln>
                <a:noFill/>
              </a:ln>
            </p:spPr>
          </p:sp>
          <p:grpSp>
            <p:nvGrpSpPr>
              <p:cNvPr id="8" name="Group 8"/>
              <p:cNvGrpSpPr/>
              <p:nvPr/>
            </p:nvGrpSpPr>
            <p:grpSpPr>
              <a:xfrm>
                <a:off x="829712" y="1971675"/>
                <a:ext cx="245593" cy="285757"/>
                <a:chOff x="829712" y="1971675"/>
                <a:chExt cx="245593" cy="285757"/>
              </a:xfrm>
            </p:grpSpPr>
            <p:sp>
              <p:nvSpPr>
                <p:cNvPr id="6" name="Freeform 6"/>
                <p:cNvSpPr/>
                <p:nvPr/>
              </p:nvSpPr>
              <p:spPr>
                <a:xfrm>
                  <a:off x="829712" y="2051049"/>
                  <a:ext cx="245593" cy="206383"/>
                </a:xfrm>
                <a:custGeom>
                  <a:avLst/>
                  <a:gdLst/>
                  <a:ahLst/>
                  <a:cxnLst/>
                  <a:rect l="l" t="t" r="r" b="b"/>
                  <a:pathLst>
                    <a:path w="245593" h="206383">
                      <a:moveTo>
                        <a:pt x="32793" y="1"/>
                      </a:moveTo>
                      <a:lnTo>
                        <a:pt x="212800" y="1"/>
                      </a:lnTo>
                      <a:cubicBezTo>
                        <a:pt x="222064" y="0"/>
                        <a:pt x="230867" y="4045"/>
                        <a:pt x="236899" y="11076"/>
                      </a:cubicBezTo>
                      <a:cubicBezTo>
                        <a:pt x="242932" y="18106"/>
                        <a:pt x="245593" y="27421"/>
                        <a:pt x="244185" y="36577"/>
                      </a:cubicBezTo>
                      <a:lnTo>
                        <a:pt x="224262" y="165990"/>
                      </a:lnTo>
                      <a:cubicBezTo>
                        <a:pt x="220688" y="189230"/>
                        <a:pt x="200689" y="206383"/>
                        <a:pt x="177176" y="206377"/>
                      </a:cubicBezTo>
                      <a:lnTo>
                        <a:pt x="68401" y="206377"/>
                      </a:lnTo>
                      <a:cubicBezTo>
                        <a:pt x="44894" y="206375"/>
                        <a:pt x="24904" y="189224"/>
                        <a:pt x="21331" y="165990"/>
                      </a:cubicBezTo>
                      <a:lnTo>
                        <a:pt x="1408" y="36577"/>
                      </a:lnTo>
                      <a:cubicBezTo>
                        <a:pt x="0" y="27421"/>
                        <a:pt x="2661" y="18106"/>
                        <a:pt x="8694" y="11076"/>
                      </a:cubicBezTo>
                      <a:cubicBezTo>
                        <a:pt x="14727" y="4045"/>
                        <a:pt x="23529" y="0"/>
                        <a:pt x="32793" y="1"/>
                      </a:cubicBezTo>
                    </a:path>
                  </a:pathLst>
                </a:custGeom>
                <a:noFill/>
                <a:ln w="31750">
                  <a:solidFill>
                    <a:schemeClr val="accent1"/>
                  </a:solidFill>
                </a:ln>
              </p:spPr>
            </p:sp>
            <p:sp>
              <p:nvSpPr>
                <p:cNvPr id="7" name="Freeform 7"/>
                <p:cNvSpPr/>
                <p:nvPr/>
              </p:nvSpPr>
              <p:spPr>
                <a:xfrm>
                  <a:off x="904875" y="1971675"/>
                  <a:ext cx="95250" cy="127000"/>
                </a:xfrm>
                <a:custGeom>
                  <a:avLst/>
                  <a:gdLst/>
                  <a:ahLst/>
                  <a:cxnLst/>
                  <a:rect l="l" t="t" r="r" b="b"/>
                  <a:pathLst>
                    <a:path w="95250" h="127000">
                      <a:moveTo>
                        <a:pt x="0" y="127000"/>
                      </a:moveTo>
                      <a:lnTo>
                        <a:pt x="0" y="47625"/>
                      </a:lnTo>
                      <a:cubicBezTo>
                        <a:pt x="0" y="21322"/>
                        <a:pt x="21322" y="0"/>
                        <a:pt x="47625" y="0"/>
                      </a:cubicBezTo>
                      <a:cubicBezTo>
                        <a:pt x="73928" y="0"/>
                        <a:pt x="95250" y="21322"/>
                        <a:pt x="95250" y="47625"/>
                      </a:cubicBezTo>
                      <a:lnTo>
                        <a:pt x="95250" y="127000"/>
                      </a:lnTo>
                    </a:path>
                  </a:pathLst>
                </a:custGeom>
                <a:noFill/>
                <a:ln w="31750">
                  <a:solidFill>
                    <a:schemeClr val="accent1"/>
                  </a:solidFill>
                </a:ln>
              </p:spPr>
            </p:sp>
          </p:grpSp>
          <p:sp>
            <p:nvSpPr>
              <p:cNvPr id="9" name="TextBox 9"/>
              <p:cNvSpPr txBox="1"/>
              <p:nvPr/>
            </p:nvSpPr>
            <p:spPr>
              <a:xfrm>
                <a:off x="752856" y="2529840"/>
                <a:ext cx="240124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Customer Frontend</a:t>
                </a:r>
              </a:p>
            </p:txBody>
          </p:sp>
          <p:sp>
            <p:nvSpPr>
              <p:cNvPr id="10" name="TextBox 10"/>
              <p:cNvSpPr txBox="1"/>
              <p:nvPr/>
            </p:nvSpPr>
            <p:spPr>
              <a:xfrm>
                <a:off x="755142" y="2940368"/>
                <a:ext cx="230131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Khám phá và mua sản phẩm</a:t>
                </a:r>
              </a:p>
            </p:txBody>
          </p:sp>
        </p:grpSp>
        <p:grpSp>
          <p:nvGrpSpPr>
            <p:cNvPr id="21" name="Group 21"/>
            <p:cNvGrpSpPr/>
            <p:nvPr/>
          </p:nvGrpSpPr>
          <p:grpSpPr>
            <a:xfrm>
              <a:off x="4343400" y="1619250"/>
              <a:ext cx="3505200" cy="1905000"/>
              <a:chOff x="4343400" y="1619250"/>
              <a:chExt cx="3505200" cy="1905000"/>
            </a:xfrm>
          </p:grpSpPr>
          <p:sp>
            <p:nvSpPr>
              <p:cNvPr id="12" name="Rectangle 12"/>
              <p:cNvSpPr/>
              <p:nvPr/>
            </p:nvSpPr>
            <p:spPr>
              <a:xfrm>
                <a:off x="4343400" y="1619250"/>
                <a:ext cx="3505200" cy="1905000"/>
              </a:xfrm>
              <a:prstGeom prst="roundRect">
                <a:avLst>
                  <a:gd name="adj" fmla="val 8000"/>
                </a:avLst>
              </a:prstGeom>
              <a:solidFill>
                <a:schemeClr val="accent3">
                  <a:alpha val="8000"/>
                </a:schemeClr>
              </a:solidFill>
              <a:ln>
                <a:noFill/>
              </a:ln>
            </p:spPr>
          </p:sp>
          <p:grpSp>
            <p:nvGrpSpPr>
              <p:cNvPr id="18" name="Group 18"/>
              <p:cNvGrpSpPr/>
              <p:nvPr/>
            </p:nvGrpSpPr>
            <p:grpSpPr>
              <a:xfrm>
                <a:off x="4695825" y="1971675"/>
                <a:ext cx="285751" cy="295276"/>
                <a:chOff x="4695825" y="1971675"/>
                <a:chExt cx="285751" cy="295276"/>
              </a:xfrm>
            </p:grpSpPr>
            <p:sp>
              <p:nvSpPr>
                <p:cNvPr id="13" name="Freeform 13"/>
                <p:cNvSpPr/>
                <p:nvPr/>
              </p:nvSpPr>
              <p:spPr>
                <a:xfrm>
                  <a:off x="4695825" y="2257426"/>
                  <a:ext cx="285751" cy="9525"/>
                </a:xfrm>
                <a:custGeom>
                  <a:avLst/>
                  <a:gdLst/>
                  <a:ahLst/>
                  <a:cxnLst/>
                  <a:rect l="l" t="t" r="r" b="b"/>
                  <a:pathLst>
                    <a:path w="285751" h="9525">
                      <a:moveTo>
                        <a:pt x="0" y="0"/>
                      </a:moveTo>
                      <a:lnTo>
                        <a:pt x="285751" y="0"/>
                      </a:lnTo>
                    </a:path>
                  </a:pathLst>
                </a:custGeom>
                <a:noFill/>
                <a:ln w="31750">
                  <a:solidFill>
                    <a:schemeClr val="accent3"/>
                  </a:solidFill>
                </a:ln>
              </p:spPr>
            </p:sp>
            <p:sp>
              <p:nvSpPr>
                <p:cNvPr id="14" name="Freeform 14"/>
                <p:cNvSpPr/>
                <p:nvPr/>
              </p:nvSpPr>
              <p:spPr>
                <a:xfrm>
                  <a:off x="4695825" y="1971675"/>
                  <a:ext cx="285751" cy="127000"/>
                </a:xfrm>
                <a:custGeom>
                  <a:avLst/>
                  <a:gdLst/>
                  <a:ahLst/>
                  <a:cxnLst/>
                  <a:rect l="l" t="t" r="r" b="b"/>
                  <a:pathLst>
                    <a:path w="285751" h="127000">
                      <a:moveTo>
                        <a:pt x="0" y="63500"/>
                      </a:moveTo>
                      <a:lnTo>
                        <a:pt x="0" y="79375"/>
                      </a:lnTo>
                      <a:cubicBezTo>
                        <a:pt x="0" y="105678"/>
                        <a:pt x="21322" y="127000"/>
                        <a:pt x="47625" y="127000"/>
                      </a:cubicBezTo>
                      <a:cubicBezTo>
                        <a:pt x="73928" y="127000"/>
                        <a:pt x="95250" y="105678"/>
                        <a:pt x="95250" y="79375"/>
                      </a:cubicBezTo>
                      <a:lnTo>
                        <a:pt x="95250" y="63500"/>
                      </a:lnTo>
                      <a:moveTo>
                        <a:pt x="95250" y="79375"/>
                      </a:moveTo>
                      <a:cubicBezTo>
                        <a:pt x="95250" y="105678"/>
                        <a:pt x="116573" y="127000"/>
                        <a:pt x="142875" y="127000"/>
                      </a:cubicBezTo>
                      <a:cubicBezTo>
                        <a:pt x="169178" y="127000"/>
                        <a:pt x="190500" y="105678"/>
                        <a:pt x="190500" y="79375"/>
                      </a:cubicBezTo>
                      <a:lnTo>
                        <a:pt x="190500" y="63500"/>
                      </a:lnTo>
                      <a:moveTo>
                        <a:pt x="190500" y="79375"/>
                      </a:moveTo>
                      <a:cubicBezTo>
                        <a:pt x="190500" y="105678"/>
                        <a:pt x="211823" y="127000"/>
                        <a:pt x="238125" y="127000"/>
                      </a:cubicBezTo>
                      <a:cubicBezTo>
                        <a:pt x="264428" y="127000"/>
                        <a:pt x="285751" y="105678"/>
                        <a:pt x="285751" y="79375"/>
                      </a:cubicBezTo>
                      <a:lnTo>
                        <a:pt x="285751" y="63500"/>
                      </a:lnTo>
                      <a:lnTo>
                        <a:pt x="0" y="63500"/>
                      </a:lnTo>
                      <a:lnTo>
                        <a:pt x="31750" y="0"/>
                      </a:lnTo>
                      <a:lnTo>
                        <a:pt x="254001" y="0"/>
                      </a:lnTo>
                      <a:lnTo>
                        <a:pt x="285751" y="63500"/>
                      </a:lnTo>
                    </a:path>
                  </a:pathLst>
                </a:custGeom>
                <a:noFill/>
                <a:ln w="31750">
                  <a:solidFill>
                    <a:schemeClr val="accent3"/>
                  </a:solidFill>
                </a:ln>
              </p:spPr>
            </p:sp>
            <p:sp>
              <p:nvSpPr>
                <p:cNvPr id="15" name="Freeform 15"/>
                <p:cNvSpPr/>
                <p:nvPr/>
              </p:nvSpPr>
              <p:spPr>
                <a:xfrm>
                  <a:off x="4727575" y="2096294"/>
                  <a:ext cx="9525" cy="161132"/>
                </a:xfrm>
                <a:custGeom>
                  <a:avLst/>
                  <a:gdLst/>
                  <a:ahLst/>
                  <a:cxnLst/>
                  <a:rect l="l" t="t" r="r" b="b"/>
                  <a:pathLst>
                    <a:path w="9525" h="161132">
                      <a:moveTo>
                        <a:pt x="0" y="161132"/>
                      </a:moveTo>
                      <a:lnTo>
                        <a:pt x="0" y="0"/>
                      </a:lnTo>
                    </a:path>
                  </a:pathLst>
                </a:custGeom>
                <a:noFill/>
                <a:ln w="31750">
                  <a:solidFill>
                    <a:schemeClr val="accent3"/>
                  </a:solidFill>
                </a:ln>
              </p:spPr>
            </p:sp>
            <p:sp>
              <p:nvSpPr>
                <p:cNvPr id="16" name="Freeform 16"/>
                <p:cNvSpPr/>
                <p:nvPr/>
              </p:nvSpPr>
              <p:spPr>
                <a:xfrm>
                  <a:off x="4949826" y="2096294"/>
                  <a:ext cx="9525" cy="161132"/>
                </a:xfrm>
                <a:custGeom>
                  <a:avLst/>
                  <a:gdLst/>
                  <a:ahLst/>
                  <a:cxnLst/>
                  <a:rect l="l" t="t" r="r" b="b"/>
                  <a:pathLst>
                    <a:path w="9525" h="161132">
                      <a:moveTo>
                        <a:pt x="0" y="161132"/>
                      </a:moveTo>
                      <a:lnTo>
                        <a:pt x="0" y="0"/>
                      </a:lnTo>
                    </a:path>
                  </a:pathLst>
                </a:custGeom>
                <a:noFill/>
                <a:ln w="31750">
                  <a:solidFill>
                    <a:schemeClr val="accent3"/>
                  </a:solidFill>
                </a:ln>
              </p:spPr>
            </p:sp>
            <p:sp>
              <p:nvSpPr>
                <p:cNvPr id="17" name="Freeform 17"/>
                <p:cNvSpPr/>
                <p:nvPr/>
              </p:nvSpPr>
              <p:spPr>
                <a:xfrm>
                  <a:off x="4791075" y="2162175"/>
                  <a:ext cx="95250" cy="95250"/>
                </a:xfrm>
                <a:custGeom>
                  <a:avLst/>
                  <a:gdLst/>
                  <a:ahLst/>
                  <a:cxnLst/>
                  <a:rect l="l" t="t" r="r" b="b"/>
                  <a:pathLst>
                    <a:path w="95250" h="95250">
                      <a:moveTo>
                        <a:pt x="0" y="95250"/>
                      </a:moveTo>
                      <a:lnTo>
                        <a:pt x="0" y="31750"/>
                      </a:lnTo>
                      <a:cubicBezTo>
                        <a:pt x="0" y="14215"/>
                        <a:pt x="14215" y="0"/>
                        <a:pt x="31750" y="0"/>
                      </a:cubicBezTo>
                      <a:lnTo>
                        <a:pt x="63500" y="0"/>
                      </a:lnTo>
                      <a:cubicBezTo>
                        <a:pt x="81035" y="0"/>
                        <a:pt x="95250" y="14215"/>
                        <a:pt x="95250" y="31750"/>
                      </a:cubicBezTo>
                      <a:lnTo>
                        <a:pt x="95250" y="95250"/>
                      </a:lnTo>
                    </a:path>
                  </a:pathLst>
                </a:custGeom>
                <a:noFill/>
                <a:ln w="31750">
                  <a:solidFill>
                    <a:schemeClr val="accent3"/>
                  </a:solidFill>
                </a:ln>
              </p:spPr>
            </p:sp>
          </p:grpSp>
          <p:sp>
            <p:nvSpPr>
              <p:cNvPr id="19" name="TextBox 19"/>
              <p:cNvSpPr txBox="1"/>
              <p:nvPr/>
            </p:nvSpPr>
            <p:spPr>
              <a:xfrm>
                <a:off x="4639056" y="2529840"/>
                <a:ext cx="1597805"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Seller Portal</a:t>
                </a:r>
              </a:p>
            </p:txBody>
          </p:sp>
          <p:sp>
            <p:nvSpPr>
              <p:cNvPr id="20" name="TextBox 20"/>
              <p:cNvSpPr txBox="1"/>
              <p:nvPr/>
            </p:nvSpPr>
            <p:spPr>
              <a:xfrm>
                <a:off x="4641342" y="2940368"/>
                <a:ext cx="163727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Vận hành gian hàng</a:t>
                </a:r>
              </a:p>
            </p:txBody>
          </p:sp>
        </p:grpSp>
        <p:grpSp>
          <p:nvGrpSpPr>
            <p:cNvPr id="28" name="Group 28"/>
            <p:cNvGrpSpPr/>
            <p:nvPr/>
          </p:nvGrpSpPr>
          <p:grpSpPr>
            <a:xfrm>
              <a:off x="8229600" y="1619250"/>
              <a:ext cx="3505200" cy="1905000"/>
              <a:chOff x="8229600" y="1619250"/>
              <a:chExt cx="3505200" cy="1905000"/>
            </a:xfrm>
          </p:grpSpPr>
          <p:sp>
            <p:nvSpPr>
              <p:cNvPr id="22" name="Rectangle 22"/>
              <p:cNvSpPr/>
              <p:nvPr/>
            </p:nvSpPr>
            <p:spPr>
              <a:xfrm>
                <a:off x="8229600" y="1619250"/>
                <a:ext cx="3505200" cy="1905000"/>
              </a:xfrm>
              <a:prstGeom prst="roundRect">
                <a:avLst>
                  <a:gd name="adj" fmla="val 8000"/>
                </a:avLst>
              </a:prstGeom>
              <a:solidFill>
                <a:srgbClr val="EA4335">
                  <a:alpha val="8000"/>
                </a:srgbClr>
              </a:solidFill>
              <a:ln>
                <a:noFill/>
              </a:ln>
            </p:spPr>
          </p:sp>
          <p:grpSp>
            <p:nvGrpSpPr>
              <p:cNvPr id="25" name="Group 25"/>
              <p:cNvGrpSpPr/>
              <p:nvPr/>
            </p:nvGrpSpPr>
            <p:grpSpPr>
              <a:xfrm>
                <a:off x="8560601" y="1971675"/>
                <a:ext cx="310011" cy="285751"/>
                <a:chOff x="8560601" y="1971675"/>
                <a:chExt cx="310011" cy="285751"/>
              </a:xfrm>
            </p:grpSpPr>
            <p:sp>
              <p:nvSpPr>
                <p:cNvPr id="23" name="Freeform 23"/>
                <p:cNvSpPr/>
                <p:nvPr/>
              </p:nvSpPr>
              <p:spPr>
                <a:xfrm>
                  <a:off x="8560601" y="197167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31750">
                  <a:solidFill>
                    <a:srgbClr val="EA4335"/>
                  </a:solidFill>
                </a:ln>
              </p:spPr>
            </p:sp>
            <p:sp>
              <p:nvSpPr>
                <p:cNvPr id="24" name="Freeform 24"/>
                <p:cNvSpPr/>
                <p:nvPr/>
              </p:nvSpPr>
              <p:spPr>
                <a:xfrm>
                  <a:off x="8772525" y="2193926"/>
                  <a:ext cx="95250" cy="63500"/>
                </a:xfrm>
                <a:custGeom>
                  <a:avLst/>
                  <a:gdLst/>
                  <a:ahLst/>
                  <a:cxnLst/>
                  <a:rect l="l" t="t" r="r" b="b"/>
                  <a:pathLst>
                    <a:path w="95250" h="63500">
                      <a:moveTo>
                        <a:pt x="0" y="31750"/>
                      </a:moveTo>
                      <a:lnTo>
                        <a:pt x="31750" y="63500"/>
                      </a:lnTo>
                      <a:lnTo>
                        <a:pt x="95250" y="0"/>
                      </a:lnTo>
                    </a:path>
                  </a:pathLst>
                </a:custGeom>
                <a:noFill/>
                <a:ln w="31750">
                  <a:solidFill>
                    <a:srgbClr val="EA4335"/>
                  </a:solidFill>
                </a:ln>
              </p:spPr>
            </p:sp>
          </p:grpSp>
          <p:sp>
            <p:nvSpPr>
              <p:cNvPr id="26" name="TextBox 26"/>
              <p:cNvSpPr txBox="1"/>
              <p:nvPr/>
            </p:nvSpPr>
            <p:spPr>
              <a:xfrm>
                <a:off x="8525256" y="2529840"/>
                <a:ext cx="1433505"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Admin Panel</a:t>
                </a:r>
              </a:p>
            </p:txBody>
          </p:sp>
          <p:sp>
            <p:nvSpPr>
              <p:cNvPr id="27" name="TextBox 27"/>
              <p:cNvSpPr txBox="1"/>
              <p:nvPr/>
            </p:nvSpPr>
            <p:spPr>
              <a:xfrm>
                <a:off x="8527542" y="2940368"/>
                <a:ext cx="201911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Kiểm duyệt và giám sát</a:t>
                </a:r>
              </a:p>
            </p:txBody>
          </p:sp>
        </p:grpSp>
      </p:grpSp>
      <p:grpSp>
        <p:nvGrpSpPr>
          <p:cNvPr id="33" name="Group 33"/>
          <p:cNvGrpSpPr/>
          <p:nvPr/>
        </p:nvGrpSpPr>
        <p:grpSpPr>
          <a:xfrm>
            <a:off x="2209800" y="3524250"/>
            <a:ext cx="7772401" cy="247650"/>
            <a:chOff x="2209800" y="3524250"/>
            <a:chExt cx="7772401" cy="247650"/>
          </a:xfrm>
        </p:grpSpPr>
        <p:sp>
          <p:nvSpPr>
            <p:cNvPr id="30" name="Line 30"/>
            <p:cNvSpPr/>
            <p:nvPr/>
          </p:nvSpPr>
          <p:spPr>
            <a:xfrm>
              <a:off x="2209800" y="3524250"/>
              <a:ext cx="1" cy="247650"/>
            </a:xfrm>
            <a:prstGeom prst="line">
              <a:avLst/>
            </a:prstGeom>
            <a:noFill/>
            <a:ln w="28575">
              <a:solidFill>
                <a:schemeClr val="accent1"/>
              </a:solidFill>
              <a:tailEnd type="triangle" w="lg" len="lg"/>
            </a:ln>
          </p:spPr>
        </p:sp>
        <p:sp>
          <p:nvSpPr>
            <p:cNvPr id="31" name="Line 31"/>
            <p:cNvSpPr/>
            <p:nvPr/>
          </p:nvSpPr>
          <p:spPr>
            <a:xfrm>
              <a:off x="6096000" y="3524250"/>
              <a:ext cx="1" cy="247650"/>
            </a:xfrm>
            <a:prstGeom prst="line">
              <a:avLst/>
            </a:prstGeom>
            <a:noFill/>
            <a:ln w="28575">
              <a:solidFill>
                <a:schemeClr val="accent1"/>
              </a:solidFill>
              <a:tailEnd type="triangle" w="lg" len="lg"/>
            </a:ln>
          </p:spPr>
        </p:sp>
        <p:sp>
          <p:nvSpPr>
            <p:cNvPr id="32" name="Line 32"/>
            <p:cNvSpPr/>
            <p:nvPr/>
          </p:nvSpPr>
          <p:spPr>
            <a:xfrm>
              <a:off x="9982200" y="3524250"/>
              <a:ext cx="1" cy="247650"/>
            </a:xfrm>
            <a:prstGeom prst="line">
              <a:avLst/>
            </a:prstGeom>
            <a:noFill/>
            <a:ln w="28575">
              <a:solidFill>
                <a:schemeClr val="accent1"/>
              </a:solidFill>
              <a:tailEnd type="triangle" w="lg" len="lg"/>
            </a:ln>
          </p:spPr>
        </p:sp>
      </p:grpSp>
      <p:grpSp>
        <p:nvGrpSpPr>
          <p:cNvPr id="37" name="Group 37"/>
          <p:cNvGrpSpPr/>
          <p:nvPr/>
        </p:nvGrpSpPr>
        <p:grpSpPr>
          <a:xfrm>
            <a:off x="457200" y="3810000"/>
            <a:ext cx="11277600" cy="723900"/>
            <a:chOff x="457200" y="3810000"/>
            <a:chExt cx="11277600" cy="723900"/>
          </a:xfrm>
        </p:grpSpPr>
        <p:sp>
          <p:nvSpPr>
            <p:cNvPr id="34" name="Rectangle 34"/>
            <p:cNvSpPr/>
            <p:nvPr/>
          </p:nvSpPr>
          <p:spPr>
            <a:xfrm>
              <a:off x="457200" y="3810000"/>
              <a:ext cx="11277600" cy="723900"/>
            </a:xfrm>
            <a:prstGeom prst="roundRect">
              <a:avLst>
                <a:gd name="adj" fmla="val 21053"/>
              </a:avLst>
            </a:prstGeom>
            <a:solidFill>
              <a:schemeClr val="dk1"/>
            </a:solidFill>
            <a:ln>
              <a:noFill/>
            </a:ln>
          </p:spPr>
        </p:sp>
        <p:sp>
          <p:nvSpPr>
            <p:cNvPr id="35" name="TextBox 35"/>
            <p:cNvSpPr txBox="1"/>
            <p:nvPr/>
          </p:nvSpPr>
          <p:spPr>
            <a:xfrm>
              <a:off x="752856" y="4053840"/>
              <a:ext cx="3848338"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Một nền tảng B2B2C dùng chung</a:t>
              </a:r>
            </a:p>
          </p:txBody>
        </p:sp>
        <p:sp>
          <p:nvSpPr>
            <p:cNvPr id="36" name="TextBox 36"/>
            <p:cNvSpPr txBox="1"/>
            <p:nvPr/>
          </p:nvSpPr>
          <p:spPr>
            <a:xfrm>
              <a:off x="6089142" y="4102418"/>
              <a:ext cx="3164611" cy="264033"/>
            </a:xfrm>
            <a:prstGeom prst="rect">
              <a:avLst/>
            </a:prstGeom>
            <a:noFill/>
            <a:ln>
              <a:noFill/>
            </a:ln>
          </p:spPr>
          <p:txBody>
            <a:bodyPr wrap="none" lIns="0" tIns="0" rIns="0" bIns="0" anchor="t" anchorCtr="0">
              <a:spAutoFit/>
            </a:bodyPr>
            <a:lstStyle/>
            <a:p>
              <a:pPr algn="l"/>
              <a:r>
                <a:rPr lang="vi-VN" sz="1350" dirty="0">
                  <a:solidFill>
                    <a:schemeClr val="accent6"/>
                  </a:solidFill>
                  <a:latin typeface="+mn-lt"/>
                  <a:ea typeface="+mn-ea"/>
                  <a:cs typeface="+mn-cs"/>
                </a:rPr>
                <a:t>Dữ liệu · đơn hàng · quyền tập trung</a:t>
              </a:r>
            </a:p>
          </p:txBody>
        </p:sp>
      </p:grpSp>
      <p:grpSp>
        <p:nvGrpSpPr>
          <p:cNvPr id="53" name="Group 53"/>
          <p:cNvGrpSpPr/>
          <p:nvPr/>
        </p:nvGrpSpPr>
        <p:grpSpPr>
          <a:xfrm>
            <a:off x="1974342" y="4673918"/>
            <a:ext cx="8236458" cy="1231582"/>
            <a:chOff x="1974342" y="4673918"/>
            <a:chExt cx="8236458" cy="1231582"/>
          </a:xfrm>
        </p:grpSpPr>
        <p:sp>
          <p:nvSpPr>
            <p:cNvPr id="38" name="TextBox 38"/>
            <p:cNvSpPr txBox="1"/>
            <p:nvPr/>
          </p:nvSpPr>
          <p:spPr>
            <a:xfrm>
              <a:off x="1974342" y="4673918"/>
              <a:ext cx="186674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QUY TRÌNH NGƯỜI BÁN</a:t>
              </a:r>
            </a:p>
          </p:txBody>
        </p:sp>
        <p:grpSp>
          <p:nvGrpSpPr>
            <p:cNvPr id="42" name="Group 42"/>
            <p:cNvGrpSpPr/>
            <p:nvPr/>
          </p:nvGrpSpPr>
          <p:grpSpPr>
            <a:xfrm>
              <a:off x="1981200" y="4991100"/>
              <a:ext cx="2286000" cy="914400"/>
              <a:chOff x="1981200" y="4991100"/>
              <a:chExt cx="2286000" cy="914400"/>
            </a:xfrm>
          </p:grpSpPr>
          <p:sp>
            <p:nvSpPr>
              <p:cNvPr id="39" name="Rectangle 39"/>
              <p:cNvSpPr/>
              <p:nvPr/>
            </p:nvSpPr>
            <p:spPr>
              <a:xfrm>
                <a:off x="1981200" y="4991100"/>
                <a:ext cx="2286000" cy="914400"/>
              </a:xfrm>
              <a:prstGeom prst="roundRect">
                <a:avLst>
                  <a:gd name="adj" fmla="val 16667"/>
                </a:avLst>
              </a:prstGeom>
              <a:solidFill>
                <a:schemeClr val="lt2"/>
              </a:solidFill>
              <a:ln>
                <a:noFill/>
              </a:ln>
            </p:spPr>
          </p:sp>
          <p:sp>
            <p:nvSpPr>
              <p:cNvPr id="40" name="TextBox 40"/>
              <p:cNvSpPr txBox="1"/>
              <p:nvPr/>
            </p:nvSpPr>
            <p:spPr>
              <a:xfrm>
                <a:off x="2138149" y="5213032"/>
                <a:ext cx="1972101"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Đăng ký người bán</a:t>
                </a:r>
              </a:p>
            </p:txBody>
          </p:sp>
          <p:sp>
            <p:nvSpPr>
              <p:cNvPr id="41" name="TextBox 41"/>
              <p:cNvSpPr txBox="1"/>
              <p:nvPr/>
            </p:nvSpPr>
            <p:spPr>
              <a:xfrm>
                <a:off x="2100972" y="5531168"/>
                <a:ext cx="2046456"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Tạo tài khoản, khai báo</a:t>
                </a:r>
              </a:p>
            </p:txBody>
          </p:sp>
        </p:grpSp>
        <p:grpSp>
          <p:nvGrpSpPr>
            <p:cNvPr id="46" name="Group 46"/>
            <p:cNvGrpSpPr/>
            <p:nvPr/>
          </p:nvGrpSpPr>
          <p:grpSpPr>
            <a:xfrm>
              <a:off x="4953000" y="4991100"/>
              <a:ext cx="2286000" cy="914400"/>
              <a:chOff x="4953000" y="4991100"/>
              <a:chExt cx="2286000" cy="914400"/>
            </a:xfrm>
          </p:grpSpPr>
          <p:sp>
            <p:nvSpPr>
              <p:cNvPr id="43" name="Rectangle 43"/>
              <p:cNvSpPr/>
              <p:nvPr/>
            </p:nvSpPr>
            <p:spPr>
              <a:xfrm>
                <a:off x="4953000" y="4991100"/>
                <a:ext cx="2286000" cy="914400"/>
              </a:xfrm>
              <a:prstGeom prst="roundRect">
                <a:avLst>
                  <a:gd name="adj" fmla="val 16667"/>
                </a:avLst>
              </a:prstGeom>
              <a:solidFill>
                <a:schemeClr val="lt2"/>
              </a:solidFill>
              <a:ln>
                <a:noFill/>
              </a:ln>
            </p:spPr>
          </p:sp>
          <p:sp>
            <p:nvSpPr>
              <p:cNvPr id="44" name="TextBox 44"/>
              <p:cNvSpPr txBox="1"/>
              <p:nvPr/>
            </p:nvSpPr>
            <p:spPr>
              <a:xfrm>
                <a:off x="5236112" y="5213032"/>
                <a:ext cx="1719777"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KYC được duyệt</a:t>
                </a:r>
              </a:p>
            </p:txBody>
          </p:sp>
          <p:sp>
            <p:nvSpPr>
              <p:cNvPr id="45" name="TextBox 45"/>
              <p:cNvSpPr txBox="1"/>
              <p:nvPr/>
            </p:nvSpPr>
            <p:spPr>
              <a:xfrm>
                <a:off x="5086445" y="5531168"/>
                <a:ext cx="2019110"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Quản trị viên xác minh</a:t>
                </a:r>
              </a:p>
            </p:txBody>
          </p:sp>
        </p:grpSp>
        <p:grpSp>
          <p:nvGrpSpPr>
            <p:cNvPr id="50" name="Group 50"/>
            <p:cNvGrpSpPr/>
            <p:nvPr/>
          </p:nvGrpSpPr>
          <p:grpSpPr>
            <a:xfrm>
              <a:off x="7924800" y="4991100"/>
              <a:ext cx="2286000" cy="914400"/>
              <a:chOff x="7924800" y="4991100"/>
              <a:chExt cx="2286000" cy="914400"/>
            </a:xfrm>
          </p:grpSpPr>
          <p:sp>
            <p:nvSpPr>
              <p:cNvPr id="47" name="Rectangle 47"/>
              <p:cNvSpPr/>
              <p:nvPr/>
            </p:nvSpPr>
            <p:spPr>
              <a:xfrm>
                <a:off x="7924800" y="4991100"/>
                <a:ext cx="2286000" cy="914400"/>
              </a:xfrm>
              <a:prstGeom prst="roundRect">
                <a:avLst>
                  <a:gd name="adj" fmla="val 16667"/>
                </a:avLst>
              </a:prstGeom>
              <a:solidFill>
                <a:schemeClr val="accent3">
                  <a:alpha val="10000"/>
                </a:schemeClr>
              </a:solidFill>
              <a:ln>
                <a:noFill/>
              </a:ln>
            </p:spPr>
          </p:sp>
          <p:sp>
            <p:nvSpPr>
              <p:cNvPr id="48" name="TextBox 48"/>
              <p:cNvSpPr txBox="1"/>
              <p:nvPr/>
            </p:nvSpPr>
            <p:spPr>
              <a:xfrm>
                <a:off x="8571554" y="5213032"/>
                <a:ext cx="992492"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Đăng bán</a:t>
                </a:r>
              </a:p>
            </p:txBody>
          </p:sp>
          <p:sp>
            <p:nvSpPr>
              <p:cNvPr id="49" name="TextBox 49"/>
              <p:cNvSpPr txBox="1"/>
              <p:nvPr/>
            </p:nvSpPr>
            <p:spPr>
              <a:xfrm>
                <a:off x="8153602" y="5531168"/>
                <a:ext cx="1828396"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Đưa sản phẩm lên sàn</a:t>
                </a:r>
              </a:p>
            </p:txBody>
          </p:sp>
        </p:grpSp>
        <p:sp>
          <p:nvSpPr>
            <p:cNvPr id="51" name="Line 51"/>
            <p:cNvSpPr/>
            <p:nvPr/>
          </p:nvSpPr>
          <p:spPr>
            <a:xfrm>
              <a:off x="4267200" y="5448300"/>
              <a:ext cx="647700" cy="1"/>
            </a:xfrm>
            <a:prstGeom prst="line">
              <a:avLst/>
            </a:prstGeom>
            <a:noFill/>
            <a:ln w="28575">
              <a:solidFill>
                <a:schemeClr val="accent1"/>
              </a:solidFill>
              <a:tailEnd type="triangle" w="lg" len="lg"/>
            </a:ln>
          </p:spPr>
        </p:sp>
        <p:sp>
          <p:nvSpPr>
            <p:cNvPr id="52" name="Line 52"/>
            <p:cNvSpPr/>
            <p:nvPr/>
          </p:nvSpPr>
          <p:spPr>
            <a:xfrm>
              <a:off x="7239000" y="5448300"/>
              <a:ext cx="647700" cy="1"/>
            </a:xfrm>
            <a:prstGeom prst="line">
              <a:avLst/>
            </a:prstGeom>
            <a:noFill/>
            <a:ln w="28575">
              <a:solidFill>
                <a:schemeClr val="accent1"/>
              </a:solidFill>
              <a:tailEnd type="triangle" w="lg" len="lg"/>
            </a:ln>
          </p:spPr>
        </p:sp>
      </p:grpSp>
      <p:grpSp>
        <p:nvGrpSpPr>
          <p:cNvPr id="57" name="Group 57"/>
          <p:cNvGrpSpPr/>
          <p:nvPr/>
        </p:nvGrpSpPr>
        <p:grpSpPr>
          <a:xfrm>
            <a:off x="450342" y="6416992"/>
            <a:ext cx="11291316" cy="264033"/>
            <a:chOff x="450342" y="6416992"/>
            <a:chExt cx="11291316" cy="264033"/>
          </a:xfrm>
        </p:grpSpPr>
        <p:sp>
          <p:nvSpPr>
            <p:cNvPr id="54" name="TextBox 54"/>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55" name="TextBox 55"/>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56" name="TextBox 56"/>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03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441198" y="597218"/>
            <a:ext cx="8974693" cy="1096327"/>
            <a:chOff x="441198" y="597218"/>
            <a:chExt cx="8974693" cy="1096327"/>
          </a:xfrm>
        </p:grpSpPr>
        <p:sp>
          <p:nvSpPr>
            <p:cNvPr id="2" name="TextBox 2"/>
            <p:cNvSpPr txBox="1"/>
            <p:nvPr/>
          </p:nvSpPr>
          <p:spPr>
            <a:xfrm>
              <a:off x="450342" y="597218"/>
              <a:ext cx="2606040"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 · PHẠM VI VÀ PHÂN QUYỀN</a:t>
              </a:r>
            </a:p>
          </p:txBody>
        </p:sp>
        <p:sp>
          <p:nvSpPr>
            <p:cNvPr id="3" name="TextBox 3"/>
            <p:cNvSpPr txBox="1"/>
            <p:nvPr/>
          </p:nvSpPr>
          <p:spPr>
            <a:xfrm>
              <a:off x="441198" y="879158"/>
              <a:ext cx="8974693"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Phân quyền theo vai trò và phạm vi dữ liệu</a:t>
              </a:r>
            </a:p>
          </p:txBody>
        </p:sp>
        <p:sp>
          <p:nvSpPr>
            <p:cNvPr id="4" name="TextBox 4"/>
            <p:cNvSpPr txBox="1"/>
            <p:nvPr/>
          </p:nvSpPr>
          <p:spPr>
            <a:xfrm>
              <a:off x="449580" y="1400175"/>
              <a:ext cx="7044445"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Phạm vi MVP: tài khoản · gian hàng · sản phẩm · giỏ/đơn hàng · quản trị</a:t>
              </a:r>
            </a:p>
          </p:txBody>
        </p:sp>
      </p:grpSp>
      <p:graphicFrame>
        <p:nvGraphicFramePr>
          <p:cNvPr id="6" name="permissions"/>
          <p:cNvGraphicFramePr>
            <a:graphicFrameLocks noGrp="1"/>
          </p:cNvGraphicFramePr>
          <p:nvPr/>
        </p:nvGraphicFramePr>
        <p:xfrm>
          <a:off x="457200" y="1714500"/>
          <a:ext cx="11277600" cy="358140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33400">
                <a:tc>
                  <a:txBody>
                    <a:bodyPr/>
                    <a:lstStyle/>
                    <a:p>
                      <a:r>
                        <a:rPr lang="vi-VN" sz="1500" b="1">
                          <a:solidFill>
                            <a:srgbClr val="FFFFFF"/>
                          </a:solidFill>
                          <a:latin typeface="Segoe UI"/>
                          <a:ea typeface="Microsoft YaHei"/>
                          <a:cs typeface="Segoe UI"/>
                        </a:rPr>
                        <a:t>Vai trò</a:t>
                      </a:r>
                    </a:p>
                  </a:txBody>
                  <a:tcPr marL="76200" marR="76200" marT="38100" marB="38100" anchor="ctr">
                    <a:solidFill>
                      <a:schemeClr val="accent1"/>
                    </a:solidFill>
                  </a:tcPr>
                </a:tc>
                <a:tc>
                  <a:txBody>
                    <a:bodyPr/>
                    <a:lstStyle/>
                    <a:p>
                      <a:pPr algn="ctr"/>
                      <a:r>
                        <a:rPr lang="vi-VN" sz="1500" b="1">
                          <a:solidFill>
                            <a:srgbClr val="FFFFFF"/>
                          </a:solidFill>
                          <a:latin typeface="Segoe UI"/>
                          <a:ea typeface="Microsoft YaHei"/>
                          <a:cs typeface="Segoe UI"/>
                        </a:rPr>
                        <a:t>Guest</a:t>
                      </a:r>
                    </a:p>
                  </a:txBody>
                  <a:tcPr marL="76200" marR="76200" marT="38100" marB="38100" anchor="ctr">
                    <a:solidFill>
                      <a:schemeClr val="accent1"/>
                    </a:solidFill>
                  </a:tcPr>
                </a:tc>
                <a:tc>
                  <a:txBody>
                    <a:bodyPr/>
                    <a:lstStyle/>
                    <a:p>
                      <a:pPr algn="ctr"/>
                      <a:r>
                        <a:rPr lang="vi-VN" sz="1500" b="1">
                          <a:solidFill>
                            <a:srgbClr val="FFFFFF"/>
                          </a:solidFill>
                          <a:latin typeface="Segoe UI"/>
                          <a:ea typeface="Microsoft YaHei"/>
                          <a:cs typeface="Segoe UI"/>
                        </a:rPr>
                        <a:t>Customer</a:t>
                      </a:r>
                    </a:p>
                  </a:txBody>
                  <a:tcPr marL="76200" marR="76200" marT="38100" marB="38100" anchor="ctr">
                    <a:solidFill>
                      <a:schemeClr val="accent1"/>
                    </a:solidFill>
                  </a:tcPr>
                </a:tc>
                <a:tc>
                  <a:txBody>
                    <a:bodyPr/>
                    <a:lstStyle/>
                    <a:p>
                      <a:pPr algn="ctr"/>
                      <a:r>
                        <a:rPr lang="vi-VN" sz="1500" b="1">
                          <a:solidFill>
                            <a:srgbClr val="FFFFFF"/>
                          </a:solidFill>
                          <a:latin typeface="Segoe UI"/>
                          <a:ea typeface="Microsoft YaHei"/>
                          <a:cs typeface="Segoe UI"/>
                        </a:rPr>
                        <a:t>Seller</a:t>
                      </a:r>
                    </a:p>
                  </a:txBody>
                  <a:tcPr marL="76200" marR="76200" marT="38100" marB="38100" anchor="ctr">
                    <a:solidFill>
                      <a:schemeClr val="accent1"/>
                    </a:solidFill>
                  </a:tcPr>
                </a:tc>
                <a:tc>
                  <a:txBody>
                    <a:bodyPr/>
                    <a:lstStyle/>
                    <a:p>
                      <a:pPr algn="ctr"/>
                      <a:r>
                        <a:rPr lang="vi-VN" sz="1500" b="1">
                          <a:solidFill>
                            <a:srgbClr val="FFFFFF"/>
                          </a:solidFill>
                          <a:latin typeface="Segoe UI"/>
                          <a:ea typeface="Microsoft YaHei"/>
                          <a:cs typeface="Segoe UI"/>
                        </a:rPr>
                        <a:t>Admin</a:t>
                      </a:r>
                    </a:p>
                  </a:txBody>
                  <a:tcPr marL="76200" marR="76200" marT="38100" marB="38100" anchor="ctr">
                    <a:solidFill>
                      <a:schemeClr val="accent1"/>
                    </a:solidFill>
                  </a:tcPr>
                </a:tc>
                <a:tc>
                  <a:txBody>
                    <a:bodyPr/>
                    <a:lstStyle/>
                    <a:p>
                      <a:pPr algn="ctr"/>
                      <a:r>
                        <a:rPr lang="vi-VN" sz="1500" b="1">
                          <a:solidFill>
                            <a:srgbClr val="FFFFFF"/>
                          </a:solidFill>
                          <a:latin typeface="Segoe UI"/>
                          <a:ea typeface="Microsoft YaHei"/>
                          <a:cs typeface="Segoe UI"/>
                        </a:rPr>
                        <a:t>Super Admin</a:t>
                      </a:r>
                    </a:p>
                  </a:txBody>
                  <a:tcPr marL="76200" marR="76200" marT="38100" marB="38100" anchor="ctr">
                    <a:solidFill>
                      <a:schemeClr val="accent1"/>
                    </a:solidFill>
                  </a:tcPr>
                </a:tc>
                <a:extLst>
                  <a:ext uri="{0D108BD9-81ED-4DB2-BD59-A6C34878D82A}">
                    <a16:rowId xmlns:a16="http://schemas.microsoft.com/office/drawing/2014/main" val="10000"/>
                  </a:ext>
                </a:extLst>
              </a:tr>
              <a:tr h="609600">
                <a:tc>
                  <a:txBody>
                    <a:bodyPr/>
                    <a:lstStyle/>
                    <a:p>
                      <a:r>
                        <a:rPr lang="vi-VN" sz="1500" b="1">
                          <a:solidFill>
                            <a:schemeClr val="dk1"/>
                          </a:solidFill>
                          <a:latin typeface="Segoe UI"/>
                          <a:ea typeface="Microsoft YaHei"/>
                          <a:cs typeface="Segoe UI"/>
                        </a:rPr>
                        <a:t>Xem, tìm sản phẩm</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extLst>
                  <a:ext uri="{0D108BD9-81ED-4DB2-BD59-A6C34878D82A}">
                    <a16:rowId xmlns:a16="http://schemas.microsoft.com/office/drawing/2014/main" val="10001"/>
                  </a:ext>
                </a:extLst>
              </a:tr>
              <a:tr h="609600">
                <a:tc>
                  <a:txBody>
                    <a:bodyPr/>
                    <a:lstStyle/>
                    <a:p>
                      <a:r>
                        <a:rPr lang="vi-VN" sz="1500" b="1">
                          <a:solidFill>
                            <a:schemeClr val="dk1"/>
                          </a:solidFill>
                          <a:latin typeface="Segoe UI"/>
                          <a:ea typeface="Microsoft YaHei"/>
                          <a:cs typeface="Segoe UI"/>
                        </a:rPr>
                        <a:t>Giỏ hàng, đặt hàng</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extLst>
                  <a:ext uri="{0D108BD9-81ED-4DB2-BD59-A6C34878D82A}">
                    <a16:rowId xmlns:a16="http://schemas.microsoft.com/office/drawing/2014/main" val="10002"/>
                  </a:ext>
                </a:extLst>
              </a:tr>
              <a:tr h="609600">
                <a:tc>
                  <a:txBody>
                    <a:bodyPr/>
                    <a:lstStyle/>
                    <a:p>
                      <a:r>
                        <a:rPr lang="vi-VN" sz="1500" b="1">
                          <a:solidFill>
                            <a:schemeClr val="dk1"/>
                          </a:solidFill>
                          <a:latin typeface="Segoe UI"/>
                          <a:ea typeface="Microsoft YaHei"/>
                          <a:cs typeface="Segoe UI"/>
                        </a:rPr>
                        <a:t>Sản phẩm, đơn, doanh thu shop</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1">
                          <a:solidFill>
                            <a:schemeClr val="accent2"/>
                          </a:solidFill>
                          <a:latin typeface="Segoe UI"/>
                          <a:ea typeface="Microsoft YaHei"/>
                          <a:cs typeface="Segoe UI"/>
                        </a:rPr>
                        <a:t>Shop mình</a:t>
                      </a:r>
                    </a:p>
                  </a:txBody>
                  <a:tcPr marL="76200" marR="76200" marT="38100" marB="38100" anchor="ctr">
                    <a:noFill/>
                  </a:tcPr>
                </a:tc>
                <a:tc>
                  <a:txBody>
                    <a:bodyPr/>
                    <a:lstStyle/>
                    <a:p>
                      <a:pPr algn="ctr"/>
                      <a:r>
                        <a:rPr lang="vi-VN" sz="1500" b="1">
                          <a:solidFill>
                            <a:schemeClr val="accent1"/>
                          </a:solidFill>
                          <a:latin typeface="Segoe UI"/>
                          <a:ea typeface="Microsoft YaHei"/>
                          <a:cs typeface="Segoe UI"/>
                        </a:rPr>
                        <a:t>Toàn bộ</a:t>
                      </a:r>
                    </a:p>
                  </a:txBody>
                  <a:tcPr marL="76200" marR="76200" marT="38100" marB="38100" anchor="ctr">
                    <a:noFill/>
                  </a:tcPr>
                </a:tc>
                <a:tc>
                  <a:txBody>
                    <a:bodyPr/>
                    <a:lstStyle/>
                    <a:p>
                      <a:pPr algn="ctr"/>
                      <a:r>
                        <a:rPr lang="vi-VN" sz="1500" b="1">
                          <a:solidFill>
                            <a:schemeClr val="accent1"/>
                          </a:solidFill>
                          <a:latin typeface="Segoe UI"/>
                          <a:ea typeface="Microsoft YaHei"/>
                          <a:cs typeface="Segoe UI"/>
                        </a:rPr>
                        <a:t>Toàn bộ</a:t>
                      </a:r>
                    </a:p>
                  </a:txBody>
                  <a:tcPr marL="76200" marR="76200" marT="38100" marB="38100" anchor="ctr">
                    <a:noFill/>
                  </a:tcPr>
                </a:tc>
                <a:extLst>
                  <a:ext uri="{0D108BD9-81ED-4DB2-BD59-A6C34878D82A}">
                    <a16:rowId xmlns:a16="http://schemas.microsoft.com/office/drawing/2014/main" val="10003"/>
                  </a:ext>
                </a:extLst>
              </a:tr>
              <a:tr h="609600">
                <a:tc>
                  <a:txBody>
                    <a:bodyPr/>
                    <a:lstStyle/>
                    <a:p>
                      <a:r>
                        <a:rPr lang="vi-VN" sz="1500" b="1">
                          <a:solidFill>
                            <a:schemeClr val="dk1"/>
                          </a:solidFill>
                          <a:latin typeface="Segoe UI"/>
                          <a:ea typeface="Microsoft YaHei"/>
                          <a:cs typeface="Segoe UI"/>
                        </a:rPr>
                        <a:t>Duyệt người bán, quản lý user</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extLst>
                  <a:ext uri="{0D108BD9-81ED-4DB2-BD59-A6C34878D82A}">
                    <a16:rowId xmlns:a16="http://schemas.microsoft.com/office/drawing/2014/main" val="10004"/>
                  </a:ext>
                </a:extLst>
              </a:tr>
              <a:tr h="609600">
                <a:tc>
                  <a:txBody>
                    <a:bodyPr/>
                    <a:lstStyle/>
                    <a:p>
                      <a:r>
                        <a:rPr lang="vi-VN" sz="1500" b="1">
                          <a:solidFill>
                            <a:schemeClr val="dk1"/>
                          </a:solidFill>
                          <a:latin typeface="Segoe UI"/>
                          <a:ea typeface="Microsoft YaHei"/>
                          <a:cs typeface="Segoe UI"/>
                        </a:rPr>
                        <a:t>Cấu hình, quyền, audit</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0">
                          <a:solidFill>
                            <a:schemeClr val="accent5"/>
                          </a:solidFill>
                          <a:latin typeface="Segoe UI"/>
                          <a:ea typeface="Microsoft YaHei"/>
                          <a:cs typeface="Segoe UI"/>
                        </a:rPr>
                        <a:t>Không</a:t>
                      </a:r>
                    </a:p>
                  </a:txBody>
                  <a:tcPr marL="76200" marR="76200" marT="38100" marB="38100" anchor="ctr">
                    <a:noFill/>
                  </a:tcPr>
                </a:tc>
                <a:tc>
                  <a:txBody>
                    <a:bodyPr/>
                    <a:lstStyle/>
                    <a:p>
                      <a:pPr algn="ctr"/>
                      <a:r>
                        <a:rPr lang="vi-VN" sz="1500" b="1">
                          <a:solidFill>
                            <a:schemeClr val="accent3"/>
                          </a:solidFill>
                          <a:latin typeface="Segoe UI"/>
                          <a:ea typeface="Microsoft YaHei"/>
                          <a:cs typeface="Segoe UI"/>
                        </a:rPr>
                        <a:t>Có</a:t>
                      </a:r>
                    </a:p>
                  </a:txBody>
                  <a:tcPr marL="76200" marR="76200" marT="38100" marB="38100" anchor="ctr">
                    <a:noFill/>
                  </a:tcPr>
                </a:tc>
                <a:extLst>
                  <a:ext uri="{0D108BD9-81ED-4DB2-BD59-A6C34878D82A}">
                    <a16:rowId xmlns:a16="http://schemas.microsoft.com/office/drawing/2014/main" val="10005"/>
                  </a:ext>
                </a:extLst>
              </a:tr>
            </a:tbl>
          </a:graphicData>
        </a:graphic>
      </p:graphicFrame>
      <p:grpSp>
        <p:nvGrpSpPr>
          <p:cNvPr id="10" name="Group 10"/>
          <p:cNvGrpSpPr/>
          <p:nvPr/>
        </p:nvGrpSpPr>
        <p:grpSpPr>
          <a:xfrm>
            <a:off x="457200" y="5391150"/>
            <a:ext cx="11277600" cy="723900"/>
            <a:chOff x="457200" y="5391150"/>
            <a:chExt cx="11277600" cy="723900"/>
          </a:xfrm>
        </p:grpSpPr>
        <p:sp>
          <p:nvSpPr>
            <p:cNvPr id="7" name="Rectangle 7"/>
            <p:cNvSpPr/>
            <p:nvPr/>
          </p:nvSpPr>
          <p:spPr>
            <a:xfrm>
              <a:off x="457200" y="5391150"/>
              <a:ext cx="11277600" cy="723900"/>
            </a:xfrm>
            <a:prstGeom prst="roundRect">
              <a:avLst>
                <a:gd name="adj" fmla="val 21053"/>
              </a:avLst>
            </a:prstGeom>
            <a:solidFill>
              <a:schemeClr val="accent2">
                <a:alpha val="12000"/>
              </a:schemeClr>
            </a:solidFill>
            <a:ln>
              <a:noFill/>
            </a:ln>
          </p:spPr>
        </p:sp>
        <p:sp>
          <p:nvSpPr>
            <p:cNvPr id="8" name="TextBox 8"/>
            <p:cNvSpPr txBox="1"/>
            <p:nvPr/>
          </p:nvSpPr>
          <p:spPr>
            <a:xfrm>
              <a:off x="755142" y="5621083"/>
              <a:ext cx="802289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Ma trận giản lược theo vai trò nguồn · Kiểm soát quyền tại backend, cô lập dữ liệu người bán</a:t>
              </a:r>
            </a:p>
          </p:txBody>
        </p:sp>
      </p:grpSp>
      <p:grpSp>
        <p:nvGrpSpPr>
          <p:cNvPr id="14" name="Group 14"/>
          <p:cNvGrpSpPr/>
          <p:nvPr/>
        </p:nvGrpSpPr>
        <p:grpSpPr>
          <a:xfrm>
            <a:off x="450342" y="6416992"/>
            <a:ext cx="11291316" cy="264033"/>
            <a:chOff x="450342" y="6416992"/>
            <a:chExt cx="11291316" cy="264033"/>
          </a:xfrm>
        </p:grpSpPr>
        <p:sp>
          <p:nvSpPr>
            <p:cNvPr id="11" name="TextBox 11"/>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12" name="TextBox 12"/>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13" name="TextBox 13"/>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04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597218"/>
            <a:ext cx="8307618" cy="898017"/>
            <a:chOff x="441198" y="597218"/>
            <a:chExt cx="8307618" cy="898017"/>
          </a:xfrm>
        </p:grpSpPr>
        <p:sp>
          <p:nvSpPr>
            <p:cNvPr id="2" name="TextBox 2"/>
            <p:cNvSpPr txBox="1"/>
            <p:nvPr/>
          </p:nvSpPr>
          <p:spPr>
            <a:xfrm>
              <a:off x="450342" y="597218"/>
              <a:ext cx="288447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 · CHỨC NĂNG THEO ĐỐI TƯỢNG</a:t>
              </a:r>
            </a:p>
          </p:txBody>
        </p:sp>
        <p:sp>
          <p:nvSpPr>
            <p:cNvPr id="3" name="TextBox 3"/>
            <p:cNvSpPr txBox="1"/>
            <p:nvPr/>
          </p:nvSpPr>
          <p:spPr>
            <a:xfrm>
              <a:off x="441198" y="879158"/>
              <a:ext cx="8307618"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Ba đối tượng, một hành trình đơn hàng</a:t>
              </a:r>
            </a:p>
          </p:txBody>
        </p:sp>
      </p:grpSp>
      <p:grpSp>
        <p:nvGrpSpPr>
          <p:cNvPr id="58" name="Group 58"/>
          <p:cNvGrpSpPr/>
          <p:nvPr/>
        </p:nvGrpSpPr>
        <p:grpSpPr>
          <a:xfrm>
            <a:off x="457200" y="1524000"/>
            <a:ext cx="11277600" cy="2819400"/>
            <a:chOff x="457200" y="1524000"/>
            <a:chExt cx="11277600" cy="2819400"/>
          </a:xfrm>
        </p:grpSpPr>
        <p:grpSp>
          <p:nvGrpSpPr>
            <p:cNvPr id="22" name="Group 22"/>
            <p:cNvGrpSpPr/>
            <p:nvPr/>
          </p:nvGrpSpPr>
          <p:grpSpPr>
            <a:xfrm>
              <a:off x="457200" y="1524000"/>
              <a:ext cx="3505200" cy="2819400"/>
              <a:chOff x="457200" y="1524000"/>
              <a:chExt cx="3505200" cy="2819400"/>
            </a:xfrm>
          </p:grpSpPr>
          <p:sp>
            <p:nvSpPr>
              <p:cNvPr id="5" name="Rectangle 5"/>
              <p:cNvSpPr/>
              <p:nvPr/>
            </p:nvSpPr>
            <p:spPr>
              <a:xfrm>
                <a:off x="457200" y="1524000"/>
                <a:ext cx="3505200" cy="2819400"/>
              </a:xfrm>
              <a:prstGeom prst="roundRect">
                <a:avLst>
                  <a:gd name="adj" fmla="val 5405"/>
                </a:avLst>
              </a:prstGeom>
              <a:solidFill>
                <a:schemeClr val="lt2"/>
              </a:solidFill>
              <a:ln>
                <a:noFill/>
              </a:ln>
            </p:spPr>
          </p:sp>
          <p:grpSp>
            <p:nvGrpSpPr>
              <p:cNvPr id="10" name="Group 10"/>
              <p:cNvGrpSpPr/>
              <p:nvPr/>
            </p:nvGrpSpPr>
            <p:grpSpPr>
              <a:xfrm>
                <a:off x="825500" y="1838325"/>
                <a:ext cx="254000" cy="285751"/>
                <a:chOff x="825500" y="1838325"/>
                <a:chExt cx="254000" cy="285751"/>
              </a:xfrm>
            </p:grpSpPr>
            <p:sp>
              <p:nvSpPr>
                <p:cNvPr id="6" name="Freeform 6"/>
                <p:cNvSpPr/>
                <p:nvPr/>
              </p:nvSpPr>
              <p:spPr>
                <a:xfrm>
                  <a:off x="825500" y="2060576"/>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1"/>
                  </a:solidFill>
                </a:ln>
              </p:spPr>
            </p:sp>
            <p:sp>
              <p:nvSpPr>
                <p:cNvPr id="7" name="Freeform 7"/>
                <p:cNvSpPr/>
                <p:nvPr/>
              </p:nvSpPr>
              <p:spPr>
                <a:xfrm>
                  <a:off x="1000125" y="2060576"/>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31750">
                  <a:solidFill>
                    <a:schemeClr val="accent1"/>
                  </a:solidFill>
                </a:ln>
              </p:spPr>
            </p:sp>
            <p:sp>
              <p:nvSpPr>
                <p:cNvPr id="8" name="Freeform 8"/>
                <p:cNvSpPr/>
                <p:nvPr/>
              </p:nvSpPr>
              <p:spPr>
                <a:xfrm>
                  <a:off x="825500" y="1838325"/>
                  <a:ext cx="206375" cy="222250"/>
                </a:xfrm>
                <a:custGeom>
                  <a:avLst/>
                  <a:gdLst/>
                  <a:ahLst/>
                  <a:cxnLst/>
                  <a:rect l="l" t="t" r="r" b="b"/>
                  <a:pathLst>
                    <a:path w="206375" h="222250">
                      <a:moveTo>
                        <a:pt x="206375" y="222250"/>
                      </a:moveTo>
                      <a:lnTo>
                        <a:pt x="31750" y="222250"/>
                      </a:lnTo>
                      <a:lnTo>
                        <a:pt x="31750" y="0"/>
                      </a:lnTo>
                      <a:lnTo>
                        <a:pt x="0" y="0"/>
                      </a:lnTo>
                    </a:path>
                  </a:pathLst>
                </a:custGeom>
                <a:noFill/>
                <a:ln w="31750">
                  <a:solidFill>
                    <a:schemeClr val="accent1"/>
                  </a:solidFill>
                </a:ln>
              </p:spPr>
            </p:sp>
            <p:sp>
              <p:nvSpPr>
                <p:cNvPr id="9" name="Freeform 9"/>
                <p:cNvSpPr/>
                <p:nvPr/>
              </p:nvSpPr>
              <p:spPr>
                <a:xfrm>
                  <a:off x="857250" y="1870075"/>
                  <a:ext cx="222250" cy="127000"/>
                </a:xfrm>
                <a:custGeom>
                  <a:avLst/>
                  <a:gdLst/>
                  <a:ahLst/>
                  <a:cxnLst/>
                  <a:rect l="l" t="t" r="r" b="b"/>
                  <a:pathLst>
                    <a:path w="222250" h="127000">
                      <a:moveTo>
                        <a:pt x="0" y="0"/>
                      </a:moveTo>
                      <a:lnTo>
                        <a:pt x="222250" y="15875"/>
                      </a:lnTo>
                      <a:lnTo>
                        <a:pt x="206375" y="127000"/>
                      </a:lnTo>
                      <a:lnTo>
                        <a:pt x="0" y="127000"/>
                      </a:lnTo>
                    </a:path>
                  </a:pathLst>
                </a:custGeom>
                <a:noFill/>
                <a:ln w="31750">
                  <a:solidFill>
                    <a:schemeClr val="accent1"/>
                  </a:solidFill>
                </a:ln>
              </p:spPr>
            </p:sp>
          </p:grpSp>
          <p:sp>
            <p:nvSpPr>
              <p:cNvPr id="11" name="TextBox 11"/>
              <p:cNvSpPr txBox="1"/>
              <p:nvPr/>
            </p:nvSpPr>
            <p:spPr>
              <a:xfrm>
                <a:off x="1248156" y="1882140"/>
                <a:ext cx="136245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Khách hàng</a:t>
                </a:r>
              </a:p>
            </p:txBody>
          </p:sp>
          <p:sp>
            <p:nvSpPr>
              <p:cNvPr id="12" name="Line 12"/>
              <p:cNvSpPr/>
              <p:nvPr/>
            </p:nvSpPr>
            <p:spPr>
              <a:xfrm>
                <a:off x="762000" y="2324100"/>
                <a:ext cx="2895600" cy="9525"/>
              </a:xfrm>
              <a:custGeom>
                <a:avLst/>
                <a:gdLst/>
                <a:ahLst/>
                <a:cxnLst/>
                <a:rect l="l" t="t" r="r" b="b"/>
                <a:pathLst>
                  <a:path w="2895600" h="9525">
                    <a:moveTo>
                      <a:pt x="0" y="0"/>
                    </a:moveTo>
                    <a:lnTo>
                      <a:pt x="2895600" y="0"/>
                    </a:lnTo>
                  </a:path>
                </a:pathLst>
              </a:custGeom>
              <a:noFill/>
              <a:ln w="9525">
                <a:solidFill>
                  <a:schemeClr val="accent6"/>
                </a:solidFill>
              </a:ln>
            </p:spPr>
          </p:sp>
          <p:grpSp>
            <p:nvGrpSpPr>
              <p:cNvPr id="21" name="Group 21"/>
              <p:cNvGrpSpPr/>
              <p:nvPr/>
            </p:nvGrpSpPr>
            <p:grpSpPr>
              <a:xfrm>
                <a:off x="790575" y="2428875"/>
                <a:ext cx="2627897" cy="1493520"/>
                <a:chOff x="790575" y="2428875"/>
                <a:chExt cx="2627897" cy="1493520"/>
              </a:xfrm>
            </p:grpSpPr>
            <p:sp>
              <p:nvSpPr>
                <p:cNvPr id="13" name="Ellipse 13"/>
                <p:cNvSpPr/>
                <p:nvPr/>
              </p:nvSpPr>
              <p:spPr>
                <a:xfrm>
                  <a:off x="790575" y="2486025"/>
                  <a:ext cx="95250" cy="95250"/>
                </a:xfrm>
                <a:prstGeom prst="ellipse">
                  <a:avLst/>
                </a:prstGeom>
                <a:solidFill>
                  <a:schemeClr val="accent1"/>
                </a:solidFill>
                <a:ln>
                  <a:noFill/>
                </a:ln>
              </p:spPr>
            </p:sp>
            <p:sp>
              <p:nvSpPr>
                <p:cNvPr id="14" name="TextBox 14"/>
                <p:cNvSpPr txBox="1"/>
                <p:nvPr/>
              </p:nvSpPr>
              <p:spPr>
                <a:xfrm>
                  <a:off x="982980" y="2428875"/>
                  <a:ext cx="2375557"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Tìm kiếm, xem sản phẩm</a:t>
                  </a:r>
                </a:p>
              </p:txBody>
            </p:sp>
            <p:sp>
              <p:nvSpPr>
                <p:cNvPr id="15" name="Ellipse 15"/>
                <p:cNvSpPr/>
                <p:nvPr/>
              </p:nvSpPr>
              <p:spPr>
                <a:xfrm>
                  <a:off x="790575" y="2886075"/>
                  <a:ext cx="95250" cy="95250"/>
                </a:xfrm>
                <a:prstGeom prst="ellipse">
                  <a:avLst/>
                </a:prstGeom>
                <a:solidFill>
                  <a:schemeClr val="accent1"/>
                </a:solidFill>
                <a:ln>
                  <a:noFill/>
                </a:ln>
              </p:spPr>
            </p:sp>
            <p:sp>
              <p:nvSpPr>
                <p:cNvPr id="16" name="TextBox 16"/>
                <p:cNvSpPr txBox="1"/>
                <p:nvPr/>
              </p:nvSpPr>
              <p:spPr>
                <a:xfrm>
                  <a:off x="982980" y="2828925"/>
                  <a:ext cx="181968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Giỏ hàng, đặt hàng</a:t>
                  </a:r>
                </a:p>
              </p:txBody>
            </p:sp>
            <p:sp>
              <p:nvSpPr>
                <p:cNvPr id="17" name="Ellipse 17"/>
                <p:cNvSpPr/>
                <p:nvPr/>
              </p:nvSpPr>
              <p:spPr>
                <a:xfrm>
                  <a:off x="790575" y="3286125"/>
                  <a:ext cx="95250" cy="95250"/>
                </a:xfrm>
                <a:prstGeom prst="ellipse">
                  <a:avLst/>
                </a:prstGeom>
                <a:solidFill>
                  <a:schemeClr val="accent1"/>
                </a:solidFill>
                <a:ln>
                  <a:noFill/>
                </a:ln>
              </p:spPr>
            </p:sp>
            <p:sp>
              <p:nvSpPr>
                <p:cNvPr id="18" name="TextBox 18"/>
                <p:cNvSpPr txBox="1"/>
                <p:nvPr/>
              </p:nvSpPr>
              <p:spPr>
                <a:xfrm>
                  <a:off x="982980" y="3228975"/>
                  <a:ext cx="2435492"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Theo dõi đơn, thanh toán</a:t>
                  </a:r>
                </a:p>
              </p:txBody>
            </p:sp>
            <p:sp>
              <p:nvSpPr>
                <p:cNvPr id="19" name="Ellipse 19"/>
                <p:cNvSpPr/>
                <p:nvPr/>
              </p:nvSpPr>
              <p:spPr>
                <a:xfrm>
                  <a:off x="790575" y="3686175"/>
                  <a:ext cx="95250" cy="95250"/>
                </a:xfrm>
                <a:prstGeom prst="ellipse">
                  <a:avLst/>
                </a:prstGeom>
                <a:solidFill>
                  <a:schemeClr val="accent1"/>
                </a:solidFill>
                <a:ln>
                  <a:noFill/>
                </a:ln>
              </p:spPr>
            </p:sp>
            <p:sp>
              <p:nvSpPr>
                <p:cNvPr id="20" name="TextBox 20"/>
                <p:cNvSpPr txBox="1"/>
                <p:nvPr/>
              </p:nvSpPr>
              <p:spPr>
                <a:xfrm>
                  <a:off x="982980" y="3629025"/>
                  <a:ext cx="181968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Đánh giá, nhận xét</a:t>
                  </a:r>
                </a:p>
              </p:txBody>
            </p:sp>
          </p:grpSp>
        </p:grpSp>
        <p:grpSp>
          <p:nvGrpSpPr>
            <p:cNvPr id="41" name="Group 41"/>
            <p:cNvGrpSpPr/>
            <p:nvPr/>
          </p:nvGrpSpPr>
          <p:grpSpPr>
            <a:xfrm>
              <a:off x="4343400" y="1524000"/>
              <a:ext cx="3505200" cy="2819400"/>
              <a:chOff x="4343400" y="1524000"/>
              <a:chExt cx="3505200" cy="2819400"/>
            </a:xfrm>
          </p:grpSpPr>
          <p:sp>
            <p:nvSpPr>
              <p:cNvPr id="23" name="Rectangle 23"/>
              <p:cNvSpPr/>
              <p:nvPr/>
            </p:nvSpPr>
            <p:spPr>
              <a:xfrm>
                <a:off x="4343400" y="1524000"/>
                <a:ext cx="3505200" cy="2819400"/>
              </a:xfrm>
              <a:prstGeom prst="roundRect">
                <a:avLst>
                  <a:gd name="adj" fmla="val 5405"/>
                </a:avLst>
              </a:prstGeom>
              <a:solidFill>
                <a:schemeClr val="lt2"/>
              </a:solidFill>
              <a:ln>
                <a:noFill/>
              </a:ln>
            </p:spPr>
          </p:sp>
          <p:grpSp>
            <p:nvGrpSpPr>
              <p:cNvPr id="29" name="Group 29"/>
              <p:cNvGrpSpPr/>
              <p:nvPr/>
            </p:nvGrpSpPr>
            <p:grpSpPr>
              <a:xfrm>
                <a:off x="4695825" y="1838325"/>
                <a:ext cx="285751" cy="295276"/>
                <a:chOff x="4695825" y="1838325"/>
                <a:chExt cx="285751" cy="295276"/>
              </a:xfrm>
            </p:grpSpPr>
            <p:sp>
              <p:nvSpPr>
                <p:cNvPr id="24" name="Freeform 24"/>
                <p:cNvSpPr/>
                <p:nvPr/>
              </p:nvSpPr>
              <p:spPr>
                <a:xfrm>
                  <a:off x="4695825" y="2124076"/>
                  <a:ext cx="285751" cy="9525"/>
                </a:xfrm>
                <a:custGeom>
                  <a:avLst/>
                  <a:gdLst/>
                  <a:ahLst/>
                  <a:cxnLst/>
                  <a:rect l="l" t="t" r="r" b="b"/>
                  <a:pathLst>
                    <a:path w="285751" h="9525">
                      <a:moveTo>
                        <a:pt x="0" y="0"/>
                      </a:moveTo>
                      <a:lnTo>
                        <a:pt x="285751" y="0"/>
                      </a:lnTo>
                    </a:path>
                  </a:pathLst>
                </a:custGeom>
                <a:noFill/>
                <a:ln w="31750">
                  <a:solidFill>
                    <a:schemeClr val="accent3"/>
                  </a:solidFill>
                </a:ln>
              </p:spPr>
            </p:sp>
            <p:sp>
              <p:nvSpPr>
                <p:cNvPr id="25" name="Freeform 25"/>
                <p:cNvSpPr/>
                <p:nvPr/>
              </p:nvSpPr>
              <p:spPr>
                <a:xfrm>
                  <a:off x="4695825" y="1838325"/>
                  <a:ext cx="285751" cy="127000"/>
                </a:xfrm>
                <a:custGeom>
                  <a:avLst/>
                  <a:gdLst/>
                  <a:ahLst/>
                  <a:cxnLst/>
                  <a:rect l="l" t="t" r="r" b="b"/>
                  <a:pathLst>
                    <a:path w="285751" h="127000">
                      <a:moveTo>
                        <a:pt x="0" y="63500"/>
                      </a:moveTo>
                      <a:lnTo>
                        <a:pt x="0" y="79375"/>
                      </a:lnTo>
                      <a:cubicBezTo>
                        <a:pt x="0" y="105678"/>
                        <a:pt x="21322" y="127000"/>
                        <a:pt x="47625" y="127000"/>
                      </a:cubicBezTo>
                      <a:cubicBezTo>
                        <a:pt x="73928" y="127000"/>
                        <a:pt x="95250" y="105678"/>
                        <a:pt x="95250" y="79375"/>
                      </a:cubicBezTo>
                      <a:lnTo>
                        <a:pt x="95250" y="63500"/>
                      </a:lnTo>
                      <a:moveTo>
                        <a:pt x="95250" y="79375"/>
                      </a:moveTo>
                      <a:cubicBezTo>
                        <a:pt x="95250" y="105678"/>
                        <a:pt x="116573" y="127000"/>
                        <a:pt x="142875" y="127000"/>
                      </a:cubicBezTo>
                      <a:cubicBezTo>
                        <a:pt x="169178" y="127000"/>
                        <a:pt x="190500" y="105678"/>
                        <a:pt x="190500" y="79375"/>
                      </a:cubicBezTo>
                      <a:lnTo>
                        <a:pt x="190500" y="63500"/>
                      </a:lnTo>
                      <a:moveTo>
                        <a:pt x="190500" y="79375"/>
                      </a:moveTo>
                      <a:cubicBezTo>
                        <a:pt x="190500" y="105678"/>
                        <a:pt x="211823" y="127000"/>
                        <a:pt x="238125" y="127000"/>
                      </a:cubicBezTo>
                      <a:cubicBezTo>
                        <a:pt x="264428" y="127000"/>
                        <a:pt x="285751" y="105678"/>
                        <a:pt x="285751" y="79375"/>
                      </a:cubicBezTo>
                      <a:lnTo>
                        <a:pt x="285751" y="63500"/>
                      </a:lnTo>
                      <a:lnTo>
                        <a:pt x="0" y="63500"/>
                      </a:lnTo>
                      <a:lnTo>
                        <a:pt x="31750" y="0"/>
                      </a:lnTo>
                      <a:lnTo>
                        <a:pt x="254001" y="0"/>
                      </a:lnTo>
                      <a:lnTo>
                        <a:pt x="285751" y="63500"/>
                      </a:lnTo>
                    </a:path>
                  </a:pathLst>
                </a:custGeom>
                <a:noFill/>
                <a:ln w="31750">
                  <a:solidFill>
                    <a:schemeClr val="accent3"/>
                  </a:solidFill>
                </a:ln>
              </p:spPr>
            </p:sp>
            <p:sp>
              <p:nvSpPr>
                <p:cNvPr id="26" name="Freeform 26"/>
                <p:cNvSpPr/>
                <p:nvPr/>
              </p:nvSpPr>
              <p:spPr>
                <a:xfrm>
                  <a:off x="4727575" y="1962944"/>
                  <a:ext cx="9525" cy="161132"/>
                </a:xfrm>
                <a:custGeom>
                  <a:avLst/>
                  <a:gdLst/>
                  <a:ahLst/>
                  <a:cxnLst/>
                  <a:rect l="l" t="t" r="r" b="b"/>
                  <a:pathLst>
                    <a:path w="9525" h="161132">
                      <a:moveTo>
                        <a:pt x="0" y="161132"/>
                      </a:moveTo>
                      <a:lnTo>
                        <a:pt x="0" y="0"/>
                      </a:lnTo>
                    </a:path>
                  </a:pathLst>
                </a:custGeom>
                <a:noFill/>
                <a:ln w="31750">
                  <a:solidFill>
                    <a:schemeClr val="accent3"/>
                  </a:solidFill>
                </a:ln>
              </p:spPr>
            </p:sp>
            <p:sp>
              <p:nvSpPr>
                <p:cNvPr id="27" name="Freeform 27"/>
                <p:cNvSpPr/>
                <p:nvPr/>
              </p:nvSpPr>
              <p:spPr>
                <a:xfrm>
                  <a:off x="4949826" y="1962944"/>
                  <a:ext cx="9525" cy="161132"/>
                </a:xfrm>
                <a:custGeom>
                  <a:avLst/>
                  <a:gdLst/>
                  <a:ahLst/>
                  <a:cxnLst/>
                  <a:rect l="l" t="t" r="r" b="b"/>
                  <a:pathLst>
                    <a:path w="9525" h="161132">
                      <a:moveTo>
                        <a:pt x="0" y="161132"/>
                      </a:moveTo>
                      <a:lnTo>
                        <a:pt x="0" y="0"/>
                      </a:lnTo>
                    </a:path>
                  </a:pathLst>
                </a:custGeom>
                <a:noFill/>
                <a:ln w="31750">
                  <a:solidFill>
                    <a:schemeClr val="accent3"/>
                  </a:solidFill>
                </a:ln>
              </p:spPr>
            </p:sp>
            <p:sp>
              <p:nvSpPr>
                <p:cNvPr id="28" name="Freeform 28"/>
                <p:cNvSpPr/>
                <p:nvPr/>
              </p:nvSpPr>
              <p:spPr>
                <a:xfrm>
                  <a:off x="4791075" y="2028825"/>
                  <a:ext cx="95250" cy="95250"/>
                </a:xfrm>
                <a:custGeom>
                  <a:avLst/>
                  <a:gdLst/>
                  <a:ahLst/>
                  <a:cxnLst/>
                  <a:rect l="l" t="t" r="r" b="b"/>
                  <a:pathLst>
                    <a:path w="95250" h="95250">
                      <a:moveTo>
                        <a:pt x="0" y="95250"/>
                      </a:moveTo>
                      <a:lnTo>
                        <a:pt x="0" y="31750"/>
                      </a:lnTo>
                      <a:cubicBezTo>
                        <a:pt x="0" y="14215"/>
                        <a:pt x="14215" y="0"/>
                        <a:pt x="31750" y="0"/>
                      </a:cubicBezTo>
                      <a:lnTo>
                        <a:pt x="63500" y="0"/>
                      </a:lnTo>
                      <a:cubicBezTo>
                        <a:pt x="81035" y="0"/>
                        <a:pt x="95250" y="14215"/>
                        <a:pt x="95250" y="31750"/>
                      </a:cubicBezTo>
                      <a:lnTo>
                        <a:pt x="95250" y="95250"/>
                      </a:lnTo>
                    </a:path>
                  </a:pathLst>
                </a:custGeom>
                <a:noFill/>
                <a:ln w="31750">
                  <a:solidFill>
                    <a:schemeClr val="accent3"/>
                  </a:solidFill>
                </a:ln>
              </p:spPr>
            </p:sp>
          </p:grpSp>
          <p:sp>
            <p:nvSpPr>
              <p:cNvPr id="30" name="TextBox 30"/>
              <p:cNvSpPr txBox="1"/>
              <p:nvPr/>
            </p:nvSpPr>
            <p:spPr>
              <a:xfrm>
                <a:off x="5134356" y="1882140"/>
                <a:ext cx="1158521"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Người bán</a:t>
                </a:r>
              </a:p>
            </p:txBody>
          </p:sp>
          <p:sp>
            <p:nvSpPr>
              <p:cNvPr id="31" name="Line 31"/>
              <p:cNvSpPr/>
              <p:nvPr/>
            </p:nvSpPr>
            <p:spPr>
              <a:xfrm>
                <a:off x="4648200" y="2324100"/>
                <a:ext cx="2895600" cy="9525"/>
              </a:xfrm>
              <a:custGeom>
                <a:avLst/>
                <a:gdLst/>
                <a:ahLst/>
                <a:cxnLst/>
                <a:rect l="l" t="t" r="r" b="b"/>
                <a:pathLst>
                  <a:path w="2895600" h="9525">
                    <a:moveTo>
                      <a:pt x="0" y="0"/>
                    </a:moveTo>
                    <a:lnTo>
                      <a:pt x="2895600" y="0"/>
                    </a:lnTo>
                  </a:path>
                </a:pathLst>
              </a:custGeom>
              <a:noFill/>
              <a:ln w="9525">
                <a:solidFill>
                  <a:schemeClr val="accent6"/>
                </a:solidFill>
              </a:ln>
            </p:spPr>
          </p:sp>
          <p:grpSp>
            <p:nvGrpSpPr>
              <p:cNvPr id="40" name="Group 40"/>
              <p:cNvGrpSpPr/>
              <p:nvPr/>
            </p:nvGrpSpPr>
            <p:grpSpPr>
              <a:xfrm>
                <a:off x="4676775" y="2428875"/>
                <a:ext cx="2941048" cy="1493520"/>
                <a:chOff x="4676775" y="2428875"/>
                <a:chExt cx="2941048" cy="1493520"/>
              </a:xfrm>
            </p:grpSpPr>
            <p:sp>
              <p:nvSpPr>
                <p:cNvPr id="32" name="Ellipse 32"/>
                <p:cNvSpPr/>
                <p:nvPr/>
              </p:nvSpPr>
              <p:spPr>
                <a:xfrm>
                  <a:off x="4676775" y="2486025"/>
                  <a:ext cx="95250" cy="95250"/>
                </a:xfrm>
                <a:prstGeom prst="ellipse">
                  <a:avLst/>
                </a:prstGeom>
                <a:solidFill>
                  <a:schemeClr val="accent3"/>
                </a:solidFill>
                <a:ln>
                  <a:noFill/>
                </a:ln>
              </p:spPr>
            </p:sp>
            <p:sp>
              <p:nvSpPr>
                <p:cNvPr id="33" name="TextBox 33"/>
                <p:cNvSpPr txBox="1"/>
                <p:nvPr/>
              </p:nvSpPr>
              <p:spPr>
                <a:xfrm>
                  <a:off x="4869180" y="2428875"/>
                  <a:ext cx="274864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Quản lý gian hàng, sản phẩm</a:t>
                  </a:r>
                </a:p>
              </p:txBody>
            </p:sp>
            <p:sp>
              <p:nvSpPr>
                <p:cNvPr id="34" name="Ellipse 34"/>
                <p:cNvSpPr/>
                <p:nvPr/>
              </p:nvSpPr>
              <p:spPr>
                <a:xfrm>
                  <a:off x="4676775" y="2886075"/>
                  <a:ext cx="95250" cy="95250"/>
                </a:xfrm>
                <a:prstGeom prst="ellipse">
                  <a:avLst/>
                </a:prstGeom>
                <a:solidFill>
                  <a:schemeClr val="accent3"/>
                </a:solidFill>
                <a:ln>
                  <a:noFill/>
                </a:ln>
              </p:spPr>
            </p:sp>
            <p:sp>
              <p:nvSpPr>
                <p:cNvPr id="35" name="TextBox 35"/>
                <p:cNvSpPr txBox="1"/>
                <p:nvPr/>
              </p:nvSpPr>
              <p:spPr>
                <a:xfrm>
                  <a:off x="4869180" y="2828925"/>
                  <a:ext cx="137513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Xử lý đơn hàng</a:t>
                  </a:r>
                </a:p>
              </p:txBody>
            </p:sp>
            <p:sp>
              <p:nvSpPr>
                <p:cNvPr id="36" name="Ellipse 36"/>
                <p:cNvSpPr/>
                <p:nvPr/>
              </p:nvSpPr>
              <p:spPr>
                <a:xfrm>
                  <a:off x="4676775" y="3286125"/>
                  <a:ext cx="95250" cy="95250"/>
                </a:xfrm>
                <a:prstGeom prst="ellipse">
                  <a:avLst/>
                </a:prstGeom>
                <a:solidFill>
                  <a:schemeClr val="accent3"/>
                </a:solidFill>
                <a:ln>
                  <a:noFill/>
                </a:ln>
              </p:spPr>
            </p:sp>
            <p:sp>
              <p:nvSpPr>
                <p:cNvPr id="37" name="TextBox 37"/>
                <p:cNvSpPr txBox="1"/>
                <p:nvPr/>
              </p:nvSpPr>
              <p:spPr>
                <a:xfrm>
                  <a:off x="4869180" y="3228975"/>
                  <a:ext cx="2375122"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Tồn kho, doanh thu shop</a:t>
                  </a:r>
                </a:p>
              </p:txBody>
            </p:sp>
            <p:sp>
              <p:nvSpPr>
                <p:cNvPr id="38" name="Ellipse 38"/>
                <p:cNvSpPr/>
                <p:nvPr/>
              </p:nvSpPr>
              <p:spPr>
                <a:xfrm>
                  <a:off x="4676775" y="3686175"/>
                  <a:ext cx="95250" cy="95250"/>
                </a:xfrm>
                <a:prstGeom prst="ellipse">
                  <a:avLst/>
                </a:prstGeom>
                <a:solidFill>
                  <a:schemeClr val="accent3"/>
                </a:solidFill>
                <a:ln>
                  <a:noFill/>
                </a:ln>
              </p:spPr>
            </p:sp>
            <p:sp>
              <p:nvSpPr>
                <p:cNvPr id="39" name="TextBox 39"/>
                <p:cNvSpPr txBox="1"/>
                <p:nvPr/>
              </p:nvSpPr>
              <p:spPr>
                <a:xfrm>
                  <a:off x="4869180" y="3629025"/>
                  <a:ext cx="2006346"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KYC, hồ sơ người bán</a:t>
                  </a:r>
                </a:p>
              </p:txBody>
            </p:sp>
          </p:grpSp>
        </p:grpSp>
        <p:grpSp>
          <p:nvGrpSpPr>
            <p:cNvPr id="57" name="Group 57"/>
            <p:cNvGrpSpPr/>
            <p:nvPr/>
          </p:nvGrpSpPr>
          <p:grpSpPr>
            <a:xfrm>
              <a:off x="8229600" y="1524000"/>
              <a:ext cx="3505200" cy="2819400"/>
              <a:chOff x="8229600" y="1524000"/>
              <a:chExt cx="3505200" cy="2819400"/>
            </a:xfrm>
          </p:grpSpPr>
          <p:sp>
            <p:nvSpPr>
              <p:cNvPr id="42" name="Rectangle 42"/>
              <p:cNvSpPr/>
              <p:nvPr/>
            </p:nvSpPr>
            <p:spPr>
              <a:xfrm>
                <a:off x="8229600" y="1524000"/>
                <a:ext cx="3505200" cy="2819400"/>
              </a:xfrm>
              <a:prstGeom prst="roundRect">
                <a:avLst>
                  <a:gd name="adj" fmla="val 5405"/>
                </a:avLst>
              </a:prstGeom>
              <a:solidFill>
                <a:schemeClr val="lt2"/>
              </a:solidFill>
              <a:ln>
                <a:noFill/>
              </a:ln>
            </p:spPr>
          </p:sp>
          <p:grpSp>
            <p:nvGrpSpPr>
              <p:cNvPr id="45" name="Group 45"/>
              <p:cNvGrpSpPr/>
              <p:nvPr/>
            </p:nvGrpSpPr>
            <p:grpSpPr>
              <a:xfrm>
                <a:off x="8560601" y="1838325"/>
                <a:ext cx="310011" cy="285751"/>
                <a:chOff x="8560601" y="1838325"/>
                <a:chExt cx="310011" cy="285751"/>
              </a:xfrm>
            </p:grpSpPr>
            <p:sp>
              <p:nvSpPr>
                <p:cNvPr id="43" name="Freeform 43"/>
                <p:cNvSpPr/>
                <p:nvPr/>
              </p:nvSpPr>
              <p:spPr>
                <a:xfrm>
                  <a:off x="8560601" y="1838325"/>
                  <a:ext cx="310011" cy="283306"/>
                </a:xfrm>
                <a:custGeom>
                  <a:avLst/>
                  <a:gdLst/>
                  <a:ahLst/>
                  <a:cxnLst/>
                  <a:rect l="l" t="t" r="r" b="b"/>
                  <a:pathLst>
                    <a:path w="310011" h="283306">
                      <a:moveTo>
                        <a:pt x="155727" y="283306"/>
                      </a:moveTo>
                      <a:cubicBezTo>
                        <a:pt x="56277" y="252479"/>
                        <a:pt x="0" y="147517"/>
                        <a:pt x="29362" y="47625"/>
                      </a:cubicBezTo>
                      <a:cubicBezTo>
                        <a:pt x="78821" y="49888"/>
                        <a:pt x="127218" y="32807"/>
                        <a:pt x="164299" y="0"/>
                      </a:cubicBezTo>
                      <a:cubicBezTo>
                        <a:pt x="201381" y="32807"/>
                        <a:pt x="249778" y="49888"/>
                        <a:pt x="299237" y="47625"/>
                      </a:cubicBezTo>
                      <a:cubicBezTo>
                        <a:pt x="310011" y="84282"/>
                        <a:pt x="309513" y="123332"/>
                        <a:pt x="297808" y="159703"/>
                      </a:cubicBezTo>
                    </a:path>
                  </a:pathLst>
                </a:custGeom>
                <a:noFill/>
                <a:ln w="31750">
                  <a:solidFill>
                    <a:srgbClr val="EA4335"/>
                  </a:solidFill>
                </a:ln>
              </p:spPr>
            </p:sp>
            <p:sp>
              <p:nvSpPr>
                <p:cNvPr id="44" name="Freeform 44"/>
                <p:cNvSpPr/>
                <p:nvPr/>
              </p:nvSpPr>
              <p:spPr>
                <a:xfrm>
                  <a:off x="8772525" y="2060576"/>
                  <a:ext cx="95250" cy="63500"/>
                </a:xfrm>
                <a:custGeom>
                  <a:avLst/>
                  <a:gdLst/>
                  <a:ahLst/>
                  <a:cxnLst/>
                  <a:rect l="l" t="t" r="r" b="b"/>
                  <a:pathLst>
                    <a:path w="95250" h="63500">
                      <a:moveTo>
                        <a:pt x="0" y="31750"/>
                      </a:moveTo>
                      <a:lnTo>
                        <a:pt x="31750" y="63500"/>
                      </a:lnTo>
                      <a:lnTo>
                        <a:pt x="95250" y="0"/>
                      </a:lnTo>
                    </a:path>
                  </a:pathLst>
                </a:custGeom>
                <a:noFill/>
                <a:ln w="31750">
                  <a:solidFill>
                    <a:srgbClr val="EA4335"/>
                  </a:solidFill>
                </a:ln>
              </p:spPr>
            </p:sp>
          </p:grpSp>
          <p:sp>
            <p:nvSpPr>
              <p:cNvPr id="46" name="TextBox 46"/>
              <p:cNvSpPr txBox="1"/>
              <p:nvPr/>
            </p:nvSpPr>
            <p:spPr>
              <a:xfrm>
                <a:off x="9020556" y="1882140"/>
                <a:ext cx="1706179"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Quản trị viên</a:t>
                </a:r>
              </a:p>
            </p:txBody>
          </p:sp>
          <p:sp>
            <p:nvSpPr>
              <p:cNvPr id="47" name="Line 47"/>
              <p:cNvSpPr/>
              <p:nvPr/>
            </p:nvSpPr>
            <p:spPr>
              <a:xfrm>
                <a:off x="8534400" y="2324100"/>
                <a:ext cx="2895600" cy="9525"/>
              </a:xfrm>
              <a:custGeom>
                <a:avLst/>
                <a:gdLst/>
                <a:ahLst/>
                <a:cxnLst/>
                <a:rect l="l" t="t" r="r" b="b"/>
                <a:pathLst>
                  <a:path w="2895600" h="9525">
                    <a:moveTo>
                      <a:pt x="0" y="0"/>
                    </a:moveTo>
                    <a:lnTo>
                      <a:pt x="2895600" y="0"/>
                    </a:lnTo>
                  </a:path>
                </a:pathLst>
              </a:custGeom>
              <a:noFill/>
              <a:ln w="9525">
                <a:solidFill>
                  <a:schemeClr val="accent6"/>
                </a:solidFill>
              </a:ln>
            </p:spPr>
          </p:sp>
          <p:grpSp>
            <p:nvGrpSpPr>
              <p:cNvPr id="56" name="Group 56"/>
              <p:cNvGrpSpPr/>
              <p:nvPr/>
            </p:nvGrpSpPr>
            <p:grpSpPr>
              <a:xfrm>
                <a:off x="8562975" y="2428875"/>
                <a:ext cx="2618169" cy="1493520"/>
                <a:chOff x="8562975" y="2428875"/>
                <a:chExt cx="2618169" cy="1493520"/>
              </a:xfrm>
            </p:grpSpPr>
            <p:sp>
              <p:nvSpPr>
                <p:cNvPr id="48" name="Ellipse 48"/>
                <p:cNvSpPr/>
                <p:nvPr/>
              </p:nvSpPr>
              <p:spPr>
                <a:xfrm>
                  <a:off x="8562975" y="2486025"/>
                  <a:ext cx="95250" cy="95250"/>
                </a:xfrm>
                <a:prstGeom prst="ellipse">
                  <a:avLst/>
                </a:prstGeom>
                <a:solidFill>
                  <a:srgbClr val="EA4335"/>
                </a:solidFill>
                <a:ln>
                  <a:noFill/>
                </a:ln>
              </p:spPr>
            </p:sp>
            <p:sp>
              <p:nvSpPr>
                <p:cNvPr id="49" name="TextBox 49"/>
                <p:cNvSpPr txBox="1"/>
                <p:nvPr/>
              </p:nvSpPr>
              <p:spPr>
                <a:xfrm>
                  <a:off x="8755380" y="2428875"/>
                  <a:ext cx="217574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Duyệt người bán (KYC)</a:t>
                  </a:r>
                </a:p>
              </p:txBody>
            </p:sp>
            <p:sp>
              <p:nvSpPr>
                <p:cNvPr id="50" name="Ellipse 50"/>
                <p:cNvSpPr/>
                <p:nvPr/>
              </p:nvSpPr>
              <p:spPr>
                <a:xfrm>
                  <a:off x="8562975" y="2886075"/>
                  <a:ext cx="95250" cy="95250"/>
                </a:xfrm>
                <a:prstGeom prst="ellipse">
                  <a:avLst/>
                </a:prstGeom>
                <a:solidFill>
                  <a:srgbClr val="EA4335"/>
                </a:solidFill>
                <a:ln>
                  <a:noFill/>
                </a:ln>
              </p:spPr>
            </p:sp>
            <p:sp>
              <p:nvSpPr>
                <p:cNvPr id="51" name="TextBox 51"/>
                <p:cNvSpPr txBox="1"/>
                <p:nvPr/>
              </p:nvSpPr>
              <p:spPr>
                <a:xfrm>
                  <a:off x="8755380" y="2828925"/>
                  <a:ext cx="2011287"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Kiểm duyệt sản phẩm</a:t>
                  </a:r>
                </a:p>
              </p:txBody>
            </p:sp>
            <p:sp>
              <p:nvSpPr>
                <p:cNvPr id="52" name="Ellipse 52"/>
                <p:cNvSpPr/>
                <p:nvPr/>
              </p:nvSpPr>
              <p:spPr>
                <a:xfrm>
                  <a:off x="8562975" y="3286125"/>
                  <a:ext cx="95250" cy="95250"/>
                </a:xfrm>
                <a:prstGeom prst="ellipse">
                  <a:avLst/>
                </a:prstGeom>
                <a:solidFill>
                  <a:srgbClr val="EA4335"/>
                </a:solidFill>
                <a:ln>
                  <a:noFill/>
                </a:ln>
              </p:spPr>
            </p:sp>
            <p:sp>
              <p:nvSpPr>
                <p:cNvPr id="53" name="TextBox 53"/>
                <p:cNvSpPr txBox="1"/>
                <p:nvPr/>
              </p:nvSpPr>
              <p:spPr>
                <a:xfrm>
                  <a:off x="8755380" y="3228975"/>
                  <a:ext cx="1971218"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Quản lý user, quyền</a:t>
                  </a:r>
                </a:p>
              </p:txBody>
            </p:sp>
            <p:sp>
              <p:nvSpPr>
                <p:cNvPr id="54" name="Ellipse 54"/>
                <p:cNvSpPr/>
                <p:nvPr/>
              </p:nvSpPr>
              <p:spPr>
                <a:xfrm>
                  <a:off x="8562975" y="3686175"/>
                  <a:ext cx="95250" cy="95250"/>
                </a:xfrm>
                <a:prstGeom prst="ellipse">
                  <a:avLst/>
                </a:prstGeom>
                <a:solidFill>
                  <a:srgbClr val="EA4335"/>
                </a:solidFill>
                <a:ln>
                  <a:noFill/>
                </a:ln>
              </p:spPr>
            </p:sp>
            <p:sp>
              <p:nvSpPr>
                <p:cNvPr id="55" name="TextBox 55"/>
                <p:cNvSpPr txBox="1"/>
                <p:nvPr/>
              </p:nvSpPr>
              <p:spPr>
                <a:xfrm>
                  <a:off x="8755380" y="3629025"/>
                  <a:ext cx="2425764"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Giám sát, báo cáo, audit</a:t>
                  </a:r>
                </a:p>
              </p:txBody>
            </p:sp>
          </p:grpSp>
        </p:grpSp>
      </p:grpSp>
      <p:grpSp>
        <p:nvGrpSpPr>
          <p:cNvPr id="80" name="Group 80"/>
          <p:cNvGrpSpPr/>
          <p:nvPr/>
        </p:nvGrpSpPr>
        <p:grpSpPr>
          <a:xfrm>
            <a:off x="450342" y="4464368"/>
            <a:ext cx="11055858" cy="1330833"/>
            <a:chOff x="450342" y="4464368"/>
            <a:chExt cx="11055858" cy="1330833"/>
          </a:xfrm>
        </p:grpSpPr>
        <p:sp>
          <p:nvSpPr>
            <p:cNvPr id="59" name="TextBox 59"/>
            <p:cNvSpPr txBox="1"/>
            <p:nvPr/>
          </p:nvSpPr>
          <p:spPr>
            <a:xfrm>
              <a:off x="450342" y="4464368"/>
              <a:ext cx="1876349"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HÀNH TRÌNH ĐƠN HÀNG</a:t>
              </a:r>
            </a:p>
          </p:txBody>
        </p:sp>
        <p:grpSp>
          <p:nvGrpSpPr>
            <p:cNvPr id="63" name="Group 63"/>
            <p:cNvGrpSpPr/>
            <p:nvPr/>
          </p:nvGrpSpPr>
          <p:grpSpPr>
            <a:xfrm>
              <a:off x="457200" y="4724400"/>
              <a:ext cx="2590800" cy="685800"/>
              <a:chOff x="457200" y="4724400"/>
              <a:chExt cx="2590800" cy="685800"/>
            </a:xfrm>
          </p:grpSpPr>
          <p:sp>
            <p:nvSpPr>
              <p:cNvPr id="60" name="Rectangle 60"/>
              <p:cNvSpPr/>
              <p:nvPr/>
            </p:nvSpPr>
            <p:spPr>
              <a:xfrm>
                <a:off x="457200" y="4724400"/>
                <a:ext cx="2590800" cy="685800"/>
              </a:xfrm>
              <a:prstGeom prst="roundRect">
                <a:avLst>
                  <a:gd name="adj" fmla="val 22222"/>
                </a:avLst>
              </a:prstGeom>
              <a:solidFill>
                <a:schemeClr val="accent1">
                  <a:alpha val="10000"/>
                </a:schemeClr>
              </a:solidFill>
              <a:ln>
                <a:noFill/>
              </a:ln>
            </p:spPr>
          </p:sp>
          <p:sp>
            <p:nvSpPr>
              <p:cNvPr id="61" name="TextBox 61"/>
              <p:cNvSpPr txBox="1"/>
              <p:nvPr/>
            </p:nvSpPr>
            <p:spPr>
              <a:xfrm>
                <a:off x="1321011" y="4851082"/>
                <a:ext cx="863178"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Pending</a:t>
                </a:r>
              </a:p>
            </p:txBody>
          </p:sp>
          <p:sp>
            <p:nvSpPr>
              <p:cNvPr id="62" name="TextBox 62"/>
              <p:cNvSpPr txBox="1"/>
              <p:nvPr/>
            </p:nvSpPr>
            <p:spPr>
              <a:xfrm>
                <a:off x="1188307" y="5131118"/>
                <a:ext cx="1128587"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Chờ xác nhận</a:t>
                </a:r>
              </a:p>
            </p:txBody>
          </p:sp>
        </p:grpSp>
        <p:grpSp>
          <p:nvGrpSpPr>
            <p:cNvPr id="67" name="Group 67"/>
            <p:cNvGrpSpPr/>
            <p:nvPr/>
          </p:nvGrpSpPr>
          <p:grpSpPr>
            <a:xfrm>
              <a:off x="3276600" y="4724400"/>
              <a:ext cx="2590800" cy="685800"/>
              <a:chOff x="3276600" y="4724400"/>
              <a:chExt cx="2590800" cy="685800"/>
            </a:xfrm>
          </p:grpSpPr>
          <p:sp>
            <p:nvSpPr>
              <p:cNvPr id="64" name="Rectangle 64"/>
              <p:cNvSpPr/>
              <p:nvPr/>
            </p:nvSpPr>
            <p:spPr>
              <a:xfrm>
                <a:off x="3276600" y="4724400"/>
                <a:ext cx="2590800" cy="685800"/>
              </a:xfrm>
              <a:prstGeom prst="roundRect">
                <a:avLst>
                  <a:gd name="adj" fmla="val 22222"/>
                </a:avLst>
              </a:prstGeom>
              <a:solidFill>
                <a:schemeClr val="accent1">
                  <a:alpha val="10000"/>
                </a:schemeClr>
              </a:solidFill>
              <a:ln>
                <a:noFill/>
              </a:ln>
            </p:spPr>
          </p:sp>
          <p:sp>
            <p:nvSpPr>
              <p:cNvPr id="65" name="TextBox 65"/>
              <p:cNvSpPr txBox="1"/>
              <p:nvPr/>
            </p:nvSpPr>
            <p:spPr>
              <a:xfrm>
                <a:off x="3947926" y="4851082"/>
                <a:ext cx="1248148"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Processing</a:t>
                </a:r>
              </a:p>
            </p:txBody>
          </p:sp>
          <p:sp>
            <p:nvSpPr>
              <p:cNvPr id="66" name="TextBox 66"/>
              <p:cNvSpPr txBox="1"/>
              <p:nvPr/>
            </p:nvSpPr>
            <p:spPr>
              <a:xfrm>
                <a:off x="4130463" y="5131118"/>
                <a:ext cx="883075"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Đang xử lý</a:t>
                </a:r>
              </a:p>
            </p:txBody>
          </p:sp>
        </p:grpSp>
        <p:grpSp>
          <p:nvGrpSpPr>
            <p:cNvPr id="71" name="Group 71"/>
            <p:cNvGrpSpPr/>
            <p:nvPr/>
          </p:nvGrpSpPr>
          <p:grpSpPr>
            <a:xfrm>
              <a:off x="6096000" y="4724400"/>
              <a:ext cx="2590800" cy="685800"/>
              <a:chOff x="6096000" y="4724400"/>
              <a:chExt cx="2590800" cy="685800"/>
            </a:xfrm>
          </p:grpSpPr>
          <p:sp>
            <p:nvSpPr>
              <p:cNvPr id="68" name="Rectangle 68"/>
              <p:cNvSpPr/>
              <p:nvPr/>
            </p:nvSpPr>
            <p:spPr>
              <a:xfrm>
                <a:off x="6096000" y="4724400"/>
                <a:ext cx="2590800" cy="685800"/>
              </a:xfrm>
              <a:prstGeom prst="roundRect">
                <a:avLst>
                  <a:gd name="adj" fmla="val 22222"/>
                </a:avLst>
              </a:prstGeom>
              <a:solidFill>
                <a:schemeClr val="accent1">
                  <a:alpha val="10000"/>
                </a:schemeClr>
              </a:solidFill>
              <a:ln>
                <a:noFill/>
              </a:ln>
            </p:spPr>
          </p:sp>
          <p:sp>
            <p:nvSpPr>
              <p:cNvPr id="69" name="TextBox 69"/>
              <p:cNvSpPr txBox="1"/>
              <p:nvPr/>
            </p:nvSpPr>
            <p:spPr>
              <a:xfrm>
                <a:off x="6959811" y="4851082"/>
                <a:ext cx="863178"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Shipped</a:t>
                </a:r>
              </a:p>
            </p:txBody>
          </p:sp>
          <p:sp>
            <p:nvSpPr>
              <p:cNvPr id="70" name="TextBox 70"/>
              <p:cNvSpPr txBox="1"/>
              <p:nvPr/>
            </p:nvSpPr>
            <p:spPr>
              <a:xfrm>
                <a:off x="6977316" y="5131118"/>
                <a:ext cx="828168"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Đang giao</a:t>
                </a:r>
              </a:p>
            </p:txBody>
          </p:sp>
        </p:grpSp>
        <p:grpSp>
          <p:nvGrpSpPr>
            <p:cNvPr id="75" name="Group 75"/>
            <p:cNvGrpSpPr/>
            <p:nvPr/>
          </p:nvGrpSpPr>
          <p:grpSpPr>
            <a:xfrm>
              <a:off x="8915400" y="4724400"/>
              <a:ext cx="2590800" cy="685800"/>
              <a:chOff x="8915400" y="4724400"/>
              <a:chExt cx="2590800" cy="685800"/>
            </a:xfrm>
          </p:grpSpPr>
          <p:sp>
            <p:nvSpPr>
              <p:cNvPr id="72" name="Rectangle 72"/>
              <p:cNvSpPr/>
              <p:nvPr/>
            </p:nvSpPr>
            <p:spPr>
              <a:xfrm>
                <a:off x="8915400" y="4724400"/>
                <a:ext cx="2590800" cy="685800"/>
              </a:xfrm>
              <a:prstGeom prst="roundRect">
                <a:avLst>
                  <a:gd name="adj" fmla="val 22222"/>
                </a:avLst>
              </a:prstGeom>
              <a:solidFill>
                <a:schemeClr val="accent3">
                  <a:alpha val="12000"/>
                </a:schemeClr>
              </a:solidFill>
              <a:ln>
                <a:noFill/>
              </a:ln>
            </p:spPr>
          </p:sp>
          <p:sp>
            <p:nvSpPr>
              <p:cNvPr id="73" name="TextBox 73"/>
              <p:cNvSpPr txBox="1"/>
              <p:nvPr/>
            </p:nvSpPr>
            <p:spPr>
              <a:xfrm>
                <a:off x="9680219" y="4851082"/>
                <a:ext cx="1061161" cy="322707"/>
              </a:xfrm>
              <a:prstGeom prst="rect">
                <a:avLst/>
              </a:prstGeom>
              <a:noFill/>
              <a:ln>
                <a:noFill/>
              </a:ln>
            </p:spPr>
            <p:txBody>
              <a:bodyPr wrap="none" lIns="0" tIns="0" rIns="0" bIns="0" anchor="t" anchorCtr="0">
                <a:spAutoFit/>
              </a:bodyPr>
              <a:lstStyle/>
              <a:p>
                <a:pPr algn="ctr"/>
                <a:r>
                  <a:rPr lang="vi-VN" sz="1650" b="1" dirty="0">
                    <a:solidFill>
                      <a:schemeClr val="dk1"/>
                    </a:solidFill>
                    <a:latin typeface="+mn-lt"/>
                    <a:ea typeface="+mn-ea"/>
                    <a:cs typeface="+mn-cs"/>
                  </a:rPr>
                  <a:t>Delivered</a:t>
                </a:r>
              </a:p>
            </p:txBody>
          </p:sp>
          <p:sp>
            <p:nvSpPr>
              <p:cNvPr id="74" name="TextBox 74"/>
              <p:cNvSpPr txBox="1"/>
              <p:nvPr/>
            </p:nvSpPr>
            <p:spPr>
              <a:xfrm>
                <a:off x="9896661" y="5131118"/>
                <a:ext cx="628279"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Đã giao</a:t>
                </a:r>
              </a:p>
            </p:txBody>
          </p:sp>
        </p:grpSp>
        <p:sp>
          <p:nvSpPr>
            <p:cNvPr id="76" name="Line 76"/>
            <p:cNvSpPr/>
            <p:nvPr/>
          </p:nvSpPr>
          <p:spPr>
            <a:xfrm>
              <a:off x="3048000" y="5067300"/>
              <a:ext cx="190500" cy="1"/>
            </a:xfrm>
            <a:prstGeom prst="line">
              <a:avLst/>
            </a:prstGeom>
            <a:noFill/>
            <a:ln w="28575">
              <a:solidFill>
                <a:schemeClr val="accent1"/>
              </a:solidFill>
              <a:tailEnd type="triangle" w="lg" len="lg"/>
            </a:ln>
          </p:spPr>
        </p:sp>
        <p:sp>
          <p:nvSpPr>
            <p:cNvPr id="77" name="Line 77"/>
            <p:cNvSpPr/>
            <p:nvPr/>
          </p:nvSpPr>
          <p:spPr>
            <a:xfrm>
              <a:off x="5867400" y="5067300"/>
              <a:ext cx="190500" cy="1"/>
            </a:xfrm>
            <a:prstGeom prst="line">
              <a:avLst/>
            </a:prstGeom>
            <a:noFill/>
            <a:ln w="28575">
              <a:solidFill>
                <a:schemeClr val="accent1"/>
              </a:solidFill>
              <a:tailEnd type="triangle" w="lg" len="lg"/>
            </a:ln>
          </p:spPr>
        </p:sp>
        <p:sp>
          <p:nvSpPr>
            <p:cNvPr id="78" name="Line 78"/>
            <p:cNvSpPr/>
            <p:nvPr/>
          </p:nvSpPr>
          <p:spPr>
            <a:xfrm>
              <a:off x="8686800" y="5067300"/>
              <a:ext cx="190500" cy="1"/>
            </a:xfrm>
            <a:prstGeom prst="line">
              <a:avLst/>
            </a:prstGeom>
            <a:noFill/>
            <a:ln w="28575">
              <a:solidFill>
                <a:schemeClr val="accent1"/>
              </a:solidFill>
              <a:tailEnd type="triangle" w="lg" len="lg"/>
            </a:ln>
          </p:spPr>
        </p:sp>
        <p:sp>
          <p:nvSpPr>
            <p:cNvPr id="79" name="TextBox 79"/>
            <p:cNvSpPr txBox="1"/>
            <p:nvPr/>
          </p:nvSpPr>
          <p:spPr>
            <a:xfrm>
              <a:off x="450342" y="5531168"/>
              <a:ext cx="5535938" cy="264033"/>
            </a:xfrm>
            <a:prstGeom prst="rect">
              <a:avLst/>
            </a:prstGeom>
            <a:noFill/>
            <a:ln>
              <a:noFill/>
            </a:ln>
          </p:spPr>
          <p:txBody>
            <a:bodyPr wrap="none" lIns="0" tIns="0" rIns="0" bIns="0" anchor="t" anchorCtr="0">
              <a:spAutoFit/>
            </a:bodyPr>
            <a:lstStyle/>
            <a:p>
              <a:pPr algn="l"/>
              <a:r>
                <a:rPr lang="vi-VN" sz="1350" dirty="0">
                  <a:solidFill>
                    <a:srgbClr val="EA4335"/>
                  </a:solidFill>
                  <a:latin typeface="+mn-lt"/>
                  <a:ea typeface="+mn-ea"/>
                  <a:cs typeface="+mn-cs"/>
                </a:rPr>
                <a:t>Hủy / hoàn tiền là nhánh ngoại lệ — không nằm trong luồng chính</a:t>
              </a:r>
            </a:p>
          </p:txBody>
        </p:sp>
      </p:grpSp>
      <p:grpSp>
        <p:nvGrpSpPr>
          <p:cNvPr id="84" name="Group 84"/>
          <p:cNvGrpSpPr/>
          <p:nvPr/>
        </p:nvGrpSpPr>
        <p:grpSpPr>
          <a:xfrm>
            <a:off x="450342" y="6416992"/>
            <a:ext cx="11291316" cy="264033"/>
            <a:chOff x="450342" y="6416992"/>
            <a:chExt cx="11291316" cy="264033"/>
          </a:xfrm>
        </p:grpSpPr>
        <p:sp>
          <p:nvSpPr>
            <p:cNvPr id="81" name="TextBox 81"/>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82" name="TextBox 82"/>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83" name="TextBox 83"/>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05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597218"/>
            <a:ext cx="7884345" cy="898017"/>
            <a:chOff x="441198" y="597218"/>
            <a:chExt cx="7884345" cy="898017"/>
          </a:xfrm>
        </p:grpSpPr>
        <p:sp>
          <p:nvSpPr>
            <p:cNvPr id="2" name="TextBox 2"/>
            <p:cNvSpPr txBox="1"/>
            <p:nvPr/>
          </p:nvSpPr>
          <p:spPr>
            <a:xfrm>
              <a:off x="450342" y="597218"/>
              <a:ext cx="263484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TRD · KIẾN TRÚC VÀ CÔNG NGHỆ</a:t>
              </a:r>
            </a:p>
          </p:txBody>
        </p:sp>
        <p:sp>
          <p:nvSpPr>
            <p:cNvPr id="3" name="TextBox 3"/>
            <p:cNvSpPr txBox="1"/>
            <p:nvPr/>
          </p:nvSpPr>
          <p:spPr>
            <a:xfrm>
              <a:off x="441198" y="879158"/>
              <a:ext cx="7884345"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Kiến trúc 3 lớp, triển khai tập trung</a:t>
              </a:r>
            </a:p>
          </p:txBody>
        </p:sp>
      </p:grpSp>
      <p:grpSp>
        <p:nvGrpSpPr>
          <p:cNvPr id="33" name="Group 33"/>
          <p:cNvGrpSpPr/>
          <p:nvPr/>
        </p:nvGrpSpPr>
        <p:grpSpPr>
          <a:xfrm>
            <a:off x="457200" y="1524000"/>
            <a:ext cx="11277600" cy="3886200"/>
            <a:chOff x="457200" y="1524000"/>
            <a:chExt cx="11277600" cy="3886200"/>
          </a:xfrm>
        </p:grpSpPr>
        <p:grpSp>
          <p:nvGrpSpPr>
            <p:cNvPr id="13" name="Group 13"/>
            <p:cNvGrpSpPr/>
            <p:nvPr/>
          </p:nvGrpSpPr>
          <p:grpSpPr>
            <a:xfrm>
              <a:off x="457200" y="1524000"/>
              <a:ext cx="11277600" cy="1143000"/>
              <a:chOff x="457200" y="1524000"/>
              <a:chExt cx="11277600" cy="1143000"/>
            </a:xfrm>
          </p:grpSpPr>
          <p:sp>
            <p:nvSpPr>
              <p:cNvPr id="5" name="Rectangle 5"/>
              <p:cNvSpPr/>
              <p:nvPr/>
            </p:nvSpPr>
            <p:spPr>
              <a:xfrm>
                <a:off x="457200" y="1524000"/>
                <a:ext cx="11277600" cy="1143000"/>
              </a:xfrm>
              <a:prstGeom prst="roundRect">
                <a:avLst>
                  <a:gd name="adj" fmla="val 13333"/>
                </a:avLst>
              </a:prstGeom>
              <a:solidFill>
                <a:schemeClr val="accent1">
                  <a:alpha val="8000"/>
                </a:schemeClr>
              </a:solidFill>
              <a:ln>
                <a:noFill/>
              </a:ln>
            </p:spPr>
          </p:sp>
          <p:grpSp>
            <p:nvGrpSpPr>
              <p:cNvPr id="9" name="Group 9"/>
              <p:cNvGrpSpPr/>
              <p:nvPr/>
            </p:nvGrpSpPr>
            <p:grpSpPr>
              <a:xfrm>
                <a:off x="838200" y="1943100"/>
                <a:ext cx="304800" cy="304800"/>
                <a:chOff x="838200" y="1943100"/>
                <a:chExt cx="304800" cy="304800"/>
              </a:xfrm>
            </p:grpSpPr>
            <p:sp>
              <p:nvSpPr>
                <p:cNvPr id="6" name="Freeform 6"/>
                <p:cNvSpPr/>
                <p:nvPr/>
              </p:nvSpPr>
              <p:spPr>
                <a:xfrm>
                  <a:off x="838200" y="2019300"/>
                  <a:ext cx="304800" cy="9525"/>
                </a:xfrm>
                <a:custGeom>
                  <a:avLst/>
                  <a:gdLst/>
                  <a:ahLst/>
                  <a:cxnLst/>
                  <a:rect l="l" t="t" r="r" b="b"/>
                  <a:pathLst>
                    <a:path w="304800" h="9525">
                      <a:moveTo>
                        <a:pt x="0" y="0"/>
                      </a:moveTo>
                      <a:lnTo>
                        <a:pt x="304800" y="0"/>
                      </a:lnTo>
                    </a:path>
                  </a:pathLst>
                </a:custGeom>
                <a:noFill/>
                <a:ln w="38100">
                  <a:solidFill>
                    <a:schemeClr val="accent1"/>
                  </a:solidFill>
                </a:ln>
              </p:spPr>
            </p:sp>
            <p:sp>
              <p:nvSpPr>
                <p:cNvPr id="7" name="Freeform 7"/>
                <p:cNvSpPr/>
                <p:nvPr/>
              </p:nvSpPr>
              <p:spPr>
                <a:xfrm>
                  <a:off x="838200" y="1943100"/>
                  <a:ext cx="304800" cy="304800"/>
                </a:xfrm>
                <a:custGeom>
                  <a:avLst/>
                  <a:gdLst/>
                  <a:ahLst/>
                  <a:cxnLst/>
                  <a:rect l="l" t="t" r="r" b="b"/>
                  <a:pathLst>
                    <a:path w="304800" h="304800">
                      <a:moveTo>
                        <a:pt x="0" y="38100"/>
                      </a:moveTo>
                      <a:cubicBezTo>
                        <a:pt x="0" y="17058"/>
                        <a:pt x="17058" y="0"/>
                        <a:pt x="38100" y="0"/>
                      </a:cubicBezTo>
                      <a:lnTo>
                        <a:pt x="266700" y="0"/>
                      </a:lnTo>
                      <a:cubicBezTo>
                        <a:pt x="287742" y="0"/>
                        <a:pt x="304800" y="17058"/>
                        <a:pt x="304800" y="38100"/>
                      </a:cubicBezTo>
                      <a:lnTo>
                        <a:pt x="304800" y="266700"/>
                      </a:lnTo>
                      <a:cubicBezTo>
                        <a:pt x="304800" y="287742"/>
                        <a:pt x="287742" y="304800"/>
                        <a:pt x="266700" y="304800"/>
                      </a:cubicBezTo>
                      <a:lnTo>
                        <a:pt x="38100" y="304800"/>
                      </a:lnTo>
                      <a:cubicBezTo>
                        <a:pt x="17058" y="304800"/>
                        <a:pt x="0" y="287742"/>
                        <a:pt x="0" y="266700"/>
                      </a:cubicBezTo>
                      <a:lnTo>
                        <a:pt x="0" y="38100"/>
                      </a:lnTo>
                    </a:path>
                  </a:pathLst>
                </a:custGeom>
                <a:noFill/>
                <a:ln w="38100">
                  <a:solidFill>
                    <a:schemeClr val="accent1"/>
                  </a:solidFill>
                </a:ln>
              </p:spPr>
            </p:sp>
            <p:sp>
              <p:nvSpPr>
                <p:cNvPr id="8" name="Freeform 8"/>
                <p:cNvSpPr/>
                <p:nvPr/>
              </p:nvSpPr>
              <p:spPr>
                <a:xfrm>
                  <a:off x="914400" y="1943100"/>
                  <a:ext cx="9525" cy="76200"/>
                </a:xfrm>
                <a:custGeom>
                  <a:avLst/>
                  <a:gdLst/>
                  <a:ahLst/>
                  <a:cxnLst/>
                  <a:rect l="l" t="t" r="r" b="b"/>
                  <a:pathLst>
                    <a:path w="9525" h="76200">
                      <a:moveTo>
                        <a:pt x="0" y="0"/>
                      </a:moveTo>
                      <a:lnTo>
                        <a:pt x="0" y="76200"/>
                      </a:lnTo>
                    </a:path>
                  </a:pathLst>
                </a:custGeom>
                <a:noFill/>
                <a:ln w="38100">
                  <a:solidFill>
                    <a:schemeClr val="accent1"/>
                  </a:solidFill>
                </a:ln>
              </p:spPr>
            </p:sp>
          </p:grpSp>
          <p:sp>
            <p:nvSpPr>
              <p:cNvPr id="10" name="TextBox 10"/>
              <p:cNvSpPr txBox="1"/>
              <p:nvPr/>
            </p:nvSpPr>
            <p:spPr>
              <a:xfrm>
                <a:off x="1437894" y="1846898"/>
                <a:ext cx="4723890"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Presentation — Giao diện người dùng</a:t>
                </a:r>
              </a:p>
            </p:txBody>
          </p:sp>
          <p:sp>
            <p:nvSpPr>
              <p:cNvPr id="11" name="TextBox 11"/>
              <p:cNvSpPr txBox="1"/>
              <p:nvPr/>
            </p:nvSpPr>
            <p:spPr>
              <a:xfrm>
                <a:off x="1440180" y="2238375"/>
                <a:ext cx="5841061"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React SPA · Customer Frontend, Seller Portal, Admin Panel</a:t>
                </a:r>
              </a:p>
            </p:txBody>
          </p:sp>
          <p:sp>
            <p:nvSpPr>
              <p:cNvPr id="12" name="TextBox 12"/>
              <p:cNvSpPr txBox="1"/>
              <p:nvPr/>
            </p:nvSpPr>
            <p:spPr>
              <a:xfrm>
                <a:off x="7801166" y="1933575"/>
                <a:ext cx="1731455" cy="293370"/>
              </a:xfrm>
              <a:prstGeom prst="rect">
                <a:avLst/>
              </a:prstGeom>
              <a:noFill/>
              <a:ln>
                <a:noFill/>
              </a:ln>
            </p:spPr>
            <p:txBody>
              <a:bodyPr wrap="none" lIns="0" tIns="0" rIns="0" bIns="0" anchor="t" anchorCtr="0">
                <a:spAutoFit/>
              </a:bodyPr>
              <a:lstStyle/>
              <a:p>
                <a:pPr algn="r"/>
                <a:r>
                  <a:rPr lang="vi-VN" sz="1500" b="1" dirty="0">
                    <a:solidFill>
                      <a:schemeClr val="accent1"/>
                    </a:solidFill>
                    <a:latin typeface="+mn-lt"/>
                    <a:ea typeface="+mn-ea"/>
                    <a:cs typeface="+mn-cs"/>
                  </a:rPr>
                  <a:t>React · REST API</a:t>
                </a:r>
              </a:p>
            </p:txBody>
          </p:sp>
        </p:grpSp>
        <p:grpSp>
          <p:nvGrpSpPr>
            <p:cNvPr id="23" name="Group 23"/>
            <p:cNvGrpSpPr/>
            <p:nvPr/>
          </p:nvGrpSpPr>
          <p:grpSpPr>
            <a:xfrm>
              <a:off x="457200" y="2895600"/>
              <a:ext cx="11277600" cy="1143000"/>
              <a:chOff x="457200" y="2895600"/>
              <a:chExt cx="11277600" cy="1143000"/>
            </a:xfrm>
          </p:grpSpPr>
          <p:sp>
            <p:nvSpPr>
              <p:cNvPr id="14" name="Rectangle 14"/>
              <p:cNvSpPr/>
              <p:nvPr/>
            </p:nvSpPr>
            <p:spPr>
              <a:xfrm>
                <a:off x="457200" y="2895600"/>
                <a:ext cx="11277600" cy="1143000"/>
              </a:xfrm>
              <a:prstGeom prst="roundRect">
                <a:avLst>
                  <a:gd name="adj" fmla="val 13333"/>
                </a:avLst>
              </a:prstGeom>
              <a:solidFill>
                <a:schemeClr val="accent3">
                  <a:alpha val="8000"/>
                </a:schemeClr>
              </a:solidFill>
              <a:ln>
                <a:noFill/>
              </a:ln>
            </p:spPr>
          </p:sp>
          <p:grpSp>
            <p:nvGrpSpPr>
              <p:cNvPr id="19" name="Group 19"/>
              <p:cNvGrpSpPr/>
              <p:nvPr/>
            </p:nvGrpSpPr>
            <p:grpSpPr>
              <a:xfrm>
                <a:off x="819150" y="3314700"/>
                <a:ext cx="342900" cy="304800"/>
                <a:chOff x="819150" y="3314700"/>
                <a:chExt cx="342900" cy="304800"/>
              </a:xfrm>
            </p:grpSpPr>
            <p:sp>
              <p:nvSpPr>
                <p:cNvPr id="15" name="Freeform 15"/>
                <p:cNvSpPr/>
                <p:nvPr/>
              </p:nvSpPr>
              <p:spPr>
                <a:xfrm>
                  <a:off x="819150" y="3314700"/>
                  <a:ext cx="342900" cy="152400"/>
                </a:xfrm>
                <a:custGeom>
                  <a:avLst/>
                  <a:gdLst/>
                  <a:ahLst/>
                  <a:cxnLst/>
                  <a:rect l="l" t="t" r="r" b="b"/>
                  <a:pathLst>
                    <a:path w="342900" h="152400">
                      <a:moveTo>
                        <a:pt x="0" y="57150"/>
                      </a:moveTo>
                      <a:cubicBezTo>
                        <a:pt x="0" y="25587"/>
                        <a:pt x="25587" y="0"/>
                        <a:pt x="57150" y="0"/>
                      </a:cubicBezTo>
                      <a:lnTo>
                        <a:pt x="285750" y="0"/>
                      </a:lnTo>
                      <a:cubicBezTo>
                        <a:pt x="317313" y="0"/>
                        <a:pt x="342900" y="25587"/>
                        <a:pt x="342900" y="57150"/>
                      </a:cubicBezTo>
                      <a:lnTo>
                        <a:pt x="342900" y="95250"/>
                      </a:lnTo>
                      <a:cubicBezTo>
                        <a:pt x="342900" y="126813"/>
                        <a:pt x="317313" y="152400"/>
                        <a:pt x="285750" y="152400"/>
                      </a:cubicBezTo>
                      <a:lnTo>
                        <a:pt x="57150" y="152400"/>
                      </a:lnTo>
                      <a:cubicBezTo>
                        <a:pt x="25587" y="152400"/>
                        <a:pt x="0" y="126813"/>
                        <a:pt x="0" y="95250"/>
                      </a:cubicBezTo>
                      <a:lnTo>
                        <a:pt x="0" y="57150"/>
                      </a:lnTo>
                    </a:path>
                  </a:pathLst>
                </a:custGeom>
                <a:noFill/>
                <a:ln w="38100">
                  <a:solidFill>
                    <a:schemeClr val="accent3"/>
                  </a:solidFill>
                </a:ln>
              </p:spPr>
            </p:sp>
            <p:sp>
              <p:nvSpPr>
                <p:cNvPr id="16" name="Freeform 16"/>
                <p:cNvSpPr/>
                <p:nvPr/>
              </p:nvSpPr>
              <p:spPr>
                <a:xfrm>
                  <a:off x="819150" y="3467100"/>
                  <a:ext cx="342900" cy="152400"/>
                </a:xfrm>
                <a:custGeom>
                  <a:avLst/>
                  <a:gdLst/>
                  <a:ahLst/>
                  <a:cxnLst/>
                  <a:rect l="l" t="t" r="r" b="b"/>
                  <a:pathLst>
                    <a:path w="342900" h="152400">
                      <a:moveTo>
                        <a:pt x="0" y="57150"/>
                      </a:moveTo>
                      <a:cubicBezTo>
                        <a:pt x="0" y="25587"/>
                        <a:pt x="25587" y="0"/>
                        <a:pt x="57150" y="0"/>
                      </a:cubicBezTo>
                      <a:lnTo>
                        <a:pt x="285750" y="0"/>
                      </a:lnTo>
                      <a:cubicBezTo>
                        <a:pt x="317313" y="0"/>
                        <a:pt x="342900" y="25587"/>
                        <a:pt x="342900" y="57150"/>
                      </a:cubicBezTo>
                      <a:lnTo>
                        <a:pt x="342900" y="95250"/>
                      </a:lnTo>
                      <a:cubicBezTo>
                        <a:pt x="342900" y="126813"/>
                        <a:pt x="317313" y="152400"/>
                        <a:pt x="285750" y="152400"/>
                      </a:cubicBezTo>
                      <a:lnTo>
                        <a:pt x="57150" y="152400"/>
                      </a:lnTo>
                      <a:cubicBezTo>
                        <a:pt x="25587" y="152400"/>
                        <a:pt x="0" y="126813"/>
                        <a:pt x="0" y="95250"/>
                      </a:cubicBezTo>
                      <a:lnTo>
                        <a:pt x="0" y="57150"/>
                      </a:lnTo>
                    </a:path>
                  </a:pathLst>
                </a:custGeom>
                <a:noFill/>
                <a:ln w="38100">
                  <a:solidFill>
                    <a:schemeClr val="accent3"/>
                  </a:solidFill>
                </a:ln>
              </p:spPr>
            </p:sp>
            <p:sp>
              <p:nvSpPr>
                <p:cNvPr id="17" name="Freeform 17"/>
                <p:cNvSpPr/>
                <p:nvPr/>
              </p:nvSpPr>
              <p:spPr>
                <a:xfrm>
                  <a:off x="895350" y="3390900"/>
                  <a:ext cx="9525" cy="9525"/>
                </a:xfrm>
                <a:custGeom>
                  <a:avLst/>
                  <a:gdLst/>
                  <a:ahLst/>
                  <a:cxnLst/>
                  <a:rect l="l" t="t" r="r" b="b"/>
                  <a:pathLst>
                    <a:path w="9525" h="9525">
                      <a:moveTo>
                        <a:pt x="0" y="0"/>
                      </a:moveTo>
                      <a:lnTo>
                        <a:pt x="0" y="190"/>
                      </a:lnTo>
                    </a:path>
                  </a:pathLst>
                </a:custGeom>
                <a:noFill/>
                <a:ln w="38100">
                  <a:solidFill>
                    <a:schemeClr val="accent3"/>
                  </a:solidFill>
                </a:ln>
              </p:spPr>
            </p:sp>
            <p:sp>
              <p:nvSpPr>
                <p:cNvPr id="18" name="Freeform 18"/>
                <p:cNvSpPr/>
                <p:nvPr/>
              </p:nvSpPr>
              <p:spPr>
                <a:xfrm>
                  <a:off x="895350" y="3543300"/>
                  <a:ext cx="9525" cy="9525"/>
                </a:xfrm>
                <a:custGeom>
                  <a:avLst/>
                  <a:gdLst/>
                  <a:ahLst/>
                  <a:cxnLst/>
                  <a:rect l="l" t="t" r="r" b="b"/>
                  <a:pathLst>
                    <a:path w="9525" h="9525">
                      <a:moveTo>
                        <a:pt x="0" y="0"/>
                      </a:moveTo>
                      <a:lnTo>
                        <a:pt x="0" y="190"/>
                      </a:lnTo>
                    </a:path>
                  </a:pathLst>
                </a:custGeom>
                <a:noFill/>
                <a:ln w="38100">
                  <a:solidFill>
                    <a:schemeClr val="accent3"/>
                  </a:solidFill>
                </a:ln>
              </p:spPr>
            </p:sp>
          </p:grpSp>
          <p:sp>
            <p:nvSpPr>
              <p:cNvPr id="20" name="TextBox 20"/>
              <p:cNvSpPr txBox="1"/>
              <p:nvPr/>
            </p:nvSpPr>
            <p:spPr>
              <a:xfrm>
                <a:off x="1437894" y="3218498"/>
                <a:ext cx="3441414"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Application — Nghiệp vụ lõi</a:t>
                </a:r>
              </a:p>
            </p:txBody>
          </p:sp>
          <p:sp>
            <p:nvSpPr>
              <p:cNvPr id="21" name="TextBox 21"/>
              <p:cNvSpPr txBox="1"/>
              <p:nvPr/>
            </p:nvSpPr>
            <p:spPr>
              <a:xfrm>
                <a:off x="1440180" y="3609975"/>
                <a:ext cx="4740173"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Flask REST API · xác thực, phân quyền, đơn hàng</a:t>
                </a:r>
              </a:p>
            </p:txBody>
          </p:sp>
          <p:sp>
            <p:nvSpPr>
              <p:cNvPr id="22" name="TextBox 22"/>
              <p:cNvSpPr txBox="1"/>
              <p:nvPr/>
            </p:nvSpPr>
            <p:spPr>
              <a:xfrm>
                <a:off x="7365068" y="3305175"/>
                <a:ext cx="2167552" cy="293370"/>
              </a:xfrm>
              <a:prstGeom prst="rect">
                <a:avLst/>
              </a:prstGeom>
              <a:noFill/>
              <a:ln>
                <a:noFill/>
              </a:ln>
            </p:spPr>
            <p:txBody>
              <a:bodyPr wrap="none" lIns="0" tIns="0" rIns="0" bIns="0" anchor="t" anchorCtr="0">
                <a:spAutoFit/>
              </a:bodyPr>
              <a:lstStyle/>
              <a:p>
                <a:pPr algn="r"/>
                <a:r>
                  <a:rPr lang="vi-VN" sz="1500" b="1" dirty="0">
                    <a:solidFill>
                      <a:schemeClr val="accent3"/>
                    </a:solidFill>
                    <a:latin typeface="+mn-lt"/>
                    <a:ea typeface="+mn-ea"/>
                    <a:cs typeface="+mn-cs"/>
                  </a:rPr>
                  <a:t>Flask · Python · JWT</a:t>
                </a:r>
              </a:p>
            </p:txBody>
          </p:sp>
        </p:grpSp>
        <p:grpSp>
          <p:nvGrpSpPr>
            <p:cNvPr id="32" name="Group 32"/>
            <p:cNvGrpSpPr/>
            <p:nvPr/>
          </p:nvGrpSpPr>
          <p:grpSpPr>
            <a:xfrm>
              <a:off x="457200" y="4267200"/>
              <a:ext cx="11277600" cy="1143000"/>
              <a:chOff x="457200" y="4267200"/>
              <a:chExt cx="11277600" cy="1143000"/>
            </a:xfrm>
          </p:grpSpPr>
          <p:sp>
            <p:nvSpPr>
              <p:cNvPr id="24" name="Rectangle 24"/>
              <p:cNvSpPr/>
              <p:nvPr/>
            </p:nvSpPr>
            <p:spPr>
              <a:xfrm>
                <a:off x="457200" y="4267200"/>
                <a:ext cx="11277600" cy="1143000"/>
              </a:xfrm>
              <a:prstGeom prst="roundRect">
                <a:avLst>
                  <a:gd name="adj" fmla="val 13333"/>
                </a:avLst>
              </a:prstGeom>
              <a:solidFill>
                <a:schemeClr val="accent2">
                  <a:alpha val="10000"/>
                </a:schemeClr>
              </a:solidFill>
              <a:ln>
                <a:noFill/>
              </a:ln>
            </p:spPr>
          </p:sp>
          <p:grpSp>
            <p:nvGrpSpPr>
              <p:cNvPr id="28" name="Group 28"/>
              <p:cNvGrpSpPr/>
              <p:nvPr/>
            </p:nvGrpSpPr>
            <p:grpSpPr>
              <a:xfrm>
                <a:off x="838200" y="4667250"/>
                <a:ext cx="304800" cy="342900"/>
                <a:chOff x="838200" y="4667250"/>
                <a:chExt cx="304800" cy="342900"/>
              </a:xfrm>
            </p:grpSpPr>
            <p:sp>
              <p:nvSpPr>
                <p:cNvPr id="25" name="Freeform 25"/>
                <p:cNvSpPr/>
                <p:nvPr/>
              </p:nvSpPr>
              <p:spPr>
                <a:xfrm>
                  <a:off x="838200" y="4667250"/>
                  <a:ext cx="304800" cy="114300"/>
                </a:xfrm>
                <a:custGeom>
                  <a:avLst/>
                  <a:gdLst/>
                  <a:ahLst/>
                  <a:cxnLst/>
                  <a:rect l="l" t="t" r="r" b="b"/>
                  <a:pathLst>
                    <a:path w="304800" h="114300">
                      <a:moveTo>
                        <a:pt x="0" y="57150"/>
                      </a:moveTo>
                      <a:cubicBezTo>
                        <a:pt x="0" y="88713"/>
                        <a:pt x="68232" y="114300"/>
                        <a:pt x="152400" y="114300"/>
                      </a:cubicBezTo>
                      <a:cubicBezTo>
                        <a:pt x="236568" y="114300"/>
                        <a:pt x="304800" y="88713"/>
                        <a:pt x="304800" y="57150"/>
                      </a:cubicBezTo>
                      <a:cubicBezTo>
                        <a:pt x="304800" y="25587"/>
                        <a:pt x="236568" y="0"/>
                        <a:pt x="152400" y="0"/>
                      </a:cubicBezTo>
                      <a:cubicBezTo>
                        <a:pt x="68232" y="0"/>
                        <a:pt x="0" y="25587"/>
                        <a:pt x="0" y="57150"/>
                      </a:cubicBezTo>
                    </a:path>
                  </a:pathLst>
                </a:custGeom>
                <a:noFill/>
                <a:ln w="38100">
                  <a:solidFill>
                    <a:schemeClr val="accent2"/>
                  </a:solidFill>
                </a:ln>
              </p:spPr>
            </p:sp>
            <p:sp>
              <p:nvSpPr>
                <p:cNvPr id="26" name="Freeform 26"/>
                <p:cNvSpPr/>
                <p:nvPr/>
              </p:nvSpPr>
              <p:spPr>
                <a:xfrm>
                  <a:off x="838200" y="472440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38100">
                  <a:solidFill>
                    <a:schemeClr val="accent2"/>
                  </a:solidFill>
                </a:ln>
              </p:spPr>
            </p:sp>
            <p:sp>
              <p:nvSpPr>
                <p:cNvPr id="27" name="Freeform 27"/>
                <p:cNvSpPr/>
                <p:nvPr/>
              </p:nvSpPr>
              <p:spPr>
                <a:xfrm>
                  <a:off x="838200" y="483870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38100">
                  <a:solidFill>
                    <a:schemeClr val="accent2"/>
                  </a:solidFill>
                </a:ln>
              </p:spPr>
            </p:sp>
          </p:grpSp>
          <p:sp>
            <p:nvSpPr>
              <p:cNvPr id="29" name="TextBox 29"/>
              <p:cNvSpPr txBox="1"/>
              <p:nvPr/>
            </p:nvSpPr>
            <p:spPr>
              <a:xfrm>
                <a:off x="1437894" y="4590098"/>
                <a:ext cx="3334360" cy="381381"/>
              </a:xfrm>
              <a:prstGeom prst="rect">
                <a:avLst/>
              </a:prstGeom>
              <a:noFill/>
              <a:ln>
                <a:noFill/>
              </a:ln>
            </p:spPr>
            <p:txBody>
              <a:bodyPr wrap="none" lIns="0" tIns="0" rIns="0" bIns="0" anchor="t" anchorCtr="0">
                <a:spAutoFit/>
              </a:bodyPr>
              <a:lstStyle/>
              <a:p>
                <a:pPr algn="l"/>
                <a:r>
                  <a:rPr lang="vi-VN" sz="1950" b="1" dirty="0">
                    <a:solidFill>
                      <a:schemeClr val="dk1"/>
                    </a:solidFill>
                    <a:latin typeface="+mn-lt"/>
                    <a:ea typeface="+mn-ea"/>
                    <a:cs typeface="+mn-cs"/>
                  </a:rPr>
                  <a:t>Data — Lưu trữ tập trung</a:t>
                </a:r>
              </a:p>
            </p:txBody>
          </p:sp>
          <p:sp>
            <p:nvSpPr>
              <p:cNvPr id="30" name="TextBox 30"/>
              <p:cNvSpPr txBox="1"/>
              <p:nvPr/>
            </p:nvSpPr>
            <p:spPr>
              <a:xfrm>
                <a:off x="1440180" y="4981575"/>
                <a:ext cx="4577080" cy="293370"/>
              </a:xfrm>
              <a:prstGeom prst="rect">
                <a:avLst/>
              </a:prstGeom>
              <a:noFill/>
              <a:ln>
                <a:noFill/>
              </a:ln>
            </p:spPr>
            <p:txBody>
              <a:bodyPr wrap="none" lIns="0" tIns="0" rIns="0" bIns="0" anchor="t" anchorCtr="0">
                <a:spAutoFit/>
              </a:bodyPr>
              <a:lstStyle/>
              <a:p>
                <a:pPr algn="l"/>
                <a:r>
                  <a:rPr lang="vi-VN" sz="1500" dirty="0">
                    <a:solidFill>
                      <a:schemeClr val="accent5"/>
                    </a:solidFill>
                    <a:latin typeface="+mn-lt"/>
                    <a:ea typeface="+mn-ea"/>
                    <a:cs typeface="+mn-cs"/>
                  </a:rPr>
                  <a:t>PostgreSQL · dữ liệu dùng chung toàn nền tảng</a:t>
                </a:r>
              </a:p>
            </p:txBody>
          </p:sp>
          <p:sp>
            <p:nvSpPr>
              <p:cNvPr id="31" name="TextBox 31"/>
              <p:cNvSpPr txBox="1"/>
              <p:nvPr/>
            </p:nvSpPr>
            <p:spPr>
              <a:xfrm>
                <a:off x="8281466" y="4676775"/>
                <a:ext cx="1251154" cy="293370"/>
              </a:xfrm>
              <a:prstGeom prst="rect">
                <a:avLst/>
              </a:prstGeom>
              <a:noFill/>
              <a:ln>
                <a:noFill/>
              </a:ln>
            </p:spPr>
            <p:txBody>
              <a:bodyPr wrap="none" lIns="0" tIns="0" rIns="0" bIns="0" anchor="t" anchorCtr="0">
                <a:spAutoFit/>
              </a:bodyPr>
              <a:lstStyle/>
              <a:p>
                <a:pPr algn="r"/>
                <a:r>
                  <a:rPr lang="vi-VN" sz="1500" b="1" dirty="0">
                    <a:solidFill>
                      <a:schemeClr val="accent2"/>
                    </a:solidFill>
                    <a:latin typeface="+mn-lt"/>
                    <a:ea typeface="+mn-ea"/>
                    <a:cs typeface="+mn-cs"/>
                  </a:rPr>
                  <a:t>PostgreSQL</a:t>
                </a:r>
              </a:p>
            </p:txBody>
          </p:sp>
        </p:grpSp>
      </p:grpSp>
      <p:grpSp>
        <p:nvGrpSpPr>
          <p:cNvPr id="37" name="Group 37"/>
          <p:cNvGrpSpPr/>
          <p:nvPr/>
        </p:nvGrpSpPr>
        <p:grpSpPr>
          <a:xfrm>
            <a:off x="457200" y="5600700"/>
            <a:ext cx="11277600" cy="609600"/>
            <a:chOff x="457200" y="5600700"/>
            <a:chExt cx="11277600" cy="609600"/>
          </a:xfrm>
        </p:grpSpPr>
        <p:sp>
          <p:nvSpPr>
            <p:cNvPr id="34" name="Rectangle 34"/>
            <p:cNvSpPr/>
            <p:nvPr/>
          </p:nvSpPr>
          <p:spPr>
            <a:xfrm>
              <a:off x="457200" y="5600700"/>
              <a:ext cx="11277600" cy="609600"/>
            </a:xfrm>
            <a:prstGeom prst="roundRect">
              <a:avLst>
                <a:gd name="adj" fmla="val 25000"/>
              </a:avLst>
            </a:prstGeom>
            <a:solidFill>
              <a:schemeClr val="dk1"/>
            </a:solidFill>
            <a:ln>
              <a:noFill/>
            </a:ln>
          </p:spPr>
        </p:sp>
        <p:sp>
          <p:nvSpPr>
            <p:cNvPr id="35" name="TextBox 35"/>
            <p:cNvSpPr txBox="1"/>
            <p:nvPr/>
          </p:nvSpPr>
          <p:spPr>
            <a:xfrm>
              <a:off x="752856" y="5787390"/>
              <a:ext cx="2959016" cy="352044"/>
            </a:xfrm>
            <a:prstGeom prst="rect">
              <a:avLst/>
            </a:prstGeom>
            <a:noFill/>
            <a:ln>
              <a:noFill/>
            </a:ln>
          </p:spPr>
          <p:txBody>
            <a:bodyPr wrap="none" lIns="0" tIns="0" rIns="0" bIns="0" anchor="t" anchorCtr="0">
              <a:spAutoFit/>
            </a:bodyPr>
            <a:lstStyle/>
            <a:p>
              <a:pPr algn="l"/>
              <a:r>
                <a:rPr lang="vi-VN" sz="1800" b="1" dirty="0">
                  <a:solidFill>
                    <a:srgbClr val="FFFFFF"/>
                  </a:solidFill>
                  <a:latin typeface="+mn-lt"/>
                  <a:ea typeface="+mn-ea"/>
                  <a:cs typeface="+mn-cs"/>
                </a:rPr>
                <a:t>Nginx → Gunicorn → Flask</a:t>
              </a:r>
            </a:p>
          </p:txBody>
        </p:sp>
        <p:sp>
          <p:nvSpPr>
            <p:cNvPr id="36" name="TextBox 36"/>
            <p:cNvSpPr txBox="1"/>
            <p:nvPr/>
          </p:nvSpPr>
          <p:spPr>
            <a:xfrm>
              <a:off x="6089142" y="5835968"/>
              <a:ext cx="3145912" cy="264033"/>
            </a:xfrm>
            <a:prstGeom prst="rect">
              <a:avLst/>
            </a:prstGeom>
            <a:noFill/>
            <a:ln>
              <a:noFill/>
            </a:ln>
          </p:spPr>
          <p:txBody>
            <a:bodyPr wrap="none" lIns="0" tIns="0" rIns="0" bIns="0" anchor="t" anchorCtr="0">
              <a:spAutoFit/>
            </a:bodyPr>
            <a:lstStyle/>
            <a:p>
              <a:pPr algn="l"/>
              <a:r>
                <a:rPr lang="vi-VN" sz="1350" dirty="0">
                  <a:solidFill>
                    <a:schemeClr val="accent6"/>
                  </a:solidFill>
                  <a:latin typeface="+mn-lt"/>
                  <a:ea typeface="+mn-ea"/>
                  <a:cs typeface="+mn-cs"/>
                </a:rPr>
                <a:t>Một backend phục vụ cả ba giao diện</a:t>
              </a:r>
            </a:p>
          </p:txBody>
        </p:sp>
      </p:grpSp>
      <p:grpSp>
        <p:nvGrpSpPr>
          <p:cNvPr id="41" name="Group 41"/>
          <p:cNvGrpSpPr/>
          <p:nvPr/>
        </p:nvGrpSpPr>
        <p:grpSpPr>
          <a:xfrm>
            <a:off x="450342" y="6416992"/>
            <a:ext cx="11291316" cy="264033"/>
            <a:chOff x="450342" y="6416992"/>
            <a:chExt cx="11291316" cy="264033"/>
          </a:xfrm>
        </p:grpSpPr>
        <p:sp>
          <p:nvSpPr>
            <p:cNvPr id="38" name="TextBox 38"/>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39" name="TextBox 39"/>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40" name="TextBox 40"/>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06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597218"/>
            <a:ext cx="4204418" cy="898017"/>
            <a:chOff x="441198" y="597218"/>
            <a:chExt cx="4204418" cy="898017"/>
          </a:xfrm>
        </p:grpSpPr>
        <p:sp>
          <p:nvSpPr>
            <p:cNvPr id="2" name="TextBox 2"/>
            <p:cNvSpPr txBox="1"/>
            <p:nvPr/>
          </p:nvSpPr>
          <p:spPr>
            <a:xfrm>
              <a:off x="450342" y="597218"/>
              <a:ext cx="198196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TRD · MÔ HÌNH DỮ LIỆU</a:t>
              </a:r>
            </a:p>
          </p:txBody>
        </p:sp>
        <p:sp>
          <p:nvSpPr>
            <p:cNvPr id="3" name="TextBox 3"/>
            <p:cNvSpPr txBox="1"/>
            <p:nvPr/>
          </p:nvSpPr>
          <p:spPr>
            <a:xfrm>
              <a:off x="441198" y="879158"/>
              <a:ext cx="4204418"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ERD lõi — 6 thực thể</a:t>
              </a:r>
            </a:p>
          </p:txBody>
        </p:sp>
      </p:grpSp>
      <p:grpSp>
        <p:nvGrpSpPr>
          <p:cNvPr id="87" name="Group 87"/>
          <p:cNvGrpSpPr/>
          <p:nvPr/>
        </p:nvGrpSpPr>
        <p:grpSpPr>
          <a:xfrm>
            <a:off x="457200" y="1524000"/>
            <a:ext cx="11277600" cy="4038600"/>
            <a:chOff x="457200" y="1524000"/>
            <a:chExt cx="11277600" cy="4038600"/>
          </a:xfrm>
        </p:grpSpPr>
        <p:grpSp>
          <p:nvGrpSpPr>
            <p:cNvPr id="14" name="Group 14"/>
            <p:cNvGrpSpPr/>
            <p:nvPr/>
          </p:nvGrpSpPr>
          <p:grpSpPr>
            <a:xfrm>
              <a:off x="457200" y="1524000"/>
              <a:ext cx="3505200" cy="1905000"/>
              <a:chOff x="457200" y="1524000"/>
              <a:chExt cx="3505200" cy="1905000"/>
            </a:xfrm>
          </p:grpSpPr>
          <p:sp>
            <p:nvSpPr>
              <p:cNvPr id="5" name="Rectangle 5"/>
              <p:cNvSpPr/>
              <p:nvPr/>
            </p:nvSpPr>
            <p:spPr>
              <a:xfrm>
                <a:off x="457200" y="1524000"/>
                <a:ext cx="3505200" cy="1905000"/>
              </a:xfrm>
              <a:prstGeom prst="roundRect">
                <a:avLst>
                  <a:gd name="adj" fmla="val 8000"/>
                </a:avLst>
              </a:prstGeom>
              <a:solidFill>
                <a:schemeClr val="lt2"/>
              </a:solidFill>
              <a:ln>
                <a:noFill/>
              </a:ln>
            </p:spPr>
          </p:sp>
          <p:sp>
            <p:nvSpPr>
              <p:cNvPr id="6" name="TextBox 6"/>
              <p:cNvSpPr txBox="1"/>
              <p:nvPr/>
            </p:nvSpPr>
            <p:spPr>
              <a:xfrm>
                <a:off x="601218" y="1688782"/>
                <a:ext cx="665405"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Users</a:t>
                </a:r>
              </a:p>
            </p:txBody>
          </p:sp>
          <p:grpSp>
            <p:nvGrpSpPr>
              <p:cNvPr id="13" name="Group 13"/>
              <p:cNvGrpSpPr/>
              <p:nvPr/>
            </p:nvGrpSpPr>
            <p:grpSpPr>
              <a:xfrm>
                <a:off x="602742" y="2038350"/>
                <a:ext cx="2254225" cy="1261301"/>
                <a:chOff x="602742" y="2038350"/>
                <a:chExt cx="2254225" cy="1261301"/>
              </a:xfrm>
            </p:grpSpPr>
            <p:sp>
              <p:nvSpPr>
                <p:cNvPr id="7" name="Rectangle 7"/>
                <p:cNvSpPr/>
                <p:nvPr/>
              </p:nvSpPr>
              <p:spPr>
                <a:xfrm>
                  <a:off x="609600" y="2038350"/>
                  <a:ext cx="266700" cy="209550"/>
                </a:xfrm>
                <a:prstGeom prst="roundRect">
                  <a:avLst>
                    <a:gd name="adj" fmla="val 27273"/>
                  </a:avLst>
                </a:prstGeom>
                <a:solidFill>
                  <a:schemeClr val="accent1"/>
                </a:solidFill>
                <a:ln>
                  <a:noFill/>
                </a:ln>
              </p:spPr>
            </p:sp>
            <p:sp>
              <p:nvSpPr>
                <p:cNvPr id="8" name="TextBox 8"/>
                <p:cNvSpPr txBox="1"/>
                <p:nvPr/>
              </p:nvSpPr>
              <p:spPr>
                <a:xfrm>
                  <a:off x="625198" y="2045018"/>
                  <a:ext cx="235504"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PK</a:t>
                  </a:r>
                </a:p>
              </p:txBody>
            </p:sp>
            <p:sp>
              <p:nvSpPr>
                <p:cNvPr id="9" name="TextBox 9"/>
                <p:cNvSpPr txBox="1"/>
                <p:nvPr/>
              </p:nvSpPr>
              <p:spPr>
                <a:xfrm>
                  <a:off x="945642" y="2064068"/>
                  <a:ext cx="63162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id · int</a:t>
                  </a:r>
                </a:p>
              </p:txBody>
            </p:sp>
            <p:sp>
              <p:nvSpPr>
                <p:cNvPr id="10" name="TextBox 10"/>
                <p:cNvSpPr txBox="1"/>
                <p:nvPr/>
              </p:nvSpPr>
              <p:spPr>
                <a:xfrm>
                  <a:off x="602742" y="2387918"/>
                  <a:ext cx="2254225" cy="264033"/>
                </a:xfrm>
                <a:prstGeom prst="rect">
                  <a:avLst/>
                </a:prstGeom>
                <a:noFill/>
                <a:ln>
                  <a:noFill/>
                </a:ln>
              </p:spPr>
              <p:txBody>
                <a:bodyPr wrap="none" lIns="0" tIns="0" rIns="0" bIns="0" anchor="t" anchorCtr="0">
                  <a:spAutoFit/>
                </a:bodyPr>
                <a:lstStyle/>
                <a:p>
                  <a:pPr algn="l"/>
                  <a:r>
                    <a:rPr lang="vi-VN" sz="1350" dirty="0">
                      <a:solidFill>
                        <a:schemeClr val="accent3"/>
                      </a:solidFill>
                      <a:latin typeface="+mn-lt"/>
                      <a:ea typeface="+mn-ea"/>
                      <a:cs typeface="+mn-cs"/>
                    </a:rPr>
                    <a:t>email · varchar (UNIQUE)</a:t>
                  </a:r>
                </a:p>
              </p:txBody>
            </p:sp>
            <p:sp>
              <p:nvSpPr>
                <p:cNvPr id="11" name="TextBox 11"/>
                <p:cNvSpPr txBox="1"/>
                <p:nvPr/>
              </p:nvSpPr>
              <p:spPr>
                <a:xfrm>
                  <a:off x="602742" y="2711768"/>
                  <a:ext cx="101327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role · enum</a:t>
                  </a:r>
                </a:p>
              </p:txBody>
            </p:sp>
            <p:sp>
              <p:nvSpPr>
                <p:cNvPr id="12" name="TextBox 12"/>
                <p:cNvSpPr txBox="1"/>
                <p:nvPr/>
              </p:nvSpPr>
              <p:spPr>
                <a:xfrm>
                  <a:off x="602742" y="3035618"/>
                  <a:ext cx="125861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status · enum</a:t>
                  </a:r>
                </a:p>
              </p:txBody>
            </p:sp>
          </p:grpSp>
        </p:grpSp>
        <p:grpSp>
          <p:nvGrpSpPr>
            <p:cNvPr id="26" name="Group 26"/>
            <p:cNvGrpSpPr/>
            <p:nvPr/>
          </p:nvGrpSpPr>
          <p:grpSpPr>
            <a:xfrm>
              <a:off x="4343400" y="1524000"/>
              <a:ext cx="3505200" cy="1905000"/>
              <a:chOff x="4343400" y="1524000"/>
              <a:chExt cx="3505200" cy="1905000"/>
            </a:xfrm>
          </p:grpSpPr>
          <p:sp>
            <p:nvSpPr>
              <p:cNvPr id="15" name="Rectangle 15"/>
              <p:cNvSpPr/>
              <p:nvPr/>
            </p:nvSpPr>
            <p:spPr>
              <a:xfrm>
                <a:off x="4343400" y="1524000"/>
                <a:ext cx="3505200" cy="1905000"/>
              </a:xfrm>
              <a:prstGeom prst="roundRect">
                <a:avLst>
                  <a:gd name="adj" fmla="val 8000"/>
                </a:avLst>
              </a:prstGeom>
              <a:solidFill>
                <a:schemeClr val="lt2"/>
              </a:solidFill>
              <a:ln>
                <a:noFill/>
              </a:ln>
            </p:spPr>
          </p:sp>
          <p:sp>
            <p:nvSpPr>
              <p:cNvPr id="16" name="TextBox 16"/>
              <p:cNvSpPr txBox="1"/>
              <p:nvPr/>
            </p:nvSpPr>
            <p:spPr>
              <a:xfrm>
                <a:off x="4487418" y="1688782"/>
                <a:ext cx="793681" cy="322707"/>
              </a:xfrm>
              <a:prstGeom prst="rect">
                <a:avLst/>
              </a:prstGeom>
              <a:noFill/>
              <a:ln>
                <a:noFill/>
              </a:ln>
            </p:spPr>
            <p:txBody>
              <a:bodyPr wrap="none" lIns="0" tIns="0" rIns="0" bIns="0" anchor="t" anchorCtr="0">
                <a:spAutoFit/>
              </a:bodyPr>
              <a:lstStyle/>
              <a:p>
                <a:pPr algn="l"/>
                <a:r>
                  <a:rPr lang="vi-VN" sz="1650" b="1" dirty="0">
                    <a:solidFill>
                      <a:schemeClr val="accent3"/>
                    </a:solidFill>
                    <a:latin typeface="+mn-lt"/>
                    <a:ea typeface="+mn-ea"/>
                    <a:cs typeface="+mn-cs"/>
                  </a:rPr>
                  <a:t>Stores</a:t>
                </a:r>
              </a:p>
            </p:txBody>
          </p:sp>
          <p:grpSp>
            <p:nvGrpSpPr>
              <p:cNvPr id="25" name="Group 25"/>
              <p:cNvGrpSpPr/>
              <p:nvPr/>
            </p:nvGrpSpPr>
            <p:grpSpPr>
              <a:xfrm>
                <a:off x="4488942" y="2038350"/>
                <a:ext cx="1863019" cy="1261301"/>
                <a:chOff x="4488942" y="2038350"/>
                <a:chExt cx="1863019" cy="1261301"/>
              </a:xfrm>
            </p:grpSpPr>
            <p:sp>
              <p:nvSpPr>
                <p:cNvPr id="17" name="Rectangle 17"/>
                <p:cNvSpPr/>
                <p:nvPr/>
              </p:nvSpPr>
              <p:spPr>
                <a:xfrm>
                  <a:off x="4495800" y="2038350"/>
                  <a:ext cx="266700" cy="209550"/>
                </a:xfrm>
                <a:prstGeom prst="roundRect">
                  <a:avLst>
                    <a:gd name="adj" fmla="val 27273"/>
                  </a:avLst>
                </a:prstGeom>
                <a:solidFill>
                  <a:schemeClr val="accent1"/>
                </a:solidFill>
                <a:ln>
                  <a:noFill/>
                </a:ln>
              </p:spPr>
            </p:sp>
            <p:sp>
              <p:nvSpPr>
                <p:cNvPr id="18" name="TextBox 18"/>
                <p:cNvSpPr txBox="1"/>
                <p:nvPr/>
              </p:nvSpPr>
              <p:spPr>
                <a:xfrm>
                  <a:off x="4511398" y="2045018"/>
                  <a:ext cx="235504"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PK</a:t>
                  </a:r>
                </a:p>
              </p:txBody>
            </p:sp>
            <p:sp>
              <p:nvSpPr>
                <p:cNvPr id="19" name="TextBox 19"/>
                <p:cNvSpPr txBox="1"/>
                <p:nvPr/>
              </p:nvSpPr>
              <p:spPr>
                <a:xfrm>
                  <a:off x="4831842" y="2064068"/>
                  <a:ext cx="63162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id · int</a:t>
                  </a:r>
                </a:p>
              </p:txBody>
            </p:sp>
            <p:sp>
              <p:nvSpPr>
                <p:cNvPr id="20" name="Rectangle 20"/>
                <p:cNvSpPr/>
                <p:nvPr/>
              </p:nvSpPr>
              <p:spPr>
                <a:xfrm>
                  <a:off x="4495800" y="2362200"/>
                  <a:ext cx="266700" cy="209550"/>
                </a:xfrm>
                <a:prstGeom prst="roundRect">
                  <a:avLst>
                    <a:gd name="adj" fmla="val 27273"/>
                  </a:avLst>
                </a:prstGeom>
                <a:solidFill>
                  <a:schemeClr val="accent2"/>
                </a:solidFill>
                <a:ln>
                  <a:noFill/>
                </a:ln>
              </p:spPr>
            </p:sp>
            <p:sp>
              <p:nvSpPr>
                <p:cNvPr id="21" name="TextBox 21"/>
                <p:cNvSpPr txBox="1"/>
                <p:nvPr/>
              </p:nvSpPr>
              <p:spPr>
                <a:xfrm>
                  <a:off x="4511398" y="236886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22" name="TextBox 22"/>
                <p:cNvSpPr txBox="1"/>
                <p:nvPr/>
              </p:nvSpPr>
              <p:spPr>
                <a:xfrm>
                  <a:off x="4831842" y="2387918"/>
                  <a:ext cx="152011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owner_id → Users</a:t>
                  </a:r>
                </a:p>
              </p:txBody>
            </p:sp>
            <p:sp>
              <p:nvSpPr>
                <p:cNvPr id="23" name="TextBox 23"/>
                <p:cNvSpPr txBox="1"/>
                <p:nvPr/>
              </p:nvSpPr>
              <p:spPr>
                <a:xfrm>
                  <a:off x="4488942" y="2711768"/>
                  <a:ext cx="135857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name · varchar</a:t>
                  </a:r>
                </a:p>
              </p:txBody>
            </p:sp>
            <p:sp>
              <p:nvSpPr>
                <p:cNvPr id="24" name="TextBox 24"/>
                <p:cNvSpPr txBox="1"/>
                <p:nvPr/>
              </p:nvSpPr>
              <p:spPr>
                <a:xfrm>
                  <a:off x="4488942" y="3035618"/>
                  <a:ext cx="1658436"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kyc_status · enum</a:t>
                  </a:r>
                </a:p>
              </p:txBody>
            </p:sp>
          </p:grpSp>
        </p:grpSp>
        <p:grpSp>
          <p:nvGrpSpPr>
            <p:cNvPr id="39" name="Group 39"/>
            <p:cNvGrpSpPr/>
            <p:nvPr/>
          </p:nvGrpSpPr>
          <p:grpSpPr>
            <a:xfrm>
              <a:off x="8229600" y="1524000"/>
              <a:ext cx="3505200" cy="1905000"/>
              <a:chOff x="8229600" y="1524000"/>
              <a:chExt cx="3505200" cy="1905000"/>
            </a:xfrm>
          </p:grpSpPr>
          <p:sp>
            <p:nvSpPr>
              <p:cNvPr id="27" name="Rectangle 27"/>
              <p:cNvSpPr/>
              <p:nvPr/>
            </p:nvSpPr>
            <p:spPr>
              <a:xfrm>
                <a:off x="8229600" y="1524000"/>
                <a:ext cx="3505200" cy="1905000"/>
              </a:xfrm>
              <a:prstGeom prst="roundRect">
                <a:avLst>
                  <a:gd name="adj" fmla="val 8000"/>
                </a:avLst>
              </a:prstGeom>
              <a:solidFill>
                <a:schemeClr val="lt2"/>
              </a:solidFill>
              <a:ln>
                <a:noFill/>
              </a:ln>
            </p:spPr>
          </p:sp>
          <p:sp>
            <p:nvSpPr>
              <p:cNvPr id="28" name="TextBox 28"/>
              <p:cNvSpPr txBox="1"/>
              <p:nvPr/>
            </p:nvSpPr>
            <p:spPr>
              <a:xfrm>
                <a:off x="8373618" y="1688782"/>
                <a:ext cx="1248148" cy="322707"/>
              </a:xfrm>
              <a:prstGeom prst="rect">
                <a:avLst/>
              </a:prstGeom>
              <a:noFill/>
              <a:ln>
                <a:noFill/>
              </a:ln>
            </p:spPr>
            <p:txBody>
              <a:bodyPr wrap="none" lIns="0" tIns="0" rIns="0" bIns="0" anchor="t" anchorCtr="0">
                <a:spAutoFit/>
              </a:bodyPr>
              <a:lstStyle/>
              <a:p>
                <a:pPr algn="l"/>
                <a:r>
                  <a:rPr lang="vi-VN" sz="1650" b="1" dirty="0">
                    <a:solidFill>
                      <a:schemeClr val="accent2"/>
                    </a:solidFill>
                    <a:latin typeface="+mn-lt"/>
                    <a:ea typeface="+mn-ea"/>
                    <a:cs typeface="+mn-cs"/>
                  </a:rPr>
                  <a:t>Categories</a:t>
                </a:r>
              </a:p>
            </p:txBody>
          </p:sp>
          <p:grpSp>
            <p:nvGrpSpPr>
              <p:cNvPr id="38" name="Group 38"/>
              <p:cNvGrpSpPr/>
              <p:nvPr/>
            </p:nvGrpSpPr>
            <p:grpSpPr>
              <a:xfrm>
                <a:off x="8375142" y="2038350"/>
                <a:ext cx="2380240" cy="1261301"/>
                <a:chOff x="8375142" y="2038350"/>
                <a:chExt cx="2380240" cy="1261301"/>
              </a:xfrm>
            </p:grpSpPr>
            <p:sp>
              <p:nvSpPr>
                <p:cNvPr id="29" name="Rectangle 29"/>
                <p:cNvSpPr/>
                <p:nvPr/>
              </p:nvSpPr>
              <p:spPr>
                <a:xfrm>
                  <a:off x="8382000" y="2038350"/>
                  <a:ext cx="266700" cy="209550"/>
                </a:xfrm>
                <a:prstGeom prst="roundRect">
                  <a:avLst>
                    <a:gd name="adj" fmla="val 27273"/>
                  </a:avLst>
                </a:prstGeom>
                <a:solidFill>
                  <a:schemeClr val="accent1"/>
                </a:solidFill>
                <a:ln>
                  <a:noFill/>
                </a:ln>
              </p:spPr>
            </p:sp>
            <p:sp>
              <p:nvSpPr>
                <p:cNvPr id="30" name="TextBox 30"/>
                <p:cNvSpPr txBox="1"/>
                <p:nvPr/>
              </p:nvSpPr>
              <p:spPr>
                <a:xfrm>
                  <a:off x="8397598" y="2045018"/>
                  <a:ext cx="235504"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PK</a:t>
                  </a:r>
                </a:p>
              </p:txBody>
            </p:sp>
            <p:sp>
              <p:nvSpPr>
                <p:cNvPr id="31" name="TextBox 31"/>
                <p:cNvSpPr txBox="1"/>
                <p:nvPr/>
              </p:nvSpPr>
              <p:spPr>
                <a:xfrm>
                  <a:off x="8718042" y="2064068"/>
                  <a:ext cx="63162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id · int</a:t>
                  </a:r>
                </a:p>
              </p:txBody>
            </p:sp>
            <p:sp>
              <p:nvSpPr>
                <p:cNvPr id="33" name="Rectangle 33"/>
                <p:cNvSpPr/>
                <p:nvPr/>
              </p:nvSpPr>
              <p:spPr>
                <a:xfrm>
                  <a:off x="8382000" y="2362200"/>
                  <a:ext cx="266700" cy="209550"/>
                </a:xfrm>
                <a:prstGeom prst="roundRect">
                  <a:avLst>
                    <a:gd name="adj" fmla="val 27273"/>
                  </a:avLst>
                </a:prstGeom>
                <a:solidFill>
                  <a:schemeClr val="accent2"/>
                </a:solidFill>
                <a:ln>
                  <a:noFill/>
                </a:ln>
              </p:spPr>
            </p:sp>
            <p:sp>
              <p:nvSpPr>
                <p:cNvPr id="34" name="TextBox 34"/>
                <p:cNvSpPr txBox="1"/>
                <p:nvPr/>
              </p:nvSpPr>
              <p:spPr>
                <a:xfrm>
                  <a:off x="8397598" y="236886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35" name="TextBox 35"/>
                <p:cNvSpPr txBox="1"/>
                <p:nvPr/>
              </p:nvSpPr>
              <p:spPr>
                <a:xfrm>
                  <a:off x="8718042" y="2387918"/>
                  <a:ext cx="2037340"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parent_id → Categories</a:t>
                  </a:r>
                </a:p>
              </p:txBody>
            </p:sp>
            <p:sp>
              <p:nvSpPr>
                <p:cNvPr id="36" name="TextBox 36"/>
                <p:cNvSpPr txBox="1"/>
                <p:nvPr/>
              </p:nvSpPr>
              <p:spPr>
                <a:xfrm>
                  <a:off x="8375142" y="2711768"/>
                  <a:ext cx="11367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a:t>
                  </a:r>
                </a:p>
              </p:txBody>
            </p:sp>
            <p:sp>
              <p:nvSpPr>
                <p:cNvPr id="37" name="TextBox 37"/>
                <p:cNvSpPr txBox="1"/>
                <p:nvPr/>
              </p:nvSpPr>
              <p:spPr>
                <a:xfrm>
                  <a:off x="8375142" y="3035618"/>
                  <a:ext cx="11367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a:t>
                  </a:r>
                </a:p>
              </p:txBody>
            </p:sp>
          </p:grpSp>
        </p:grpSp>
        <p:grpSp>
          <p:nvGrpSpPr>
            <p:cNvPr id="53" name="Group 53"/>
            <p:cNvGrpSpPr/>
            <p:nvPr/>
          </p:nvGrpSpPr>
          <p:grpSpPr>
            <a:xfrm>
              <a:off x="457200" y="3657600"/>
              <a:ext cx="3505200" cy="1905000"/>
              <a:chOff x="457200" y="3657600"/>
              <a:chExt cx="3505200" cy="1905000"/>
            </a:xfrm>
          </p:grpSpPr>
          <p:sp>
            <p:nvSpPr>
              <p:cNvPr id="40" name="Rectangle 40"/>
              <p:cNvSpPr/>
              <p:nvPr/>
            </p:nvSpPr>
            <p:spPr>
              <a:xfrm>
                <a:off x="457200" y="3657600"/>
                <a:ext cx="3505200" cy="1905000"/>
              </a:xfrm>
              <a:prstGeom prst="roundRect">
                <a:avLst>
                  <a:gd name="adj" fmla="val 8000"/>
                </a:avLst>
              </a:prstGeom>
              <a:solidFill>
                <a:schemeClr val="lt2"/>
              </a:solidFill>
              <a:ln>
                <a:noFill/>
              </a:ln>
            </p:spPr>
          </p:sp>
          <p:sp>
            <p:nvSpPr>
              <p:cNvPr id="41" name="TextBox 41"/>
              <p:cNvSpPr txBox="1"/>
              <p:nvPr/>
            </p:nvSpPr>
            <p:spPr>
              <a:xfrm>
                <a:off x="601218" y="3822382"/>
                <a:ext cx="1050233" cy="322707"/>
              </a:xfrm>
              <a:prstGeom prst="rect">
                <a:avLst/>
              </a:prstGeom>
              <a:noFill/>
              <a:ln>
                <a:noFill/>
              </a:ln>
            </p:spPr>
            <p:txBody>
              <a:bodyPr wrap="none" lIns="0" tIns="0" rIns="0" bIns="0" anchor="t" anchorCtr="0">
                <a:spAutoFit/>
              </a:bodyPr>
              <a:lstStyle/>
              <a:p>
                <a:pPr algn="l"/>
                <a:r>
                  <a:rPr lang="vi-VN" sz="1650" b="1" dirty="0">
                    <a:solidFill>
                      <a:schemeClr val="accent1"/>
                    </a:solidFill>
                    <a:latin typeface="+mn-lt"/>
                    <a:ea typeface="+mn-ea"/>
                    <a:cs typeface="+mn-cs"/>
                  </a:rPr>
                  <a:t>Products</a:t>
                </a:r>
              </a:p>
            </p:txBody>
          </p:sp>
          <p:grpSp>
            <p:nvGrpSpPr>
              <p:cNvPr id="52" name="Group 52"/>
              <p:cNvGrpSpPr/>
              <p:nvPr/>
            </p:nvGrpSpPr>
            <p:grpSpPr>
              <a:xfrm>
                <a:off x="602742" y="4171950"/>
                <a:ext cx="2580082" cy="1261301"/>
                <a:chOff x="602742" y="4171950"/>
                <a:chExt cx="2580082" cy="1261301"/>
              </a:xfrm>
            </p:grpSpPr>
            <p:sp>
              <p:nvSpPr>
                <p:cNvPr id="42" name="Rectangle 42"/>
                <p:cNvSpPr/>
                <p:nvPr/>
              </p:nvSpPr>
              <p:spPr>
                <a:xfrm>
                  <a:off x="609600" y="4171950"/>
                  <a:ext cx="266700" cy="209550"/>
                </a:xfrm>
                <a:prstGeom prst="roundRect">
                  <a:avLst>
                    <a:gd name="adj" fmla="val 27273"/>
                  </a:avLst>
                </a:prstGeom>
                <a:solidFill>
                  <a:schemeClr val="accent1"/>
                </a:solidFill>
                <a:ln>
                  <a:noFill/>
                </a:ln>
              </p:spPr>
            </p:sp>
            <p:sp>
              <p:nvSpPr>
                <p:cNvPr id="43" name="TextBox 43"/>
                <p:cNvSpPr txBox="1"/>
                <p:nvPr/>
              </p:nvSpPr>
              <p:spPr>
                <a:xfrm>
                  <a:off x="625198" y="4178618"/>
                  <a:ext cx="235504"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PK</a:t>
                  </a:r>
                </a:p>
              </p:txBody>
            </p:sp>
            <p:sp>
              <p:nvSpPr>
                <p:cNvPr id="44" name="TextBox 44"/>
                <p:cNvSpPr txBox="1"/>
                <p:nvPr/>
              </p:nvSpPr>
              <p:spPr>
                <a:xfrm>
                  <a:off x="945642" y="4197668"/>
                  <a:ext cx="63162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id · int</a:t>
                  </a:r>
                </a:p>
              </p:txBody>
            </p:sp>
            <p:sp>
              <p:nvSpPr>
                <p:cNvPr id="45" name="Rectangle 45"/>
                <p:cNvSpPr/>
                <p:nvPr/>
              </p:nvSpPr>
              <p:spPr>
                <a:xfrm>
                  <a:off x="609600" y="4495800"/>
                  <a:ext cx="266700" cy="209550"/>
                </a:xfrm>
                <a:prstGeom prst="roundRect">
                  <a:avLst>
                    <a:gd name="adj" fmla="val 27273"/>
                  </a:avLst>
                </a:prstGeom>
                <a:solidFill>
                  <a:schemeClr val="accent2"/>
                </a:solidFill>
                <a:ln>
                  <a:noFill/>
                </a:ln>
              </p:spPr>
            </p:sp>
            <p:sp>
              <p:nvSpPr>
                <p:cNvPr id="46" name="TextBox 46"/>
                <p:cNvSpPr txBox="1"/>
                <p:nvPr/>
              </p:nvSpPr>
              <p:spPr>
                <a:xfrm>
                  <a:off x="625198" y="450246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47" name="TextBox 47"/>
                <p:cNvSpPr txBox="1"/>
                <p:nvPr/>
              </p:nvSpPr>
              <p:spPr>
                <a:xfrm>
                  <a:off x="945642" y="4521518"/>
                  <a:ext cx="158345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store_id → Stores</a:t>
                  </a:r>
                </a:p>
              </p:txBody>
            </p:sp>
            <p:sp>
              <p:nvSpPr>
                <p:cNvPr id="48" name="Rectangle 48"/>
                <p:cNvSpPr/>
                <p:nvPr/>
              </p:nvSpPr>
              <p:spPr>
                <a:xfrm>
                  <a:off x="609600" y="4819650"/>
                  <a:ext cx="266700" cy="209550"/>
                </a:xfrm>
                <a:prstGeom prst="roundRect">
                  <a:avLst>
                    <a:gd name="adj" fmla="val 27273"/>
                  </a:avLst>
                </a:prstGeom>
                <a:solidFill>
                  <a:schemeClr val="accent2"/>
                </a:solidFill>
                <a:ln>
                  <a:noFill/>
                </a:ln>
              </p:spPr>
            </p:sp>
            <p:sp>
              <p:nvSpPr>
                <p:cNvPr id="49" name="TextBox 49"/>
                <p:cNvSpPr txBox="1"/>
                <p:nvPr/>
              </p:nvSpPr>
              <p:spPr>
                <a:xfrm>
                  <a:off x="625198" y="482631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50" name="TextBox 50"/>
                <p:cNvSpPr txBox="1"/>
                <p:nvPr/>
              </p:nvSpPr>
              <p:spPr>
                <a:xfrm>
                  <a:off x="945642" y="4845368"/>
                  <a:ext cx="223718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category_id → Categories</a:t>
                  </a:r>
                </a:p>
              </p:txBody>
            </p:sp>
            <p:sp>
              <p:nvSpPr>
                <p:cNvPr id="51" name="TextBox 51"/>
                <p:cNvSpPr txBox="1"/>
                <p:nvPr/>
              </p:nvSpPr>
              <p:spPr>
                <a:xfrm>
                  <a:off x="602742" y="5169218"/>
                  <a:ext cx="132222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price · decimal</a:t>
                  </a:r>
                </a:p>
              </p:txBody>
            </p:sp>
          </p:grpSp>
        </p:grpSp>
        <p:grpSp>
          <p:nvGrpSpPr>
            <p:cNvPr id="67" name="Group 67"/>
            <p:cNvGrpSpPr/>
            <p:nvPr/>
          </p:nvGrpSpPr>
          <p:grpSpPr>
            <a:xfrm>
              <a:off x="4343400" y="3657600"/>
              <a:ext cx="3505200" cy="1905000"/>
              <a:chOff x="4343400" y="3657600"/>
              <a:chExt cx="3505200" cy="1905000"/>
            </a:xfrm>
          </p:grpSpPr>
          <p:sp>
            <p:nvSpPr>
              <p:cNvPr id="54" name="Rectangle 54"/>
              <p:cNvSpPr/>
              <p:nvPr/>
            </p:nvSpPr>
            <p:spPr>
              <a:xfrm>
                <a:off x="4343400" y="3657600"/>
                <a:ext cx="3505200" cy="1905000"/>
              </a:xfrm>
              <a:prstGeom prst="roundRect">
                <a:avLst>
                  <a:gd name="adj" fmla="val 8000"/>
                </a:avLst>
              </a:prstGeom>
              <a:solidFill>
                <a:schemeClr val="lt2"/>
              </a:solidFill>
              <a:ln>
                <a:noFill/>
              </a:ln>
            </p:spPr>
          </p:sp>
          <p:sp>
            <p:nvSpPr>
              <p:cNvPr id="55" name="TextBox 55"/>
              <p:cNvSpPr txBox="1"/>
              <p:nvPr/>
            </p:nvSpPr>
            <p:spPr>
              <a:xfrm>
                <a:off x="4487418" y="3822382"/>
                <a:ext cx="840767" cy="322707"/>
              </a:xfrm>
              <a:prstGeom prst="rect">
                <a:avLst/>
              </a:prstGeom>
              <a:noFill/>
              <a:ln>
                <a:noFill/>
              </a:ln>
            </p:spPr>
            <p:txBody>
              <a:bodyPr wrap="none" lIns="0" tIns="0" rIns="0" bIns="0" anchor="t" anchorCtr="0">
                <a:spAutoFit/>
              </a:bodyPr>
              <a:lstStyle/>
              <a:p>
                <a:pPr algn="l"/>
                <a:r>
                  <a:rPr lang="vi-VN" sz="1650" b="1" dirty="0">
                    <a:solidFill>
                      <a:schemeClr val="accent3"/>
                    </a:solidFill>
                    <a:latin typeface="+mn-lt"/>
                    <a:ea typeface="+mn-ea"/>
                    <a:cs typeface="+mn-cs"/>
                  </a:rPr>
                  <a:t>Orders</a:t>
                </a:r>
              </a:p>
            </p:txBody>
          </p:sp>
          <p:grpSp>
            <p:nvGrpSpPr>
              <p:cNvPr id="66" name="Group 66"/>
              <p:cNvGrpSpPr/>
              <p:nvPr/>
            </p:nvGrpSpPr>
            <p:grpSpPr>
              <a:xfrm>
                <a:off x="4488942" y="4171950"/>
                <a:ext cx="1926359" cy="1261301"/>
                <a:chOff x="4488942" y="4171950"/>
                <a:chExt cx="1926359" cy="1261301"/>
              </a:xfrm>
            </p:grpSpPr>
            <p:sp>
              <p:nvSpPr>
                <p:cNvPr id="56" name="Rectangle 56"/>
                <p:cNvSpPr/>
                <p:nvPr/>
              </p:nvSpPr>
              <p:spPr>
                <a:xfrm>
                  <a:off x="4495800" y="4171950"/>
                  <a:ext cx="266700" cy="209550"/>
                </a:xfrm>
                <a:prstGeom prst="roundRect">
                  <a:avLst>
                    <a:gd name="adj" fmla="val 27273"/>
                  </a:avLst>
                </a:prstGeom>
                <a:solidFill>
                  <a:schemeClr val="accent1"/>
                </a:solidFill>
                <a:ln>
                  <a:noFill/>
                </a:ln>
              </p:spPr>
            </p:sp>
            <p:sp>
              <p:nvSpPr>
                <p:cNvPr id="57" name="TextBox 57"/>
                <p:cNvSpPr txBox="1"/>
                <p:nvPr/>
              </p:nvSpPr>
              <p:spPr>
                <a:xfrm>
                  <a:off x="4511398" y="4178618"/>
                  <a:ext cx="235504"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PK</a:t>
                  </a:r>
                </a:p>
              </p:txBody>
            </p:sp>
            <p:sp>
              <p:nvSpPr>
                <p:cNvPr id="58" name="TextBox 58"/>
                <p:cNvSpPr txBox="1"/>
                <p:nvPr/>
              </p:nvSpPr>
              <p:spPr>
                <a:xfrm>
                  <a:off x="4831842" y="4197668"/>
                  <a:ext cx="63162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id · int</a:t>
                  </a:r>
                </a:p>
              </p:txBody>
            </p:sp>
            <p:sp>
              <p:nvSpPr>
                <p:cNvPr id="59" name="Rectangle 59"/>
                <p:cNvSpPr/>
                <p:nvPr/>
              </p:nvSpPr>
              <p:spPr>
                <a:xfrm>
                  <a:off x="4495800" y="4495800"/>
                  <a:ext cx="266700" cy="209550"/>
                </a:xfrm>
                <a:prstGeom prst="roundRect">
                  <a:avLst>
                    <a:gd name="adj" fmla="val 27273"/>
                  </a:avLst>
                </a:prstGeom>
                <a:solidFill>
                  <a:schemeClr val="accent2"/>
                </a:solidFill>
                <a:ln>
                  <a:noFill/>
                </a:ln>
              </p:spPr>
            </p:sp>
            <p:sp>
              <p:nvSpPr>
                <p:cNvPr id="60" name="TextBox 60"/>
                <p:cNvSpPr txBox="1"/>
                <p:nvPr/>
              </p:nvSpPr>
              <p:spPr>
                <a:xfrm>
                  <a:off x="4511398" y="450246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61" name="TextBox 61"/>
                <p:cNvSpPr txBox="1"/>
                <p:nvPr/>
              </p:nvSpPr>
              <p:spPr>
                <a:xfrm>
                  <a:off x="4831842" y="4521518"/>
                  <a:ext cx="1383757"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user_id → Users</a:t>
                  </a:r>
                </a:p>
              </p:txBody>
            </p:sp>
            <p:sp>
              <p:nvSpPr>
                <p:cNvPr id="62" name="Rectangle 62"/>
                <p:cNvSpPr/>
                <p:nvPr/>
              </p:nvSpPr>
              <p:spPr>
                <a:xfrm>
                  <a:off x="4495800" y="4819650"/>
                  <a:ext cx="266700" cy="209550"/>
                </a:xfrm>
                <a:prstGeom prst="roundRect">
                  <a:avLst>
                    <a:gd name="adj" fmla="val 27273"/>
                  </a:avLst>
                </a:prstGeom>
                <a:solidFill>
                  <a:schemeClr val="accent2"/>
                </a:solidFill>
                <a:ln>
                  <a:noFill/>
                </a:ln>
              </p:spPr>
            </p:sp>
            <p:sp>
              <p:nvSpPr>
                <p:cNvPr id="63" name="TextBox 63"/>
                <p:cNvSpPr txBox="1"/>
                <p:nvPr/>
              </p:nvSpPr>
              <p:spPr>
                <a:xfrm>
                  <a:off x="4511398" y="482631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64" name="TextBox 64"/>
                <p:cNvSpPr txBox="1"/>
                <p:nvPr/>
              </p:nvSpPr>
              <p:spPr>
                <a:xfrm>
                  <a:off x="4831842" y="4845368"/>
                  <a:ext cx="1583459"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store_id → Stores</a:t>
                  </a:r>
                </a:p>
              </p:txBody>
            </p:sp>
            <p:sp>
              <p:nvSpPr>
                <p:cNvPr id="65" name="TextBox 65"/>
                <p:cNvSpPr txBox="1"/>
                <p:nvPr/>
              </p:nvSpPr>
              <p:spPr>
                <a:xfrm>
                  <a:off x="4488942" y="5169218"/>
                  <a:ext cx="1258614"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status · enum</a:t>
                  </a:r>
                </a:p>
              </p:txBody>
            </p:sp>
          </p:grpSp>
        </p:grpSp>
        <p:grpSp>
          <p:nvGrpSpPr>
            <p:cNvPr id="81" name="Group 81"/>
            <p:cNvGrpSpPr/>
            <p:nvPr/>
          </p:nvGrpSpPr>
          <p:grpSpPr>
            <a:xfrm>
              <a:off x="8229600" y="3657600"/>
              <a:ext cx="3505200" cy="1905000"/>
              <a:chOff x="8229600" y="3657600"/>
              <a:chExt cx="3505200" cy="1905000"/>
            </a:xfrm>
          </p:grpSpPr>
          <p:sp>
            <p:nvSpPr>
              <p:cNvPr id="68" name="Rectangle 68"/>
              <p:cNvSpPr/>
              <p:nvPr/>
            </p:nvSpPr>
            <p:spPr>
              <a:xfrm>
                <a:off x="8229600" y="3657600"/>
                <a:ext cx="3505200" cy="1905000"/>
              </a:xfrm>
              <a:prstGeom prst="roundRect">
                <a:avLst>
                  <a:gd name="adj" fmla="val 8000"/>
                </a:avLst>
              </a:prstGeom>
              <a:solidFill>
                <a:schemeClr val="lt2"/>
              </a:solidFill>
              <a:ln>
                <a:noFill/>
              </a:ln>
            </p:spPr>
          </p:sp>
          <p:sp>
            <p:nvSpPr>
              <p:cNvPr id="69" name="TextBox 69"/>
              <p:cNvSpPr txBox="1"/>
              <p:nvPr/>
            </p:nvSpPr>
            <p:spPr>
              <a:xfrm>
                <a:off x="8373618" y="3822382"/>
                <a:ext cx="1349427" cy="322707"/>
              </a:xfrm>
              <a:prstGeom prst="rect">
                <a:avLst/>
              </a:prstGeom>
              <a:noFill/>
              <a:ln>
                <a:noFill/>
              </a:ln>
            </p:spPr>
            <p:txBody>
              <a:bodyPr wrap="none" lIns="0" tIns="0" rIns="0" bIns="0" anchor="t" anchorCtr="0">
                <a:spAutoFit/>
              </a:bodyPr>
              <a:lstStyle/>
              <a:p>
                <a:pPr algn="l"/>
                <a:r>
                  <a:rPr lang="vi-VN" sz="1650" b="1" dirty="0">
                    <a:solidFill>
                      <a:schemeClr val="accent2"/>
                    </a:solidFill>
                    <a:latin typeface="+mn-lt"/>
                    <a:ea typeface="+mn-ea"/>
                    <a:cs typeface="+mn-cs"/>
                  </a:rPr>
                  <a:t>OrderItems</a:t>
                </a:r>
              </a:p>
            </p:txBody>
          </p:sp>
          <p:grpSp>
            <p:nvGrpSpPr>
              <p:cNvPr id="80" name="Group 80"/>
              <p:cNvGrpSpPr/>
              <p:nvPr/>
            </p:nvGrpSpPr>
            <p:grpSpPr>
              <a:xfrm>
                <a:off x="8375142" y="4171950"/>
                <a:ext cx="2325911" cy="1261301"/>
                <a:chOff x="8375142" y="4171950"/>
                <a:chExt cx="2325911" cy="1261301"/>
              </a:xfrm>
            </p:grpSpPr>
            <p:sp>
              <p:nvSpPr>
                <p:cNvPr id="70" name="Rectangle 70"/>
                <p:cNvSpPr/>
                <p:nvPr/>
              </p:nvSpPr>
              <p:spPr>
                <a:xfrm>
                  <a:off x="8382000" y="4171950"/>
                  <a:ext cx="266700" cy="209550"/>
                </a:xfrm>
                <a:prstGeom prst="roundRect">
                  <a:avLst>
                    <a:gd name="adj" fmla="val 27273"/>
                  </a:avLst>
                </a:prstGeom>
                <a:solidFill>
                  <a:schemeClr val="accent1"/>
                </a:solidFill>
                <a:ln>
                  <a:noFill/>
                </a:ln>
              </p:spPr>
            </p:sp>
            <p:sp>
              <p:nvSpPr>
                <p:cNvPr id="71" name="TextBox 71"/>
                <p:cNvSpPr txBox="1"/>
                <p:nvPr/>
              </p:nvSpPr>
              <p:spPr>
                <a:xfrm>
                  <a:off x="8397598" y="4178618"/>
                  <a:ext cx="235504" cy="264033"/>
                </a:xfrm>
                <a:prstGeom prst="rect">
                  <a:avLst/>
                </a:prstGeom>
                <a:noFill/>
                <a:ln>
                  <a:noFill/>
                </a:ln>
              </p:spPr>
              <p:txBody>
                <a:bodyPr wrap="none" lIns="0" tIns="0" rIns="0" bIns="0" anchor="t" anchorCtr="0">
                  <a:spAutoFit/>
                </a:bodyPr>
                <a:lstStyle/>
                <a:p>
                  <a:pPr algn="ctr"/>
                  <a:r>
                    <a:rPr lang="vi-VN" sz="1350" b="1" dirty="0">
                      <a:solidFill>
                        <a:srgbClr val="FFFFFF"/>
                      </a:solidFill>
                      <a:latin typeface="+mn-lt"/>
                      <a:ea typeface="+mn-ea"/>
                      <a:cs typeface="+mn-cs"/>
                    </a:rPr>
                    <a:t>PK</a:t>
                  </a:r>
                </a:p>
              </p:txBody>
            </p:sp>
            <p:sp>
              <p:nvSpPr>
                <p:cNvPr id="72" name="TextBox 72"/>
                <p:cNvSpPr txBox="1"/>
                <p:nvPr/>
              </p:nvSpPr>
              <p:spPr>
                <a:xfrm>
                  <a:off x="8718042" y="4197668"/>
                  <a:ext cx="631622"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id · int</a:t>
                  </a:r>
                </a:p>
              </p:txBody>
            </p:sp>
            <p:sp>
              <p:nvSpPr>
                <p:cNvPr id="73" name="Rectangle 73"/>
                <p:cNvSpPr/>
                <p:nvPr/>
              </p:nvSpPr>
              <p:spPr>
                <a:xfrm>
                  <a:off x="8382000" y="4495800"/>
                  <a:ext cx="266700" cy="209550"/>
                </a:xfrm>
                <a:prstGeom prst="roundRect">
                  <a:avLst>
                    <a:gd name="adj" fmla="val 27273"/>
                  </a:avLst>
                </a:prstGeom>
                <a:solidFill>
                  <a:schemeClr val="accent2"/>
                </a:solidFill>
                <a:ln>
                  <a:noFill/>
                </a:ln>
              </p:spPr>
            </p:sp>
            <p:sp>
              <p:nvSpPr>
                <p:cNvPr id="74" name="TextBox 74"/>
                <p:cNvSpPr txBox="1"/>
                <p:nvPr/>
              </p:nvSpPr>
              <p:spPr>
                <a:xfrm>
                  <a:off x="8397598" y="450246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75" name="TextBox 75"/>
                <p:cNvSpPr txBox="1"/>
                <p:nvPr/>
              </p:nvSpPr>
              <p:spPr>
                <a:xfrm>
                  <a:off x="8718042" y="4521518"/>
                  <a:ext cx="1619965"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order_id → Orders</a:t>
                  </a:r>
                </a:p>
              </p:txBody>
            </p:sp>
            <p:sp>
              <p:nvSpPr>
                <p:cNvPr id="76" name="Rectangle 76"/>
                <p:cNvSpPr/>
                <p:nvPr/>
              </p:nvSpPr>
              <p:spPr>
                <a:xfrm>
                  <a:off x="8382000" y="4819650"/>
                  <a:ext cx="266700" cy="209550"/>
                </a:xfrm>
                <a:prstGeom prst="roundRect">
                  <a:avLst>
                    <a:gd name="adj" fmla="val 27273"/>
                  </a:avLst>
                </a:prstGeom>
                <a:solidFill>
                  <a:schemeClr val="accent2"/>
                </a:solidFill>
                <a:ln>
                  <a:noFill/>
                </a:ln>
              </p:spPr>
            </p:sp>
            <p:sp>
              <p:nvSpPr>
                <p:cNvPr id="77" name="TextBox 77"/>
                <p:cNvSpPr txBox="1"/>
                <p:nvPr/>
              </p:nvSpPr>
              <p:spPr>
                <a:xfrm>
                  <a:off x="8397598" y="4826318"/>
                  <a:ext cx="235504" cy="264033"/>
                </a:xfrm>
                <a:prstGeom prst="rect">
                  <a:avLst/>
                </a:prstGeom>
                <a:noFill/>
                <a:ln>
                  <a:noFill/>
                </a:ln>
              </p:spPr>
              <p:txBody>
                <a:bodyPr wrap="none" lIns="0" tIns="0" rIns="0" bIns="0" anchor="t" anchorCtr="0">
                  <a:spAutoFit/>
                </a:bodyPr>
                <a:lstStyle/>
                <a:p>
                  <a:pPr algn="ctr"/>
                  <a:r>
                    <a:rPr lang="vi-VN" sz="1350" b="1" dirty="0">
                      <a:solidFill>
                        <a:schemeClr val="dk1"/>
                      </a:solidFill>
                      <a:latin typeface="+mn-lt"/>
                      <a:ea typeface="+mn-ea"/>
                      <a:cs typeface="+mn-cs"/>
                    </a:rPr>
                    <a:t>FK</a:t>
                  </a:r>
                </a:p>
              </p:txBody>
            </p:sp>
            <p:sp>
              <p:nvSpPr>
                <p:cNvPr id="78" name="TextBox 78"/>
                <p:cNvSpPr txBox="1"/>
                <p:nvPr/>
              </p:nvSpPr>
              <p:spPr>
                <a:xfrm>
                  <a:off x="8718042" y="4845368"/>
                  <a:ext cx="198301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product_id → Products</a:t>
                  </a:r>
                </a:p>
              </p:txBody>
            </p:sp>
            <p:sp>
              <p:nvSpPr>
                <p:cNvPr id="79" name="TextBox 79"/>
                <p:cNvSpPr txBox="1"/>
                <p:nvPr/>
              </p:nvSpPr>
              <p:spPr>
                <a:xfrm>
                  <a:off x="8375142" y="5169218"/>
                  <a:ext cx="777011" cy="264033"/>
                </a:xfrm>
                <a:prstGeom prst="rect">
                  <a:avLst/>
                </a:prstGeom>
                <a:noFill/>
                <a:ln>
                  <a:noFill/>
                </a:ln>
              </p:spPr>
              <p:txBody>
                <a:bodyPr wrap="none" lIns="0" tIns="0" rIns="0" bIns="0" anchor="t" anchorCtr="0">
                  <a:spAutoFit/>
                </a:bodyPr>
                <a:lstStyle/>
                <a:p>
                  <a:pPr algn="l"/>
                  <a:r>
                    <a:rPr lang="vi-VN" sz="1350" dirty="0">
                      <a:solidFill>
                        <a:schemeClr val="dk1"/>
                      </a:solidFill>
                      <a:latin typeface="+mn-lt"/>
                      <a:ea typeface="+mn-ea"/>
                      <a:cs typeface="+mn-cs"/>
                    </a:rPr>
                    <a:t>qty · int</a:t>
                  </a:r>
                </a:p>
              </p:txBody>
            </p:sp>
          </p:grpSp>
        </p:grpSp>
        <p:sp>
          <p:nvSpPr>
            <p:cNvPr id="82" name="Line 82"/>
            <p:cNvSpPr/>
            <p:nvPr/>
          </p:nvSpPr>
          <p:spPr>
            <a:xfrm>
              <a:off x="3962400" y="2476500"/>
              <a:ext cx="342900" cy="1"/>
            </a:xfrm>
            <a:prstGeom prst="line">
              <a:avLst/>
            </a:prstGeom>
            <a:noFill/>
            <a:ln w="19050">
              <a:solidFill>
                <a:schemeClr val="accent1"/>
              </a:solidFill>
              <a:tailEnd type="triangle" w="lg" len="lg"/>
            </a:ln>
          </p:spPr>
        </p:sp>
        <p:sp>
          <p:nvSpPr>
            <p:cNvPr id="83" name="Line 83"/>
            <p:cNvSpPr/>
            <p:nvPr/>
          </p:nvSpPr>
          <p:spPr>
            <a:xfrm>
              <a:off x="7848600" y="4610100"/>
              <a:ext cx="342900" cy="1"/>
            </a:xfrm>
            <a:prstGeom prst="line">
              <a:avLst/>
            </a:prstGeom>
            <a:noFill/>
            <a:ln w="19050">
              <a:solidFill>
                <a:schemeClr val="accent1"/>
              </a:solidFill>
              <a:tailEnd type="triangle" w="lg" len="lg"/>
            </a:ln>
          </p:spPr>
        </p:sp>
        <p:sp>
          <p:nvSpPr>
            <p:cNvPr id="84" name="Line 84"/>
            <p:cNvSpPr/>
            <p:nvPr/>
          </p:nvSpPr>
          <p:spPr>
            <a:xfrm>
              <a:off x="2209800" y="3429000"/>
              <a:ext cx="1" cy="190500"/>
            </a:xfrm>
            <a:prstGeom prst="line">
              <a:avLst/>
            </a:prstGeom>
            <a:noFill/>
            <a:ln w="19050">
              <a:solidFill>
                <a:schemeClr val="accent1"/>
              </a:solidFill>
              <a:tailEnd type="triangle" w="lg" len="lg"/>
            </a:ln>
          </p:spPr>
        </p:sp>
        <p:sp>
          <p:nvSpPr>
            <p:cNvPr id="85" name="Line 85"/>
            <p:cNvSpPr/>
            <p:nvPr/>
          </p:nvSpPr>
          <p:spPr>
            <a:xfrm>
              <a:off x="6096000" y="3429000"/>
              <a:ext cx="1" cy="190500"/>
            </a:xfrm>
            <a:prstGeom prst="line">
              <a:avLst/>
            </a:prstGeom>
            <a:noFill/>
            <a:ln w="19050">
              <a:solidFill>
                <a:schemeClr val="accent1"/>
              </a:solidFill>
              <a:tailEnd type="triangle" w="lg" len="lg"/>
            </a:ln>
          </p:spPr>
        </p:sp>
        <p:sp>
          <p:nvSpPr>
            <p:cNvPr id="86" name="Line 86"/>
            <p:cNvSpPr/>
            <p:nvPr/>
          </p:nvSpPr>
          <p:spPr>
            <a:xfrm>
              <a:off x="9982200" y="3429000"/>
              <a:ext cx="1" cy="190500"/>
            </a:xfrm>
            <a:prstGeom prst="line">
              <a:avLst/>
            </a:prstGeom>
            <a:noFill/>
            <a:ln w="19050">
              <a:solidFill>
                <a:schemeClr val="accent1"/>
              </a:solidFill>
              <a:tailEnd type="triangle" w="lg" len="lg"/>
            </a:ln>
          </p:spPr>
        </p:sp>
      </p:grpSp>
      <p:grpSp>
        <p:nvGrpSpPr>
          <p:cNvPr id="90" name="Group 90"/>
          <p:cNvGrpSpPr/>
          <p:nvPr/>
        </p:nvGrpSpPr>
        <p:grpSpPr>
          <a:xfrm>
            <a:off x="450342" y="5816918"/>
            <a:ext cx="10788997" cy="264033"/>
            <a:chOff x="450342" y="5816918"/>
            <a:chExt cx="10788997" cy="264033"/>
          </a:xfrm>
        </p:grpSpPr>
        <p:sp>
          <p:nvSpPr>
            <p:cNvPr id="88" name="TextBox 88"/>
            <p:cNvSpPr txBox="1"/>
            <p:nvPr/>
          </p:nvSpPr>
          <p:spPr>
            <a:xfrm>
              <a:off x="450342" y="5816918"/>
              <a:ext cx="3869352"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UNIQUE: email (Users) · name (Categories)</a:t>
              </a:r>
            </a:p>
          </p:txBody>
        </p:sp>
        <p:sp>
          <p:nvSpPr>
            <p:cNvPr id="89" name="TextBox 89"/>
            <p:cNvSpPr txBox="1"/>
            <p:nvPr/>
          </p:nvSpPr>
          <p:spPr>
            <a:xfrm>
              <a:off x="6279642" y="5816918"/>
              <a:ext cx="4959697" cy="264033"/>
            </a:xfrm>
            <a:prstGeom prst="rect">
              <a:avLst/>
            </a:prstGeom>
            <a:noFill/>
            <a:ln>
              <a:noFill/>
            </a:ln>
          </p:spPr>
          <p:txBody>
            <a:bodyPr wrap="none" lIns="0" tIns="0" rIns="0" bIns="0" anchor="t" anchorCtr="0">
              <a:spAutoFit/>
            </a:bodyPr>
            <a:lstStyle/>
            <a:p>
              <a:pPr algn="l"/>
              <a:r>
                <a:rPr lang="vi-VN" sz="1350" dirty="0">
                  <a:solidFill>
                    <a:srgbClr val="EA4335"/>
                  </a:solidFill>
                  <a:latin typeface="+mn-lt"/>
                  <a:ea typeface="+mn-ea"/>
                  <a:cs typeface="+mn-cs"/>
                </a:rPr>
                <a:t>ERD giản lược — bỏ bảng phụ (address, payment, review)</a:t>
              </a:r>
            </a:p>
          </p:txBody>
        </p:sp>
      </p:grpSp>
      <p:grpSp>
        <p:nvGrpSpPr>
          <p:cNvPr id="94" name="Group 94"/>
          <p:cNvGrpSpPr/>
          <p:nvPr/>
        </p:nvGrpSpPr>
        <p:grpSpPr>
          <a:xfrm>
            <a:off x="450342" y="6416992"/>
            <a:ext cx="11291316" cy="264033"/>
            <a:chOff x="450342" y="6416992"/>
            <a:chExt cx="11291316" cy="264033"/>
          </a:xfrm>
        </p:grpSpPr>
        <p:sp>
          <p:nvSpPr>
            <p:cNvPr id="91" name="TextBox 91"/>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92" name="TextBox 92"/>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93" name="TextBox 93"/>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07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597218"/>
            <a:ext cx="5049295" cy="898017"/>
            <a:chOff x="441198" y="597218"/>
            <a:chExt cx="5049295" cy="898017"/>
          </a:xfrm>
        </p:grpSpPr>
        <p:sp>
          <p:nvSpPr>
            <p:cNvPr id="2" name="TextBox 2"/>
            <p:cNvSpPr txBox="1"/>
            <p:nvPr/>
          </p:nvSpPr>
          <p:spPr>
            <a:xfrm>
              <a:off x="450342" y="597218"/>
              <a:ext cx="275005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TRD · PHI CHỨC NĂNG VÀ TIẾN ĐỘ</a:t>
              </a:r>
            </a:p>
          </p:txBody>
        </p:sp>
        <p:sp>
          <p:nvSpPr>
            <p:cNvPr id="3" name="TextBox 3"/>
            <p:cNvSpPr txBox="1"/>
            <p:nvPr/>
          </p:nvSpPr>
          <p:spPr>
            <a:xfrm>
              <a:off x="441198" y="879158"/>
              <a:ext cx="5049295"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NFR và lộ trình 10 tuần</a:t>
              </a:r>
            </a:p>
          </p:txBody>
        </p:sp>
      </p:grpSp>
      <p:grpSp>
        <p:nvGrpSpPr>
          <p:cNvPr id="37" name="Group 37"/>
          <p:cNvGrpSpPr/>
          <p:nvPr/>
        </p:nvGrpSpPr>
        <p:grpSpPr>
          <a:xfrm>
            <a:off x="457200" y="1524000"/>
            <a:ext cx="5334000" cy="3810000"/>
            <a:chOff x="457200" y="1524000"/>
            <a:chExt cx="5334000" cy="3810000"/>
          </a:xfrm>
        </p:grpSpPr>
        <p:sp>
          <p:nvSpPr>
            <p:cNvPr id="5" name="Rectangle 5"/>
            <p:cNvSpPr/>
            <p:nvPr/>
          </p:nvSpPr>
          <p:spPr>
            <a:xfrm>
              <a:off x="457200" y="1524000"/>
              <a:ext cx="5334000" cy="3810000"/>
            </a:xfrm>
            <a:prstGeom prst="roundRect">
              <a:avLst>
                <a:gd name="adj" fmla="val 4000"/>
              </a:avLst>
            </a:prstGeom>
            <a:solidFill>
              <a:schemeClr val="lt2"/>
            </a:solidFill>
            <a:ln>
              <a:noFill/>
            </a:ln>
          </p:spPr>
        </p:sp>
        <p:sp>
          <p:nvSpPr>
            <p:cNvPr id="6" name="TextBox 6"/>
            <p:cNvSpPr txBox="1"/>
            <p:nvPr/>
          </p:nvSpPr>
          <p:spPr>
            <a:xfrm>
              <a:off x="752856" y="1672590"/>
              <a:ext cx="2774793"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Mục tiêu phi chức năng</a:t>
              </a:r>
            </a:p>
          </p:txBody>
        </p:sp>
        <p:grpSp>
          <p:nvGrpSpPr>
            <p:cNvPr id="35" name="Group 35"/>
            <p:cNvGrpSpPr/>
            <p:nvPr/>
          </p:nvGrpSpPr>
          <p:grpSpPr>
            <a:xfrm>
              <a:off x="800100" y="2171700"/>
              <a:ext cx="4231473" cy="2455545"/>
              <a:chOff x="800100" y="2171700"/>
              <a:chExt cx="4231473" cy="2455545"/>
            </a:xfrm>
          </p:grpSpPr>
          <p:grpSp>
            <p:nvGrpSpPr>
              <p:cNvPr id="11" name="Group 11"/>
              <p:cNvGrpSpPr/>
              <p:nvPr/>
            </p:nvGrpSpPr>
            <p:grpSpPr>
              <a:xfrm>
                <a:off x="800100" y="2171700"/>
                <a:ext cx="228599" cy="228599"/>
                <a:chOff x="800100" y="2171700"/>
                <a:chExt cx="228599" cy="228599"/>
              </a:xfrm>
            </p:grpSpPr>
            <p:sp>
              <p:nvSpPr>
                <p:cNvPr id="7" name="Freeform 7"/>
                <p:cNvSpPr/>
                <p:nvPr/>
              </p:nvSpPr>
              <p:spPr>
                <a:xfrm>
                  <a:off x="800100" y="21717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chemeClr val="accent1"/>
                  </a:solidFill>
                </a:ln>
              </p:spPr>
            </p:sp>
            <p:sp>
              <p:nvSpPr>
                <p:cNvPr id="8" name="Freeform 8"/>
                <p:cNvSpPr/>
                <p:nvPr/>
              </p:nvSpPr>
              <p:spPr>
                <a:xfrm>
                  <a:off x="901700" y="227330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25400">
                  <a:solidFill>
                    <a:schemeClr val="accent1"/>
                  </a:solidFill>
                </a:ln>
              </p:spPr>
            </p:sp>
            <p:sp>
              <p:nvSpPr>
                <p:cNvPr id="9" name="Freeform 9"/>
                <p:cNvSpPr/>
                <p:nvPr/>
              </p:nvSpPr>
              <p:spPr>
                <a:xfrm>
                  <a:off x="932307" y="2235200"/>
                  <a:ext cx="32893" cy="32893"/>
                </a:xfrm>
                <a:custGeom>
                  <a:avLst/>
                  <a:gdLst/>
                  <a:ahLst/>
                  <a:cxnLst/>
                  <a:rect l="l" t="t" r="r" b="b"/>
                  <a:pathLst>
                    <a:path w="32893" h="32893">
                      <a:moveTo>
                        <a:pt x="0" y="32893"/>
                      </a:moveTo>
                      <a:lnTo>
                        <a:pt x="32893" y="0"/>
                      </a:lnTo>
                    </a:path>
                  </a:pathLst>
                </a:custGeom>
                <a:noFill/>
                <a:ln w="25400">
                  <a:solidFill>
                    <a:schemeClr val="accent1"/>
                  </a:solidFill>
                </a:ln>
              </p:spPr>
            </p:sp>
            <p:sp>
              <p:nvSpPr>
                <p:cNvPr id="10" name="Freeform 10"/>
                <p:cNvSpPr/>
                <p:nvPr/>
              </p:nvSpPr>
              <p:spPr>
                <a:xfrm>
                  <a:off x="850900" y="2222500"/>
                  <a:ext cx="63500" cy="63500"/>
                </a:xfrm>
                <a:custGeom>
                  <a:avLst/>
                  <a:gdLst/>
                  <a:ahLst/>
                  <a:cxnLst/>
                  <a:rect l="l" t="t" r="r" b="b"/>
                  <a:pathLst>
                    <a:path w="63500" h="63500">
                      <a:moveTo>
                        <a:pt x="0" y="63500"/>
                      </a:moveTo>
                      <a:cubicBezTo>
                        <a:pt x="0" y="28430"/>
                        <a:pt x="28430" y="0"/>
                        <a:pt x="63500" y="0"/>
                      </a:cubicBezTo>
                    </a:path>
                  </a:pathLst>
                </a:custGeom>
                <a:noFill/>
                <a:ln w="25400">
                  <a:solidFill>
                    <a:schemeClr val="accent1"/>
                  </a:solidFill>
                </a:ln>
              </p:spPr>
            </p:sp>
          </p:grpSp>
          <p:sp>
            <p:nvSpPr>
              <p:cNvPr id="12" name="TextBox 12"/>
              <p:cNvSpPr txBox="1"/>
              <p:nvPr/>
            </p:nvSpPr>
            <p:spPr>
              <a:xfrm>
                <a:off x="1211580" y="2200275"/>
                <a:ext cx="381999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Hiệu năng — tải trang &lt; 3s, API &lt; 500ms</a:t>
                </a:r>
              </a:p>
            </p:txBody>
          </p:sp>
          <p:grpSp>
            <p:nvGrpSpPr>
              <p:cNvPr id="16" name="Group 16"/>
              <p:cNvGrpSpPr/>
              <p:nvPr/>
            </p:nvGrpSpPr>
            <p:grpSpPr>
              <a:xfrm>
                <a:off x="825500" y="2705100"/>
                <a:ext cx="177800" cy="228600"/>
                <a:chOff x="825500" y="2705100"/>
                <a:chExt cx="177800" cy="228600"/>
              </a:xfrm>
            </p:grpSpPr>
            <p:sp>
              <p:nvSpPr>
                <p:cNvPr id="13" name="Freeform 13"/>
                <p:cNvSpPr/>
                <p:nvPr/>
              </p:nvSpPr>
              <p:spPr>
                <a:xfrm>
                  <a:off x="825500" y="2806700"/>
                  <a:ext cx="177800" cy="127000"/>
                </a:xfrm>
                <a:custGeom>
                  <a:avLst/>
                  <a:gdLst/>
                  <a:ahLst/>
                  <a:cxnLst/>
                  <a:rect l="l" t="t" r="r" b="b"/>
                  <a:pathLst>
                    <a:path w="177800" h="127000">
                      <a:moveTo>
                        <a:pt x="0" y="25400"/>
                      </a:moveTo>
                      <a:cubicBezTo>
                        <a:pt x="0" y="11372"/>
                        <a:pt x="11372" y="0"/>
                        <a:pt x="25400" y="0"/>
                      </a:cubicBezTo>
                      <a:lnTo>
                        <a:pt x="152400" y="0"/>
                      </a:lnTo>
                      <a:cubicBezTo>
                        <a:pt x="166428" y="0"/>
                        <a:pt x="177800" y="11372"/>
                        <a:pt x="177800" y="25400"/>
                      </a:cubicBezTo>
                      <a:lnTo>
                        <a:pt x="177800" y="101600"/>
                      </a:lnTo>
                      <a:cubicBezTo>
                        <a:pt x="177800" y="115628"/>
                        <a:pt x="166428" y="127000"/>
                        <a:pt x="152400" y="127000"/>
                      </a:cubicBezTo>
                      <a:lnTo>
                        <a:pt x="25400" y="127000"/>
                      </a:lnTo>
                      <a:cubicBezTo>
                        <a:pt x="11372" y="127000"/>
                        <a:pt x="0" y="115628"/>
                        <a:pt x="0" y="101600"/>
                      </a:cubicBezTo>
                      <a:lnTo>
                        <a:pt x="0" y="25400"/>
                      </a:lnTo>
                    </a:path>
                  </a:pathLst>
                </a:custGeom>
                <a:noFill/>
                <a:ln w="25400">
                  <a:solidFill>
                    <a:schemeClr val="accent1"/>
                  </a:solidFill>
                </a:ln>
              </p:spPr>
            </p:sp>
            <p:sp>
              <p:nvSpPr>
                <p:cNvPr id="14" name="Freeform 14"/>
                <p:cNvSpPr/>
                <p:nvPr/>
              </p:nvSpPr>
              <p:spPr>
                <a:xfrm>
                  <a:off x="901700" y="285750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25400">
                  <a:solidFill>
                    <a:schemeClr val="accent1"/>
                  </a:solidFill>
                </a:ln>
              </p:spPr>
            </p:sp>
            <p:sp>
              <p:nvSpPr>
                <p:cNvPr id="15" name="Freeform 15"/>
                <p:cNvSpPr/>
                <p:nvPr/>
              </p:nvSpPr>
              <p:spPr>
                <a:xfrm>
                  <a:off x="863600" y="2705100"/>
                  <a:ext cx="101600" cy="101600"/>
                </a:xfrm>
                <a:custGeom>
                  <a:avLst/>
                  <a:gdLst/>
                  <a:ahLst/>
                  <a:cxnLst/>
                  <a:rect l="l" t="t" r="r" b="b"/>
                  <a:pathLst>
                    <a:path w="101600" h="101600">
                      <a:moveTo>
                        <a:pt x="0" y="101600"/>
                      </a:moveTo>
                      <a:lnTo>
                        <a:pt x="0" y="50800"/>
                      </a:lnTo>
                      <a:cubicBezTo>
                        <a:pt x="0" y="22744"/>
                        <a:pt x="22744" y="0"/>
                        <a:pt x="50800" y="0"/>
                      </a:cubicBezTo>
                      <a:cubicBezTo>
                        <a:pt x="78856" y="0"/>
                        <a:pt x="101600" y="22744"/>
                        <a:pt x="101600" y="50800"/>
                      </a:cubicBezTo>
                      <a:lnTo>
                        <a:pt x="101600" y="101600"/>
                      </a:lnTo>
                    </a:path>
                  </a:pathLst>
                </a:custGeom>
                <a:noFill/>
                <a:ln w="25400">
                  <a:solidFill>
                    <a:schemeClr val="accent1"/>
                  </a:solidFill>
                </a:ln>
              </p:spPr>
            </p:sp>
          </p:grpSp>
          <p:sp>
            <p:nvSpPr>
              <p:cNvPr id="17" name="TextBox 17"/>
              <p:cNvSpPr txBox="1"/>
              <p:nvPr/>
            </p:nvSpPr>
            <p:spPr>
              <a:xfrm>
                <a:off x="1211580" y="2733675"/>
                <a:ext cx="367889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Bảo mật — HTTPS, mã hóa, phân quyền</a:t>
                </a:r>
              </a:p>
            </p:txBody>
          </p:sp>
          <p:grpSp>
            <p:nvGrpSpPr>
              <p:cNvPr id="22" name="Group 22"/>
              <p:cNvGrpSpPr/>
              <p:nvPr/>
            </p:nvGrpSpPr>
            <p:grpSpPr>
              <a:xfrm>
                <a:off x="800100" y="3251200"/>
                <a:ext cx="228599" cy="203200"/>
                <a:chOff x="800100" y="3251200"/>
                <a:chExt cx="228599" cy="203200"/>
              </a:xfrm>
            </p:grpSpPr>
            <p:sp>
              <p:nvSpPr>
                <p:cNvPr id="18" name="Freeform 18"/>
                <p:cNvSpPr/>
                <p:nvPr/>
              </p:nvSpPr>
              <p:spPr>
                <a:xfrm>
                  <a:off x="800100" y="325120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chemeClr val="accent1"/>
                  </a:solidFill>
                </a:ln>
              </p:spPr>
            </p:sp>
            <p:sp>
              <p:nvSpPr>
                <p:cNvPr id="19" name="Freeform 19"/>
                <p:cNvSpPr/>
                <p:nvPr/>
              </p:nvSpPr>
              <p:spPr>
                <a:xfrm>
                  <a:off x="800100" y="3352800"/>
                  <a:ext cx="228599" cy="101600"/>
                </a:xfrm>
                <a:custGeom>
                  <a:avLst/>
                  <a:gdLst/>
                  <a:ahLst/>
                  <a:cxnLst/>
                  <a:rect l="l" t="t" r="r" b="b"/>
                  <a:pathLst>
                    <a:path w="228599" h="101600">
                      <a:moveTo>
                        <a:pt x="0" y="38100"/>
                      </a:moveTo>
                      <a:cubicBezTo>
                        <a:pt x="0" y="17058"/>
                        <a:pt x="17058" y="0"/>
                        <a:pt x="38100" y="0"/>
                      </a:cubicBezTo>
                      <a:lnTo>
                        <a:pt x="190500" y="0"/>
                      </a:lnTo>
                      <a:cubicBezTo>
                        <a:pt x="211542" y="0"/>
                        <a:pt x="228599" y="17058"/>
                        <a:pt x="228599" y="38100"/>
                      </a:cubicBezTo>
                      <a:lnTo>
                        <a:pt x="228599" y="63500"/>
                      </a:lnTo>
                      <a:cubicBezTo>
                        <a:pt x="228599" y="84542"/>
                        <a:pt x="211542" y="101600"/>
                        <a:pt x="190500" y="101600"/>
                      </a:cubicBezTo>
                      <a:lnTo>
                        <a:pt x="38100" y="101600"/>
                      </a:lnTo>
                      <a:cubicBezTo>
                        <a:pt x="17058" y="101600"/>
                        <a:pt x="0" y="84542"/>
                        <a:pt x="0" y="63500"/>
                      </a:cubicBezTo>
                      <a:lnTo>
                        <a:pt x="0" y="38100"/>
                      </a:lnTo>
                    </a:path>
                  </a:pathLst>
                </a:custGeom>
                <a:noFill/>
                <a:ln w="25400">
                  <a:solidFill>
                    <a:schemeClr val="accent1"/>
                  </a:solidFill>
                </a:ln>
              </p:spPr>
            </p:sp>
            <p:sp>
              <p:nvSpPr>
                <p:cNvPr id="20" name="Freeform 20"/>
                <p:cNvSpPr/>
                <p:nvPr/>
              </p:nvSpPr>
              <p:spPr>
                <a:xfrm>
                  <a:off x="850900" y="3302000"/>
                  <a:ext cx="9525" cy="9525"/>
                </a:xfrm>
                <a:custGeom>
                  <a:avLst/>
                  <a:gdLst/>
                  <a:ahLst/>
                  <a:cxnLst/>
                  <a:rect l="l" t="t" r="r" b="b"/>
                  <a:pathLst>
                    <a:path w="9525" h="9525">
                      <a:moveTo>
                        <a:pt x="0" y="0"/>
                      </a:moveTo>
                      <a:lnTo>
                        <a:pt x="0" y="127"/>
                      </a:lnTo>
                    </a:path>
                  </a:pathLst>
                </a:custGeom>
                <a:noFill/>
                <a:ln w="25400">
                  <a:solidFill>
                    <a:schemeClr val="accent1"/>
                  </a:solidFill>
                </a:ln>
              </p:spPr>
            </p:sp>
            <p:sp>
              <p:nvSpPr>
                <p:cNvPr id="21" name="Freeform 21"/>
                <p:cNvSpPr/>
                <p:nvPr/>
              </p:nvSpPr>
              <p:spPr>
                <a:xfrm>
                  <a:off x="850900" y="3403599"/>
                  <a:ext cx="9525" cy="9525"/>
                </a:xfrm>
                <a:custGeom>
                  <a:avLst/>
                  <a:gdLst/>
                  <a:ahLst/>
                  <a:cxnLst/>
                  <a:rect l="l" t="t" r="r" b="b"/>
                  <a:pathLst>
                    <a:path w="9525" h="9525">
                      <a:moveTo>
                        <a:pt x="0" y="0"/>
                      </a:moveTo>
                      <a:lnTo>
                        <a:pt x="0" y="127"/>
                      </a:lnTo>
                    </a:path>
                  </a:pathLst>
                </a:custGeom>
                <a:noFill/>
                <a:ln w="25400">
                  <a:solidFill>
                    <a:schemeClr val="accent1"/>
                  </a:solidFill>
                </a:ln>
              </p:spPr>
            </p:sp>
          </p:grpSp>
          <p:sp>
            <p:nvSpPr>
              <p:cNvPr id="23" name="TextBox 23"/>
              <p:cNvSpPr txBox="1"/>
              <p:nvPr/>
            </p:nvSpPr>
            <p:spPr>
              <a:xfrm>
                <a:off x="1211580" y="3267075"/>
                <a:ext cx="2408389"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Khả dụng — 99.5% uptime</a:t>
                </a:r>
              </a:p>
            </p:txBody>
          </p:sp>
          <p:grpSp>
            <p:nvGrpSpPr>
              <p:cNvPr id="27" name="Group 27"/>
              <p:cNvGrpSpPr/>
              <p:nvPr/>
            </p:nvGrpSpPr>
            <p:grpSpPr>
              <a:xfrm>
                <a:off x="812800" y="3784600"/>
                <a:ext cx="203199" cy="203199"/>
                <a:chOff x="812800" y="3784600"/>
                <a:chExt cx="203199" cy="203199"/>
              </a:xfrm>
            </p:grpSpPr>
            <p:sp>
              <p:nvSpPr>
                <p:cNvPr id="24" name="Freeform 24"/>
                <p:cNvSpPr/>
                <p:nvPr/>
              </p:nvSpPr>
              <p:spPr>
                <a:xfrm>
                  <a:off x="812800" y="3835400"/>
                  <a:ext cx="203199" cy="9525"/>
                </a:xfrm>
                <a:custGeom>
                  <a:avLst/>
                  <a:gdLst/>
                  <a:ahLst/>
                  <a:cxnLst/>
                  <a:rect l="l" t="t" r="r" b="b"/>
                  <a:pathLst>
                    <a:path w="203199" h="9525">
                      <a:moveTo>
                        <a:pt x="0" y="0"/>
                      </a:moveTo>
                      <a:lnTo>
                        <a:pt x="203199" y="0"/>
                      </a:lnTo>
                    </a:path>
                  </a:pathLst>
                </a:custGeom>
                <a:noFill/>
                <a:ln w="25400">
                  <a:solidFill>
                    <a:schemeClr val="accent1"/>
                  </a:solidFill>
                </a:ln>
              </p:spPr>
            </p:sp>
            <p:sp>
              <p:nvSpPr>
                <p:cNvPr id="25" name="Freeform 25"/>
                <p:cNvSpPr/>
                <p:nvPr/>
              </p:nvSpPr>
              <p:spPr>
                <a:xfrm>
                  <a:off x="812800" y="3784600"/>
                  <a:ext cx="203199" cy="203199"/>
                </a:xfrm>
                <a:custGeom>
                  <a:avLst/>
                  <a:gdLst/>
                  <a:ahLst/>
                  <a:cxnLst/>
                  <a:rect l="l" t="t" r="r" b="b"/>
                  <a:pathLst>
                    <a:path w="203199" h="203199">
                      <a:moveTo>
                        <a:pt x="0" y="25400"/>
                      </a:moveTo>
                      <a:cubicBezTo>
                        <a:pt x="0" y="11372"/>
                        <a:pt x="11372" y="0"/>
                        <a:pt x="25400" y="0"/>
                      </a:cubicBezTo>
                      <a:lnTo>
                        <a:pt x="177800" y="0"/>
                      </a:lnTo>
                      <a:cubicBezTo>
                        <a:pt x="191828" y="0"/>
                        <a:pt x="203199" y="11372"/>
                        <a:pt x="203199" y="25400"/>
                      </a:cubicBezTo>
                      <a:lnTo>
                        <a:pt x="203199" y="177800"/>
                      </a:lnTo>
                      <a:cubicBezTo>
                        <a:pt x="203199" y="191828"/>
                        <a:pt x="191828" y="203199"/>
                        <a:pt x="177800" y="203199"/>
                      </a:cubicBezTo>
                      <a:lnTo>
                        <a:pt x="25400" y="203199"/>
                      </a:lnTo>
                      <a:cubicBezTo>
                        <a:pt x="11372" y="203199"/>
                        <a:pt x="0" y="191828"/>
                        <a:pt x="0" y="177800"/>
                      </a:cubicBezTo>
                      <a:lnTo>
                        <a:pt x="0" y="25400"/>
                      </a:lnTo>
                    </a:path>
                  </a:pathLst>
                </a:custGeom>
                <a:noFill/>
                <a:ln w="25400">
                  <a:solidFill>
                    <a:schemeClr val="accent1"/>
                  </a:solidFill>
                </a:ln>
              </p:spPr>
            </p:sp>
            <p:sp>
              <p:nvSpPr>
                <p:cNvPr id="26" name="Freeform 26"/>
                <p:cNvSpPr/>
                <p:nvPr/>
              </p:nvSpPr>
              <p:spPr>
                <a:xfrm>
                  <a:off x="863600" y="3784600"/>
                  <a:ext cx="9525" cy="50800"/>
                </a:xfrm>
                <a:custGeom>
                  <a:avLst/>
                  <a:gdLst/>
                  <a:ahLst/>
                  <a:cxnLst/>
                  <a:rect l="l" t="t" r="r" b="b"/>
                  <a:pathLst>
                    <a:path w="9525" h="50800">
                      <a:moveTo>
                        <a:pt x="0" y="0"/>
                      </a:moveTo>
                      <a:lnTo>
                        <a:pt x="0" y="50800"/>
                      </a:lnTo>
                    </a:path>
                  </a:pathLst>
                </a:custGeom>
                <a:noFill/>
                <a:ln w="25400">
                  <a:solidFill>
                    <a:schemeClr val="accent1"/>
                  </a:solidFill>
                </a:ln>
              </p:spPr>
            </p:sp>
          </p:grpSp>
          <p:sp>
            <p:nvSpPr>
              <p:cNvPr id="28" name="TextBox 28"/>
              <p:cNvSpPr txBox="1"/>
              <p:nvPr/>
            </p:nvSpPr>
            <p:spPr>
              <a:xfrm>
                <a:off x="1211580" y="3800475"/>
                <a:ext cx="3031402"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Mở rộng — thiết kế theo module</a:t>
                </a:r>
              </a:p>
            </p:txBody>
          </p:sp>
          <p:grpSp>
            <p:nvGrpSpPr>
              <p:cNvPr id="33" name="Group 33"/>
              <p:cNvGrpSpPr/>
              <p:nvPr/>
            </p:nvGrpSpPr>
            <p:grpSpPr>
              <a:xfrm>
                <a:off x="825500" y="4318000"/>
                <a:ext cx="190500" cy="215899"/>
                <a:chOff x="825500" y="4318000"/>
                <a:chExt cx="190500" cy="215899"/>
              </a:xfrm>
            </p:grpSpPr>
            <p:sp>
              <p:nvSpPr>
                <p:cNvPr id="29" name="Freeform 29"/>
                <p:cNvSpPr/>
                <p:nvPr/>
              </p:nvSpPr>
              <p:spPr>
                <a:xfrm>
                  <a:off x="825500" y="4318000"/>
                  <a:ext cx="152400" cy="203199"/>
                </a:xfrm>
                <a:custGeom>
                  <a:avLst/>
                  <a:gdLst/>
                  <a:ahLst/>
                  <a:cxnLst/>
                  <a:rect l="l" t="t" r="r" b="b"/>
                  <a:pathLst>
                    <a:path w="152400" h="203199">
                      <a:moveTo>
                        <a:pt x="58610" y="203199"/>
                      </a:moveTo>
                      <a:lnTo>
                        <a:pt x="25400" y="203199"/>
                      </a:lnTo>
                      <a:cubicBezTo>
                        <a:pt x="11372" y="203199"/>
                        <a:pt x="0" y="191828"/>
                        <a:pt x="0" y="177800"/>
                      </a:cubicBezTo>
                      <a:lnTo>
                        <a:pt x="0" y="25400"/>
                      </a:lnTo>
                      <a:cubicBezTo>
                        <a:pt x="0" y="11372"/>
                        <a:pt x="11372" y="0"/>
                        <a:pt x="25400" y="0"/>
                      </a:cubicBezTo>
                      <a:lnTo>
                        <a:pt x="127000" y="0"/>
                      </a:lnTo>
                      <a:cubicBezTo>
                        <a:pt x="141028" y="0"/>
                        <a:pt x="152400" y="11372"/>
                        <a:pt x="152400" y="25400"/>
                      </a:cubicBezTo>
                      <a:lnTo>
                        <a:pt x="152400" y="127000"/>
                      </a:lnTo>
                    </a:path>
                  </a:pathLst>
                </a:custGeom>
                <a:noFill/>
                <a:ln w="25400">
                  <a:solidFill>
                    <a:schemeClr val="accent1"/>
                  </a:solidFill>
                </a:ln>
              </p:spPr>
            </p:sp>
            <p:sp>
              <p:nvSpPr>
                <p:cNvPr id="30" name="Freeform 30"/>
                <p:cNvSpPr/>
                <p:nvPr/>
              </p:nvSpPr>
              <p:spPr>
                <a:xfrm>
                  <a:off x="939800" y="4483099"/>
                  <a:ext cx="76200" cy="50800"/>
                </a:xfrm>
                <a:custGeom>
                  <a:avLst/>
                  <a:gdLst/>
                  <a:ahLst/>
                  <a:cxnLst/>
                  <a:rect l="l" t="t" r="r" b="b"/>
                  <a:pathLst>
                    <a:path w="76200" h="50800">
                      <a:moveTo>
                        <a:pt x="0" y="25400"/>
                      </a:moveTo>
                      <a:lnTo>
                        <a:pt x="25400" y="50800"/>
                      </a:lnTo>
                      <a:lnTo>
                        <a:pt x="76200" y="0"/>
                      </a:lnTo>
                    </a:path>
                  </a:pathLst>
                </a:custGeom>
                <a:noFill/>
                <a:ln w="25400">
                  <a:solidFill>
                    <a:schemeClr val="accent1"/>
                  </a:solidFill>
                </a:ln>
              </p:spPr>
            </p:sp>
            <p:sp>
              <p:nvSpPr>
                <p:cNvPr id="31" name="Freeform 31"/>
                <p:cNvSpPr/>
                <p:nvPr/>
              </p:nvSpPr>
              <p:spPr>
                <a:xfrm>
                  <a:off x="876300" y="4368800"/>
                  <a:ext cx="50800" cy="9525"/>
                </a:xfrm>
                <a:custGeom>
                  <a:avLst/>
                  <a:gdLst/>
                  <a:ahLst/>
                  <a:cxnLst/>
                  <a:rect l="l" t="t" r="r" b="b"/>
                  <a:pathLst>
                    <a:path w="50800" h="9525">
                      <a:moveTo>
                        <a:pt x="0" y="0"/>
                      </a:moveTo>
                      <a:lnTo>
                        <a:pt x="50800" y="0"/>
                      </a:lnTo>
                    </a:path>
                  </a:pathLst>
                </a:custGeom>
                <a:noFill/>
                <a:ln w="25400">
                  <a:solidFill>
                    <a:schemeClr val="accent1"/>
                  </a:solidFill>
                </a:ln>
              </p:spPr>
            </p:sp>
            <p:sp>
              <p:nvSpPr>
                <p:cNvPr id="32" name="Freeform 32"/>
                <p:cNvSpPr/>
                <p:nvPr/>
              </p:nvSpPr>
              <p:spPr>
                <a:xfrm>
                  <a:off x="876300" y="4419600"/>
                  <a:ext cx="25400" cy="9525"/>
                </a:xfrm>
                <a:custGeom>
                  <a:avLst/>
                  <a:gdLst/>
                  <a:ahLst/>
                  <a:cxnLst/>
                  <a:rect l="l" t="t" r="r" b="b"/>
                  <a:pathLst>
                    <a:path w="25400" h="9525">
                      <a:moveTo>
                        <a:pt x="0" y="0"/>
                      </a:moveTo>
                      <a:lnTo>
                        <a:pt x="25400" y="0"/>
                      </a:lnTo>
                    </a:path>
                  </a:pathLst>
                </a:custGeom>
                <a:noFill/>
                <a:ln w="25400">
                  <a:solidFill>
                    <a:schemeClr val="accent1"/>
                  </a:solidFill>
                </a:ln>
              </p:spPr>
            </p:sp>
          </p:grpSp>
          <p:sp>
            <p:nvSpPr>
              <p:cNvPr id="34" name="TextBox 34"/>
              <p:cNvSpPr txBox="1"/>
              <p:nvPr/>
            </p:nvSpPr>
            <p:spPr>
              <a:xfrm>
                <a:off x="1211580" y="4333875"/>
                <a:ext cx="3515953"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Tuân thủ — audit log, quyền riêng tư</a:t>
                </a:r>
              </a:p>
            </p:txBody>
          </p:sp>
        </p:grpSp>
        <p:sp>
          <p:nvSpPr>
            <p:cNvPr id="36" name="TextBox 36"/>
            <p:cNvSpPr txBox="1"/>
            <p:nvPr/>
          </p:nvSpPr>
          <p:spPr>
            <a:xfrm>
              <a:off x="755142" y="4845368"/>
              <a:ext cx="385637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Mục tiêu, chưa phải cam kết SLA chính thức</a:t>
              </a:r>
            </a:p>
          </p:txBody>
        </p:sp>
      </p:grpSp>
      <p:grpSp>
        <p:nvGrpSpPr>
          <p:cNvPr id="58" name="Group 58"/>
          <p:cNvGrpSpPr/>
          <p:nvPr/>
        </p:nvGrpSpPr>
        <p:grpSpPr>
          <a:xfrm>
            <a:off x="6096000" y="1524000"/>
            <a:ext cx="5638800" cy="3810000"/>
            <a:chOff x="6096000" y="1524000"/>
            <a:chExt cx="5638800" cy="3810000"/>
          </a:xfrm>
        </p:grpSpPr>
        <p:sp>
          <p:nvSpPr>
            <p:cNvPr id="38" name="Rectangle 38"/>
            <p:cNvSpPr/>
            <p:nvPr/>
          </p:nvSpPr>
          <p:spPr>
            <a:xfrm>
              <a:off x="6096000" y="1524000"/>
              <a:ext cx="5638800" cy="3810000"/>
            </a:xfrm>
            <a:prstGeom prst="roundRect">
              <a:avLst>
                <a:gd name="adj" fmla="val 4000"/>
              </a:avLst>
            </a:prstGeom>
            <a:solidFill>
              <a:schemeClr val="lt2"/>
            </a:solidFill>
            <a:ln>
              <a:noFill/>
            </a:ln>
          </p:spPr>
        </p:sp>
        <p:sp>
          <p:nvSpPr>
            <p:cNvPr id="39" name="TextBox 39"/>
            <p:cNvSpPr txBox="1"/>
            <p:nvPr/>
          </p:nvSpPr>
          <p:spPr>
            <a:xfrm>
              <a:off x="6391656" y="1672590"/>
              <a:ext cx="356542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Lộ trình 10 tuần (tương đối)</a:t>
              </a:r>
            </a:p>
          </p:txBody>
        </p:sp>
        <p:sp>
          <p:nvSpPr>
            <p:cNvPr id="40" name="Line 40"/>
            <p:cNvSpPr/>
            <p:nvPr/>
          </p:nvSpPr>
          <p:spPr>
            <a:xfrm>
              <a:off x="7239000" y="2190750"/>
              <a:ext cx="9525" cy="2762250"/>
            </a:xfrm>
            <a:custGeom>
              <a:avLst/>
              <a:gdLst/>
              <a:ahLst/>
              <a:cxnLst/>
              <a:rect l="l" t="t" r="r" b="b"/>
              <a:pathLst>
                <a:path w="9525" h="2762250">
                  <a:moveTo>
                    <a:pt x="0" y="0"/>
                  </a:moveTo>
                  <a:lnTo>
                    <a:pt x="0" y="2762250"/>
                  </a:lnTo>
                </a:path>
              </a:pathLst>
            </a:custGeom>
            <a:noFill/>
            <a:ln w="19050">
              <a:solidFill>
                <a:schemeClr val="accent6"/>
              </a:solidFill>
            </a:ln>
          </p:spPr>
        </p:sp>
        <p:grpSp>
          <p:nvGrpSpPr>
            <p:cNvPr id="56" name="Group 56"/>
            <p:cNvGrpSpPr/>
            <p:nvPr/>
          </p:nvGrpSpPr>
          <p:grpSpPr>
            <a:xfrm>
              <a:off x="6208278" y="2292668"/>
              <a:ext cx="3708711" cy="2397633"/>
              <a:chOff x="6208278" y="2292668"/>
              <a:chExt cx="3708711" cy="2397633"/>
            </a:xfrm>
          </p:grpSpPr>
          <p:sp>
            <p:nvSpPr>
              <p:cNvPr id="41" name="Ellipse 41"/>
              <p:cNvSpPr/>
              <p:nvPr/>
            </p:nvSpPr>
            <p:spPr>
              <a:xfrm>
                <a:off x="7162800" y="2305050"/>
                <a:ext cx="152400" cy="152400"/>
              </a:xfrm>
              <a:prstGeom prst="ellipse">
                <a:avLst/>
              </a:prstGeom>
              <a:solidFill>
                <a:schemeClr val="accent1"/>
              </a:solidFill>
              <a:ln>
                <a:noFill/>
              </a:ln>
            </p:spPr>
          </p:sp>
          <p:sp>
            <p:nvSpPr>
              <p:cNvPr id="42" name="TextBox 42"/>
              <p:cNvSpPr txBox="1"/>
              <p:nvPr/>
            </p:nvSpPr>
            <p:spPr>
              <a:xfrm>
                <a:off x="6314717" y="2292668"/>
                <a:ext cx="816841" cy="264033"/>
              </a:xfrm>
              <a:prstGeom prst="rect">
                <a:avLst/>
              </a:prstGeom>
              <a:noFill/>
              <a:ln>
                <a:noFill/>
              </a:ln>
            </p:spPr>
            <p:txBody>
              <a:bodyPr wrap="none" lIns="0" tIns="0" rIns="0" bIns="0" anchor="t" anchorCtr="0">
                <a:spAutoFit/>
              </a:bodyPr>
              <a:lstStyle/>
              <a:p>
                <a:pPr algn="r"/>
                <a:r>
                  <a:rPr lang="vi-VN" sz="1350" b="1" dirty="0">
                    <a:solidFill>
                      <a:schemeClr val="dk1"/>
                    </a:solidFill>
                    <a:latin typeface="+mn-lt"/>
                    <a:ea typeface="+mn-ea"/>
                    <a:cs typeface="+mn-cs"/>
                  </a:rPr>
                  <a:t>Tuần 1-2</a:t>
                </a:r>
              </a:p>
            </p:txBody>
          </p:sp>
          <p:sp>
            <p:nvSpPr>
              <p:cNvPr id="43" name="TextBox 43"/>
              <p:cNvSpPr txBox="1"/>
              <p:nvPr/>
            </p:nvSpPr>
            <p:spPr>
              <a:xfrm>
                <a:off x="7460742" y="2292668"/>
                <a:ext cx="1537827"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Khởi tạo, hạ tầng</a:t>
                </a:r>
              </a:p>
            </p:txBody>
          </p:sp>
          <p:sp>
            <p:nvSpPr>
              <p:cNvPr id="44" name="Ellipse 44"/>
              <p:cNvSpPr/>
              <p:nvPr/>
            </p:nvSpPr>
            <p:spPr>
              <a:xfrm>
                <a:off x="7162800" y="2838450"/>
                <a:ext cx="152400" cy="152400"/>
              </a:xfrm>
              <a:prstGeom prst="ellipse">
                <a:avLst/>
              </a:prstGeom>
              <a:solidFill>
                <a:schemeClr val="accent1"/>
              </a:solidFill>
              <a:ln>
                <a:noFill/>
              </a:ln>
            </p:spPr>
          </p:sp>
          <p:sp>
            <p:nvSpPr>
              <p:cNvPr id="45" name="TextBox 45"/>
              <p:cNvSpPr txBox="1"/>
              <p:nvPr/>
            </p:nvSpPr>
            <p:spPr>
              <a:xfrm>
                <a:off x="6314717" y="2826068"/>
                <a:ext cx="816841" cy="264033"/>
              </a:xfrm>
              <a:prstGeom prst="rect">
                <a:avLst/>
              </a:prstGeom>
              <a:noFill/>
              <a:ln>
                <a:noFill/>
              </a:ln>
            </p:spPr>
            <p:txBody>
              <a:bodyPr wrap="none" lIns="0" tIns="0" rIns="0" bIns="0" anchor="t" anchorCtr="0">
                <a:spAutoFit/>
              </a:bodyPr>
              <a:lstStyle/>
              <a:p>
                <a:pPr algn="r"/>
                <a:r>
                  <a:rPr lang="vi-VN" sz="1350" b="1" dirty="0">
                    <a:solidFill>
                      <a:schemeClr val="dk1"/>
                    </a:solidFill>
                    <a:latin typeface="+mn-lt"/>
                    <a:ea typeface="+mn-ea"/>
                    <a:cs typeface="+mn-cs"/>
                  </a:rPr>
                  <a:t>Tuần 3-4</a:t>
                </a:r>
              </a:p>
            </p:txBody>
          </p:sp>
          <p:sp>
            <p:nvSpPr>
              <p:cNvPr id="46" name="TextBox 46"/>
              <p:cNvSpPr txBox="1"/>
              <p:nvPr/>
            </p:nvSpPr>
            <p:spPr>
              <a:xfrm>
                <a:off x="7460742" y="2826068"/>
                <a:ext cx="2212791"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Tài khoản, xác thực, KYC</a:t>
                </a:r>
              </a:p>
            </p:txBody>
          </p:sp>
          <p:sp>
            <p:nvSpPr>
              <p:cNvPr id="47" name="Ellipse 47"/>
              <p:cNvSpPr/>
              <p:nvPr/>
            </p:nvSpPr>
            <p:spPr>
              <a:xfrm>
                <a:off x="7162800" y="3371850"/>
                <a:ext cx="152400" cy="152400"/>
              </a:xfrm>
              <a:prstGeom prst="ellipse">
                <a:avLst/>
              </a:prstGeom>
              <a:solidFill>
                <a:schemeClr val="accent1"/>
              </a:solidFill>
              <a:ln>
                <a:noFill/>
              </a:ln>
            </p:spPr>
          </p:sp>
          <p:sp>
            <p:nvSpPr>
              <p:cNvPr id="48" name="TextBox 48"/>
              <p:cNvSpPr txBox="1"/>
              <p:nvPr/>
            </p:nvSpPr>
            <p:spPr>
              <a:xfrm>
                <a:off x="6314717" y="3359468"/>
                <a:ext cx="816841" cy="264033"/>
              </a:xfrm>
              <a:prstGeom prst="rect">
                <a:avLst/>
              </a:prstGeom>
              <a:noFill/>
              <a:ln>
                <a:noFill/>
              </a:ln>
            </p:spPr>
            <p:txBody>
              <a:bodyPr wrap="none" lIns="0" tIns="0" rIns="0" bIns="0" anchor="t" anchorCtr="0">
                <a:spAutoFit/>
              </a:bodyPr>
              <a:lstStyle/>
              <a:p>
                <a:pPr algn="r"/>
                <a:r>
                  <a:rPr lang="vi-VN" sz="1350" b="1" dirty="0">
                    <a:solidFill>
                      <a:schemeClr val="dk1"/>
                    </a:solidFill>
                    <a:latin typeface="+mn-lt"/>
                    <a:ea typeface="+mn-ea"/>
                    <a:cs typeface="+mn-cs"/>
                  </a:rPr>
                  <a:t>Tuần 5-6</a:t>
                </a:r>
              </a:p>
            </p:txBody>
          </p:sp>
          <p:sp>
            <p:nvSpPr>
              <p:cNvPr id="49" name="TextBox 49"/>
              <p:cNvSpPr txBox="1"/>
              <p:nvPr/>
            </p:nvSpPr>
            <p:spPr>
              <a:xfrm>
                <a:off x="7460742" y="3359468"/>
                <a:ext cx="177409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Gian hàng, sản phẩm</a:t>
                </a:r>
              </a:p>
            </p:txBody>
          </p:sp>
          <p:sp>
            <p:nvSpPr>
              <p:cNvPr id="50" name="Ellipse 50"/>
              <p:cNvSpPr/>
              <p:nvPr/>
            </p:nvSpPr>
            <p:spPr>
              <a:xfrm>
                <a:off x="7162800" y="3905250"/>
                <a:ext cx="152400" cy="152400"/>
              </a:xfrm>
              <a:prstGeom prst="ellipse">
                <a:avLst/>
              </a:prstGeom>
              <a:solidFill>
                <a:schemeClr val="accent1"/>
              </a:solidFill>
              <a:ln>
                <a:noFill/>
              </a:ln>
            </p:spPr>
          </p:sp>
          <p:sp>
            <p:nvSpPr>
              <p:cNvPr id="51" name="TextBox 51"/>
              <p:cNvSpPr txBox="1"/>
              <p:nvPr/>
            </p:nvSpPr>
            <p:spPr>
              <a:xfrm>
                <a:off x="6314717" y="3892868"/>
                <a:ext cx="816841" cy="264033"/>
              </a:xfrm>
              <a:prstGeom prst="rect">
                <a:avLst/>
              </a:prstGeom>
              <a:noFill/>
              <a:ln>
                <a:noFill/>
              </a:ln>
            </p:spPr>
            <p:txBody>
              <a:bodyPr wrap="none" lIns="0" tIns="0" rIns="0" bIns="0" anchor="t" anchorCtr="0">
                <a:spAutoFit/>
              </a:bodyPr>
              <a:lstStyle/>
              <a:p>
                <a:pPr algn="r"/>
                <a:r>
                  <a:rPr lang="vi-VN" sz="1350" b="1" dirty="0">
                    <a:solidFill>
                      <a:schemeClr val="dk1"/>
                    </a:solidFill>
                    <a:latin typeface="+mn-lt"/>
                    <a:ea typeface="+mn-ea"/>
                    <a:cs typeface="+mn-cs"/>
                  </a:rPr>
                  <a:t>Tuần 7-8</a:t>
                </a:r>
              </a:p>
            </p:txBody>
          </p:sp>
          <p:sp>
            <p:nvSpPr>
              <p:cNvPr id="52" name="TextBox 52"/>
              <p:cNvSpPr txBox="1"/>
              <p:nvPr/>
            </p:nvSpPr>
            <p:spPr>
              <a:xfrm>
                <a:off x="7460742" y="3892868"/>
                <a:ext cx="1637715"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Giỏ hàng, đơn hàng</a:t>
                </a:r>
              </a:p>
            </p:txBody>
          </p:sp>
          <p:sp>
            <p:nvSpPr>
              <p:cNvPr id="53" name="Ellipse 53"/>
              <p:cNvSpPr/>
              <p:nvPr/>
            </p:nvSpPr>
            <p:spPr>
              <a:xfrm>
                <a:off x="7162800" y="4438650"/>
                <a:ext cx="152400" cy="152400"/>
              </a:xfrm>
              <a:prstGeom prst="ellipse">
                <a:avLst/>
              </a:prstGeom>
              <a:solidFill>
                <a:schemeClr val="accent3"/>
              </a:solidFill>
              <a:ln>
                <a:noFill/>
              </a:ln>
            </p:spPr>
          </p:sp>
          <p:sp>
            <p:nvSpPr>
              <p:cNvPr id="54" name="TextBox 54"/>
              <p:cNvSpPr txBox="1"/>
              <p:nvPr/>
            </p:nvSpPr>
            <p:spPr>
              <a:xfrm>
                <a:off x="6208278" y="4426268"/>
                <a:ext cx="923280" cy="264033"/>
              </a:xfrm>
              <a:prstGeom prst="rect">
                <a:avLst/>
              </a:prstGeom>
              <a:noFill/>
              <a:ln>
                <a:noFill/>
              </a:ln>
            </p:spPr>
            <p:txBody>
              <a:bodyPr wrap="none" lIns="0" tIns="0" rIns="0" bIns="0" anchor="t" anchorCtr="0">
                <a:spAutoFit/>
              </a:bodyPr>
              <a:lstStyle/>
              <a:p>
                <a:pPr algn="r"/>
                <a:r>
                  <a:rPr lang="vi-VN" sz="1350" b="1" dirty="0">
                    <a:solidFill>
                      <a:schemeClr val="dk1"/>
                    </a:solidFill>
                    <a:latin typeface="+mn-lt"/>
                    <a:ea typeface="+mn-ea"/>
                    <a:cs typeface="+mn-cs"/>
                  </a:rPr>
                  <a:t>Tuần 9-10</a:t>
                </a:r>
              </a:p>
            </p:txBody>
          </p:sp>
          <p:sp>
            <p:nvSpPr>
              <p:cNvPr id="55" name="TextBox 55"/>
              <p:cNvSpPr txBox="1"/>
              <p:nvPr/>
            </p:nvSpPr>
            <p:spPr>
              <a:xfrm>
                <a:off x="7460742" y="4426268"/>
                <a:ext cx="2456247"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Quản trị, kiểm thử, ra mắt</a:t>
                </a:r>
              </a:p>
            </p:txBody>
          </p:sp>
        </p:grpSp>
        <p:sp>
          <p:nvSpPr>
            <p:cNvPr id="57" name="TextBox 57"/>
            <p:cNvSpPr txBox="1"/>
            <p:nvPr/>
          </p:nvSpPr>
          <p:spPr>
            <a:xfrm>
              <a:off x="6393942" y="4845368"/>
              <a:ext cx="334622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Mốc tương đối — chưa chốt ngày cụ thể</a:t>
              </a:r>
            </a:p>
          </p:txBody>
        </p:sp>
      </p:grpSp>
      <p:grpSp>
        <p:nvGrpSpPr>
          <p:cNvPr id="62" name="Group 62"/>
          <p:cNvGrpSpPr/>
          <p:nvPr/>
        </p:nvGrpSpPr>
        <p:grpSpPr>
          <a:xfrm>
            <a:off x="450342" y="6416992"/>
            <a:ext cx="11291316" cy="264033"/>
            <a:chOff x="450342" y="6416992"/>
            <a:chExt cx="11291316" cy="264033"/>
          </a:xfrm>
        </p:grpSpPr>
        <p:sp>
          <p:nvSpPr>
            <p:cNvPr id="59" name="TextBox 59"/>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60" name="TextBox 60"/>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61" name="TextBox 61"/>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08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441198" y="597218"/>
            <a:ext cx="7847968" cy="898017"/>
            <a:chOff x="441198" y="597218"/>
            <a:chExt cx="7847968" cy="898017"/>
          </a:xfrm>
        </p:grpSpPr>
        <p:sp>
          <p:nvSpPr>
            <p:cNvPr id="2" name="TextBox 2"/>
            <p:cNvSpPr txBox="1"/>
            <p:nvPr/>
          </p:nvSpPr>
          <p:spPr>
            <a:xfrm>
              <a:off x="450342" y="597218"/>
              <a:ext cx="81061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KẾT LUẬN</a:t>
              </a:r>
            </a:p>
          </p:txBody>
        </p:sp>
        <p:sp>
          <p:nvSpPr>
            <p:cNvPr id="3" name="TextBox 3"/>
            <p:cNvSpPr txBox="1"/>
            <p:nvPr/>
          </p:nvSpPr>
          <p:spPr>
            <a:xfrm>
              <a:off x="441198" y="879158"/>
              <a:ext cx="7847968" cy="616077"/>
            </a:xfrm>
            <a:prstGeom prst="rect">
              <a:avLst/>
            </a:prstGeom>
            <a:noFill/>
            <a:ln>
              <a:noFill/>
            </a:ln>
          </p:spPr>
          <p:txBody>
            <a:bodyPr wrap="none" lIns="0" tIns="0" rIns="0" bIns="0" anchor="t" anchorCtr="0">
              <a:spAutoFit/>
            </a:bodyPr>
            <a:lstStyle/>
            <a:p>
              <a:pPr algn="l"/>
              <a:r>
                <a:rPr lang="vi-VN" sz="3150" b="1" dirty="0">
                  <a:solidFill>
                    <a:schemeClr val="dk1"/>
                  </a:solidFill>
                  <a:latin typeface="+mn-lt"/>
                  <a:ea typeface="+mn-ea"/>
                  <a:cs typeface="+mn-cs"/>
                </a:rPr>
                <a:t>Từ BRD đến TRD — sẵn sàng triển khai</a:t>
              </a:r>
            </a:p>
          </p:txBody>
        </p:sp>
      </p:grpSp>
      <p:grpSp>
        <p:nvGrpSpPr>
          <p:cNvPr id="22" name="Group 22"/>
          <p:cNvGrpSpPr/>
          <p:nvPr/>
        </p:nvGrpSpPr>
        <p:grpSpPr>
          <a:xfrm>
            <a:off x="457200" y="1524000"/>
            <a:ext cx="5334000" cy="3810000"/>
            <a:chOff x="457200" y="1524000"/>
            <a:chExt cx="5334000" cy="3810000"/>
          </a:xfrm>
        </p:grpSpPr>
        <p:sp>
          <p:nvSpPr>
            <p:cNvPr id="5" name="Rectangle 5"/>
            <p:cNvSpPr/>
            <p:nvPr/>
          </p:nvSpPr>
          <p:spPr>
            <a:xfrm>
              <a:off x="457200" y="1524000"/>
              <a:ext cx="5334000" cy="3810000"/>
            </a:xfrm>
            <a:prstGeom prst="roundRect">
              <a:avLst>
                <a:gd name="adj" fmla="val 4000"/>
              </a:avLst>
            </a:prstGeom>
            <a:solidFill>
              <a:schemeClr val="lt2"/>
            </a:solidFill>
            <a:ln>
              <a:noFill/>
            </a:ln>
          </p:spPr>
        </p:sp>
        <p:sp>
          <p:nvSpPr>
            <p:cNvPr id="6" name="TextBox 6"/>
            <p:cNvSpPr txBox="1"/>
            <p:nvPr/>
          </p:nvSpPr>
          <p:spPr>
            <a:xfrm>
              <a:off x="752856" y="1672590"/>
              <a:ext cx="2966216"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Hai nhánh, một mục tiêu</a:t>
              </a:r>
            </a:p>
          </p:txBody>
        </p:sp>
        <p:grpSp>
          <p:nvGrpSpPr>
            <p:cNvPr id="10" name="Group 10"/>
            <p:cNvGrpSpPr/>
            <p:nvPr/>
          </p:nvGrpSpPr>
          <p:grpSpPr>
            <a:xfrm>
              <a:off x="762000" y="2095500"/>
              <a:ext cx="2133600" cy="914400"/>
              <a:chOff x="762000" y="2095500"/>
              <a:chExt cx="2133600" cy="914400"/>
            </a:xfrm>
          </p:grpSpPr>
          <p:sp>
            <p:nvSpPr>
              <p:cNvPr id="7" name="Rectangle 7"/>
              <p:cNvSpPr/>
              <p:nvPr/>
            </p:nvSpPr>
            <p:spPr>
              <a:xfrm>
                <a:off x="762000" y="2095500"/>
                <a:ext cx="2133600" cy="914400"/>
              </a:xfrm>
              <a:prstGeom prst="roundRect">
                <a:avLst>
                  <a:gd name="adj" fmla="val 16667"/>
                </a:avLst>
              </a:prstGeom>
              <a:solidFill>
                <a:schemeClr val="accent1">
                  <a:alpha val="10000"/>
                </a:schemeClr>
              </a:solidFill>
              <a:ln>
                <a:noFill/>
              </a:ln>
            </p:spPr>
          </p:sp>
          <p:sp>
            <p:nvSpPr>
              <p:cNvPr id="8" name="TextBox 8"/>
              <p:cNvSpPr txBox="1"/>
              <p:nvPr/>
            </p:nvSpPr>
            <p:spPr>
              <a:xfrm>
                <a:off x="1617113" y="2222182"/>
                <a:ext cx="423375" cy="322707"/>
              </a:xfrm>
              <a:prstGeom prst="rect">
                <a:avLst/>
              </a:prstGeom>
              <a:noFill/>
              <a:ln>
                <a:noFill/>
              </a:ln>
            </p:spPr>
            <p:txBody>
              <a:bodyPr wrap="none" lIns="0" tIns="0" rIns="0" bIns="0" anchor="t" anchorCtr="0">
                <a:spAutoFit/>
              </a:bodyPr>
              <a:lstStyle/>
              <a:p>
                <a:pPr algn="ctr"/>
                <a:r>
                  <a:rPr lang="vi-VN" sz="1650" b="1" dirty="0">
                    <a:solidFill>
                      <a:schemeClr val="accent1"/>
                    </a:solidFill>
                    <a:latin typeface="+mn-lt"/>
                    <a:ea typeface="+mn-ea"/>
                    <a:cs typeface="+mn-cs"/>
                  </a:rPr>
                  <a:t>BRD</a:t>
                </a:r>
              </a:p>
            </p:txBody>
          </p:sp>
          <p:sp>
            <p:nvSpPr>
              <p:cNvPr id="9" name="TextBox 9"/>
              <p:cNvSpPr txBox="1"/>
              <p:nvPr/>
            </p:nvSpPr>
            <p:spPr>
              <a:xfrm>
                <a:off x="987134" y="2559368"/>
                <a:ext cx="1683333"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Nghiệp vụ · phạm vi</a:t>
                </a:r>
              </a:p>
            </p:txBody>
          </p:sp>
        </p:grpSp>
        <p:grpSp>
          <p:nvGrpSpPr>
            <p:cNvPr id="14" name="Group 14"/>
            <p:cNvGrpSpPr/>
            <p:nvPr/>
          </p:nvGrpSpPr>
          <p:grpSpPr>
            <a:xfrm>
              <a:off x="3352800" y="2095500"/>
              <a:ext cx="2133600" cy="914400"/>
              <a:chOff x="3352800" y="2095500"/>
              <a:chExt cx="2133600" cy="914400"/>
            </a:xfrm>
          </p:grpSpPr>
          <p:sp>
            <p:nvSpPr>
              <p:cNvPr id="11" name="Rectangle 11"/>
              <p:cNvSpPr/>
              <p:nvPr/>
            </p:nvSpPr>
            <p:spPr>
              <a:xfrm>
                <a:off x="3352800" y="2095500"/>
                <a:ext cx="2133600" cy="914400"/>
              </a:xfrm>
              <a:prstGeom prst="roundRect">
                <a:avLst>
                  <a:gd name="adj" fmla="val 16667"/>
                </a:avLst>
              </a:prstGeom>
              <a:solidFill>
                <a:schemeClr val="accent3">
                  <a:alpha val="10000"/>
                </a:schemeClr>
              </a:solidFill>
              <a:ln>
                <a:noFill/>
              </a:ln>
            </p:spPr>
          </p:sp>
          <p:sp>
            <p:nvSpPr>
              <p:cNvPr id="12" name="TextBox 12"/>
              <p:cNvSpPr txBox="1"/>
              <p:nvPr/>
            </p:nvSpPr>
            <p:spPr>
              <a:xfrm>
                <a:off x="4207913" y="2222182"/>
                <a:ext cx="423375" cy="322707"/>
              </a:xfrm>
              <a:prstGeom prst="rect">
                <a:avLst/>
              </a:prstGeom>
              <a:noFill/>
              <a:ln>
                <a:noFill/>
              </a:ln>
            </p:spPr>
            <p:txBody>
              <a:bodyPr wrap="none" lIns="0" tIns="0" rIns="0" bIns="0" anchor="t" anchorCtr="0">
                <a:spAutoFit/>
              </a:bodyPr>
              <a:lstStyle/>
              <a:p>
                <a:pPr algn="ctr"/>
                <a:r>
                  <a:rPr lang="vi-VN" sz="1650" b="1" dirty="0">
                    <a:solidFill>
                      <a:schemeClr val="accent3"/>
                    </a:solidFill>
                    <a:latin typeface="+mn-lt"/>
                    <a:ea typeface="+mn-ea"/>
                    <a:cs typeface="+mn-cs"/>
                  </a:rPr>
                  <a:t>TRD</a:t>
                </a:r>
              </a:p>
            </p:txBody>
          </p:sp>
          <p:sp>
            <p:nvSpPr>
              <p:cNvPr id="13" name="TextBox 13"/>
              <p:cNvSpPr txBox="1"/>
              <p:nvPr/>
            </p:nvSpPr>
            <p:spPr>
              <a:xfrm>
                <a:off x="3618990" y="2559368"/>
                <a:ext cx="1601221" cy="264033"/>
              </a:xfrm>
              <a:prstGeom prst="rect">
                <a:avLst/>
              </a:prstGeom>
              <a:noFill/>
              <a:ln>
                <a:noFill/>
              </a:ln>
            </p:spPr>
            <p:txBody>
              <a:bodyPr wrap="none" lIns="0" tIns="0" rIns="0" bIns="0" anchor="t" anchorCtr="0">
                <a:spAutoFit/>
              </a:bodyPr>
              <a:lstStyle/>
              <a:p>
                <a:pPr algn="ctr"/>
                <a:r>
                  <a:rPr lang="vi-VN" sz="1350" dirty="0">
                    <a:solidFill>
                      <a:schemeClr val="accent5"/>
                    </a:solidFill>
                    <a:latin typeface="+mn-lt"/>
                    <a:ea typeface="+mn-ea"/>
                    <a:cs typeface="+mn-cs"/>
                  </a:rPr>
                  <a:t>Kiến trúc · dữ liệu</a:t>
                </a:r>
              </a:p>
            </p:txBody>
          </p:sp>
        </p:grpSp>
        <p:sp>
          <p:nvSpPr>
            <p:cNvPr id="15" name="Line 15"/>
            <p:cNvSpPr/>
            <p:nvPr/>
          </p:nvSpPr>
          <p:spPr>
            <a:xfrm>
              <a:off x="1828800" y="3009900"/>
              <a:ext cx="1295400" cy="762000"/>
            </a:xfrm>
            <a:prstGeom prst="line">
              <a:avLst/>
            </a:prstGeom>
            <a:noFill/>
            <a:ln w="19050">
              <a:solidFill>
                <a:schemeClr val="accent1"/>
              </a:solidFill>
              <a:tailEnd type="triangle" w="lg" len="lg"/>
            </a:ln>
          </p:spPr>
        </p:sp>
        <p:sp>
          <p:nvSpPr>
            <p:cNvPr id="16" name="Line 16"/>
            <p:cNvSpPr/>
            <p:nvPr/>
          </p:nvSpPr>
          <p:spPr>
            <a:xfrm flipH="1">
              <a:off x="3124200" y="3009900"/>
              <a:ext cx="1295400" cy="762000"/>
            </a:xfrm>
            <a:prstGeom prst="line">
              <a:avLst/>
            </a:prstGeom>
            <a:noFill/>
            <a:ln w="19050">
              <a:solidFill>
                <a:schemeClr val="accent1"/>
              </a:solidFill>
              <a:tailEnd type="triangle" w="lg" len="lg"/>
            </a:ln>
          </p:spPr>
        </p:sp>
        <p:grpSp>
          <p:nvGrpSpPr>
            <p:cNvPr id="20" name="Group 20"/>
            <p:cNvGrpSpPr/>
            <p:nvPr/>
          </p:nvGrpSpPr>
          <p:grpSpPr>
            <a:xfrm>
              <a:off x="762000" y="3810000"/>
              <a:ext cx="4724400" cy="914400"/>
              <a:chOff x="762000" y="3810000"/>
              <a:chExt cx="4724400" cy="914400"/>
            </a:xfrm>
          </p:grpSpPr>
          <p:sp>
            <p:nvSpPr>
              <p:cNvPr id="17" name="Rectangle 17"/>
              <p:cNvSpPr/>
              <p:nvPr/>
            </p:nvSpPr>
            <p:spPr>
              <a:xfrm>
                <a:off x="762000" y="3810000"/>
                <a:ext cx="4724400" cy="914400"/>
              </a:xfrm>
              <a:prstGeom prst="roundRect">
                <a:avLst>
                  <a:gd name="adj" fmla="val 16667"/>
                </a:avLst>
              </a:prstGeom>
              <a:solidFill>
                <a:schemeClr val="dk1"/>
              </a:solidFill>
              <a:ln>
                <a:noFill/>
              </a:ln>
            </p:spPr>
          </p:sp>
          <p:sp>
            <p:nvSpPr>
              <p:cNvPr id="18" name="TextBox 18"/>
              <p:cNvSpPr txBox="1"/>
              <p:nvPr/>
            </p:nvSpPr>
            <p:spPr>
              <a:xfrm>
                <a:off x="2866385" y="3958590"/>
                <a:ext cx="515630" cy="352044"/>
              </a:xfrm>
              <a:prstGeom prst="rect">
                <a:avLst/>
              </a:prstGeom>
              <a:noFill/>
              <a:ln>
                <a:noFill/>
              </a:ln>
            </p:spPr>
            <p:txBody>
              <a:bodyPr wrap="none" lIns="0" tIns="0" rIns="0" bIns="0" anchor="t" anchorCtr="0">
                <a:spAutoFit/>
              </a:bodyPr>
              <a:lstStyle/>
              <a:p>
                <a:pPr algn="ctr"/>
                <a:r>
                  <a:rPr lang="vi-VN" sz="1800" b="1" dirty="0">
                    <a:solidFill>
                      <a:srgbClr val="FFFFFF"/>
                    </a:solidFill>
                    <a:latin typeface="+mn-lt"/>
                    <a:ea typeface="+mn-ea"/>
                    <a:cs typeface="+mn-cs"/>
                  </a:rPr>
                  <a:t>MVP</a:t>
                </a:r>
              </a:p>
            </p:txBody>
          </p:sp>
          <p:sp>
            <p:nvSpPr>
              <p:cNvPr id="19" name="TextBox 19"/>
              <p:cNvSpPr txBox="1"/>
              <p:nvPr/>
            </p:nvSpPr>
            <p:spPr>
              <a:xfrm>
                <a:off x="1667989" y="4311968"/>
                <a:ext cx="2912421" cy="264033"/>
              </a:xfrm>
              <a:prstGeom prst="rect">
                <a:avLst/>
              </a:prstGeom>
              <a:noFill/>
              <a:ln>
                <a:noFill/>
              </a:ln>
            </p:spPr>
            <p:txBody>
              <a:bodyPr wrap="none" lIns="0" tIns="0" rIns="0" bIns="0" anchor="t" anchorCtr="0">
                <a:spAutoFit/>
              </a:bodyPr>
              <a:lstStyle/>
              <a:p>
                <a:pPr algn="ctr"/>
                <a:r>
                  <a:rPr lang="vi-VN" sz="1350" dirty="0">
                    <a:solidFill>
                      <a:schemeClr val="accent6"/>
                    </a:solidFill>
                    <a:latin typeface="+mn-lt"/>
                    <a:ea typeface="+mn-ea"/>
                    <a:cs typeface="+mn-cs"/>
                  </a:rPr>
                  <a:t>10 tuần · 3 giao diện · 1 nền tảng</a:t>
                </a:r>
              </a:p>
            </p:txBody>
          </p:sp>
        </p:grpSp>
        <p:sp>
          <p:nvSpPr>
            <p:cNvPr id="21" name="TextBox 21"/>
            <p:cNvSpPr txBox="1"/>
            <p:nvPr/>
          </p:nvSpPr>
          <p:spPr>
            <a:xfrm>
              <a:off x="755142" y="4845368"/>
              <a:ext cx="4491106"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Bản vẽ đã đủ để bắt đầu — phần còn lại là quyết định</a:t>
              </a:r>
            </a:p>
          </p:txBody>
        </p:sp>
      </p:grpSp>
      <p:grpSp>
        <p:nvGrpSpPr>
          <p:cNvPr id="47" name="Group 47"/>
          <p:cNvGrpSpPr/>
          <p:nvPr/>
        </p:nvGrpSpPr>
        <p:grpSpPr>
          <a:xfrm>
            <a:off x="6096000" y="1524000"/>
            <a:ext cx="5638800" cy="3810000"/>
            <a:chOff x="6096000" y="1524000"/>
            <a:chExt cx="5638800" cy="3810000"/>
          </a:xfrm>
        </p:grpSpPr>
        <p:sp>
          <p:nvSpPr>
            <p:cNvPr id="23" name="Rectangle 23"/>
            <p:cNvSpPr/>
            <p:nvPr/>
          </p:nvSpPr>
          <p:spPr>
            <a:xfrm>
              <a:off x="6096000" y="1524000"/>
              <a:ext cx="5638800" cy="3810000"/>
            </a:xfrm>
            <a:prstGeom prst="roundRect">
              <a:avLst>
                <a:gd name="adj" fmla="val 4000"/>
              </a:avLst>
            </a:prstGeom>
            <a:solidFill>
              <a:schemeClr val="lt2"/>
            </a:solidFill>
            <a:ln>
              <a:noFill/>
            </a:ln>
          </p:spPr>
        </p:sp>
        <p:sp>
          <p:nvSpPr>
            <p:cNvPr id="24" name="TextBox 24"/>
            <p:cNvSpPr txBox="1"/>
            <p:nvPr/>
          </p:nvSpPr>
          <p:spPr>
            <a:xfrm>
              <a:off x="6391656" y="1672590"/>
              <a:ext cx="3143479" cy="352044"/>
            </a:xfrm>
            <a:prstGeom prst="rect">
              <a:avLst/>
            </a:prstGeom>
            <a:noFill/>
            <a:ln>
              <a:noFill/>
            </a:ln>
          </p:spPr>
          <p:txBody>
            <a:bodyPr wrap="none" lIns="0" tIns="0" rIns="0" bIns="0" anchor="t" anchorCtr="0">
              <a:spAutoFit/>
            </a:bodyPr>
            <a:lstStyle/>
            <a:p>
              <a:pPr algn="l"/>
              <a:r>
                <a:rPr lang="vi-VN" sz="1800" b="1" dirty="0">
                  <a:solidFill>
                    <a:schemeClr val="dk1"/>
                  </a:solidFill>
                  <a:latin typeface="+mn-lt"/>
                  <a:ea typeface="+mn-ea"/>
                  <a:cs typeface="+mn-cs"/>
                </a:rPr>
                <a:t>Cần chốt trước triển khai</a:t>
              </a:r>
            </a:p>
          </p:txBody>
        </p:sp>
        <p:grpSp>
          <p:nvGrpSpPr>
            <p:cNvPr id="45" name="Group 45"/>
            <p:cNvGrpSpPr/>
            <p:nvPr/>
          </p:nvGrpSpPr>
          <p:grpSpPr>
            <a:xfrm>
              <a:off x="6434138" y="2738438"/>
              <a:ext cx="3763348" cy="1450657"/>
              <a:chOff x="6434138" y="2738438"/>
              <a:chExt cx="3763348" cy="1450657"/>
            </a:xfrm>
          </p:grpSpPr>
          <p:grpSp>
            <p:nvGrpSpPr>
              <p:cNvPr id="33" name="Group 33"/>
              <p:cNvGrpSpPr/>
              <p:nvPr/>
            </p:nvGrpSpPr>
            <p:grpSpPr>
              <a:xfrm>
                <a:off x="6434138" y="2738438"/>
                <a:ext cx="200026" cy="200026"/>
                <a:chOff x="6434138" y="2738438"/>
                <a:chExt cx="200026" cy="200026"/>
              </a:xfrm>
            </p:grpSpPr>
            <p:sp>
              <p:nvSpPr>
                <p:cNvPr id="30" name="Freeform 30"/>
                <p:cNvSpPr/>
                <p:nvPr/>
              </p:nvSpPr>
              <p:spPr>
                <a:xfrm>
                  <a:off x="6434138" y="27384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EA4335"/>
                  </a:solidFill>
                </a:ln>
              </p:spPr>
            </p:sp>
            <p:sp>
              <p:nvSpPr>
                <p:cNvPr id="31" name="Freeform 31"/>
                <p:cNvSpPr/>
                <p:nvPr/>
              </p:nvSpPr>
              <p:spPr>
                <a:xfrm>
                  <a:off x="6534150" y="2794000"/>
                  <a:ext cx="9525" cy="44450"/>
                </a:xfrm>
                <a:custGeom>
                  <a:avLst/>
                  <a:gdLst/>
                  <a:ahLst/>
                  <a:cxnLst/>
                  <a:rect l="l" t="t" r="r" b="b"/>
                  <a:pathLst>
                    <a:path w="9525" h="44450">
                      <a:moveTo>
                        <a:pt x="0" y="0"/>
                      </a:moveTo>
                      <a:lnTo>
                        <a:pt x="0" y="44450"/>
                      </a:lnTo>
                    </a:path>
                  </a:pathLst>
                </a:custGeom>
                <a:noFill/>
                <a:ln w="22225">
                  <a:solidFill>
                    <a:srgbClr val="EA4335"/>
                  </a:solidFill>
                </a:ln>
              </p:spPr>
            </p:sp>
            <p:sp>
              <p:nvSpPr>
                <p:cNvPr id="32" name="Freeform 32"/>
                <p:cNvSpPr/>
                <p:nvPr/>
              </p:nvSpPr>
              <p:spPr>
                <a:xfrm>
                  <a:off x="6534150" y="2882901"/>
                  <a:ext cx="9525" cy="9525"/>
                </a:xfrm>
                <a:custGeom>
                  <a:avLst/>
                  <a:gdLst/>
                  <a:ahLst/>
                  <a:cxnLst/>
                  <a:rect l="l" t="t" r="r" b="b"/>
                  <a:pathLst>
                    <a:path w="9525" h="9525">
                      <a:moveTo>
                        <a:pt x="0" y="0"/>
                      </a:moveTo>
                      <a:lnTo>
                        <a:pt x="111" y="0"/>
                      </a:lnTo>
                    </a:path>
                  </a:pathLst>
                </a:custGeom>
                <a:noFill/>
                <a:ln w="22225">
                  <a:solidFill>
                    <a:srgbClr val="EA4335"/>
                  </a:solidFill>
                </a:ln>
              </p:spPr>
            </p:sp>
          </p:grpSp>
          <p:sp>
            <p:nvSpPr>
              <p:cNvPr id="34" name="TextBox 34"/>
              <p:cNvSpPr txBox="1"/>
              <p:nvPr/>
            </p:nvSpPr>
            <p:spPr>
              <a:xfrm>
                <a:off x="6812280" y="2752725"/>
                <a:ext cx="3385206"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Phương thức thanh toán trong MVP</a:t>
                </a:r>
              </a:p>
            </p:txBody>
          </p:sp>
          <p:grpSp>
            <p:nvGrpSpPr>
              <p:cNvPr id="38" name="Group 38"/>
              <p:cNvGrpSpPr/>
              <p:nvPr/>
            </p:nvGrpSpPr>
            <p:grpSpPr>
              <a:xfrm>
                <a:off x="6434138" y="3309938"/>
                <a:ext cx="200026" cy="200026"/>
                <a:chOff x="6434138" y="3309938"/>
                <a:chExt cx="200026" cy="200026"/>
              </a:xfrm>
            </p:grpSpPr>
            <p:sp>
              <p:nvSpPr>
                <p:cNvPr id="35" name="Freeform 35"/>
                <p:cNvSpPr/>
                <p:nvPr/>
              </p:nvSpPr>
              <p:spPr>
                <a:xfrm>
                  <a:off x="6434138" y="33099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EA4335"/>
                  </a:solidFill>
                </a:ln>
              </p:spPr>
            </p:sp>
            <p:sp>
              <p:nvSpPr>
                <p:cNvPr id="36" name="Freeform 36"/>
                <p:cNvSpPr/>
                <p:nvPr/>
              </p:nvSpPr>
              <p:spPr>
                <a:xfrm>
                  <a:off x="6534150" y="3365500"/>
                  <a:ext cx="9525" cy="44450"/>
                </a:xfrm>
                <a:custGeom>
                  <a:avLst/>
                  <a:gdLst/>
                  <a:ahLst/>
                  <a:cxnLst/>
                  <a:rect l="l" t="t" r="r" b="b"/>
                  <a:pathLst>
                    <a:path w="9525" h="44450">
                      <a:moveTo>
                        <a:pt x="0" y="0"/>
                      </a:moveTo>
                      <a:lnTo>
                        <a:pt x="0" y="44450"/>
                      </a:lnTo>
                    </a:path>
                  </a:pathLst>
                </a:custGeom>
                <a:noFill/>
                <a:ln w="22225">
                  <a:solidFill>
                    <a:srgbClr val="EA4335"/>
                  </a:solidFill>
                </a:ln>
              </p:spPr>
            </p:sp>
            <p:sp>
              <p:nvSpPr>
                <p:cNvPr id="37" name="Freeform 37"/>
                <p:cNvSpPr/>
                <p:nvPr/>
              </p:nvSpPr>
              <p:spPr>
                <a:xfrm>
                  <a:off x="6534150" y="3454401"/>
                  <a:ext cx="9525" cy="9525"/>
                </a:xfrm>
                <a:custGeom>
                  <a:avLst/>
                  <a:gdLst/>
                  <a:ahLst/>
                  <a:cxnLst/>
                  <a:rect l="l" t="t" r="r" b="b"/>
                  <a:pathLst>
                    <a:path w="9525" h="9525">
                      <a:moveTo>
                        <a:pt x="0" y="0"/>
                      </a:moveTo>
                      <a:lnTo>
                        <a:pt x="111" y="0"/>
                      </a:lnTo>
                    </a:path>
                  </a:pathLst>
                </a:custGeom>
                <a:noFill/>
                <a:ln w="22225">
                  <a:solidFill>
                    <a:srgbClr val="EA4335"/>
                  </a:solidFill>
                </a:ln>
              </p:spPr>
            </p:sp>
          </p:grpSp>
          <p:sp>
            <p:nvSpPr>
              <p:cNvPr id="39" name="TextBox 39"/>
              <p:cNvSpPr txBox="1"/>
              <p:nvPr/>
            </p:nvSpPr>
            <p:spPr>
              <a:xfrm>
                <a:off x="6812280" y="3324225"/>
                <a:ext cx="2940310"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Chính sách hủy đơn, hoàn tiền</a:t>
                </a:r>
              </a:p>
            </p:txBody>
          </p:sp>
          <p:grpSp>
            <p:nvGrpSpPr>
              <p:cNvPr id="43" name="Group 43"/>
              <p:cNvGrpSpPr/>
              <p:nvPr/>
            </p:nvGrpSpPr>
            <p:grpSpPr>
              <a:xfrm>
                <a:off x="6434138" y="3881438"/>
                <a:ext cx="200026" cy="200026"/>
                <a:chOff x="6434138" y="3881438"/>
                <a:chExt cx="200026" cy="200026"/>
              </a:xfrm>
            </p:grpSpPr>
            <p:sp>
              <p:nvSpPr>
                <p:cNvPr id="40" name="Freeform 40"/>
                <p:cNvSpPr/>
                <p:nvPr/>
              </p:nvSpPr>
              <p:spPr>
                <a:xfrm>
                  <a:off x="6434138" y="388143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EA4335"/>
                  </a:solidFill>
                </a:ln>
              </p:spPr>
            </p:sp>
            <p:sp>
              <p:nvSpPr>
                <p:cNvPr id="41" name="Freeform 41"/>
                <p:cNvSpPr/>
                <p:nvPr/>
              </p:nvSpPr>
              <p:spPr>
                <a:xfrm>
                  <a:off x="6534150" y="3937000"/>
                  <a:ext cx="9525" cy="44450"/>
                </a:xfrm>
                <a:custGeom>
                  <a:avLst/>
                  <a:gdLst/>
                  <a:ahLst/>
                  <a:cxnLst/>
                  <a:rect l="l" t="t" r="r" b="b"/>
                  <a:pathLst>
                    <a:path w="9525" h="44450">
                      <a:moveTo>
                        <a:pt x="0" y="0"/>
                      </a:moveTo>
                      <a:lnTo>
                        <a:pt x="0" y="44450"/>
                      </a:lnTo>
                    </a:path>
                  </a:pathLst>
                </a:custGeom>
                <a:noFill/>
                <a:ln w="22225">
                  <a:solidFill>
                    <a:srgbClr val="EA4335"/>
                  </a:solidFill>
                </a:ln>
              </p:spPr>
            </p:sp>
            <p:sp>
              <p:nvSpPr>
                <p:cNvPr id="42" name="Freeform 42"/>
                <p:cNvSpPr/>
                <p:nvPr/>
              </p:nvSpPr>
              <p:spPr>
                <a:xfrm>
                  <a:off x="6534150" y="4025901"/>
                  <a:ext cx="9525" cy="9525"/>
                </a:xfrm>
                <a:custGeom>
                  <a:avLst/>
                  <a:gdLst/>
                  <a:ahLst/>
                  <a:cxnLst/>
                  <a:rect l="l" t="t" r="r" b="b"/>
                  <a:pathLst>
                    <a:path w="9525" h="9525">
                      <a:moveTo>
                        <a:pt x="0" y="0"/>
                      </a:moveTo>
                      <a:lnTo>
                        <a:pt x="111" y="0"/>
                      </a:lnTo>
                    </a:path>
                  </a:pathLst>
                </a:custGeom>
                <a:noFill/>
                <a:ln w="22225">
                  <a:solidFill>
                    <a:srgbClr val="EA4335"/>
                  </a:solidFill>
                </a:ln>
              </p:spPr>
            </p:sp>
          </p:grpSp>
          <p:sp>
            <p:nvSpPr>
              <p:cNvPr id="44" name="TextBox 44"/>
              <p:cNvSpPr txBox="1"/>
              <p:nvPr/>
            </p:nvSpPr>
            <p:spPr>
              <a:xfrm>
                <a:off x="6812280" y="3895725"/>
                <a:ext cx="2546169" cy="293370"/>
              </a:xfrm>
              <a:prstGeom prst="rect">
                <a:avLst/>
              </a:prstGeom>
              <a:noFill/>
              <a:ln>
                <a:noFill/>
              </a:ln>
            </p:spPr>
            <p:txBody>
              <a:bodyPr wrap="none" lIns="0" tIns="0" rIns="0" bIns="0" anchor="t" anchorCtr="0">
                <a:spAutoFit/>
              </a:bodyPr>
              <a:lstStyle/>
              <a:p>
                <a:pPr algn="l"/>
                <a:r>
                  <a:rPr lang="vi-VN" sz="1500" dirty="0">
                    <a:solidFill>
                      <a:schemeClr val="dk1"/>
                    </a:solidFill>
                    <a:latin typeface="+mn-lt"/>
                    <a:ea typeface="+mn-ea"/>
                    <a:cs typeface="+mn-cs"/>
                  </a:rPr>
                  <a:t>Ngày khởi động chính thức</a:t>
                </a:r>
              </a:p>
            </p:txBody>
          </p:sp>
        </p:grpSp>
        <p:sp>
          <p:nvSpPr>
            <p:cNvPr id="46" name="TextBox 46"/>
            <p:cNvSpPr txBox="1"/>
            <p:nvPr/>
          </p:nvSpPr>
          <p:spPr>
            <a:xfrm>
              <a:off x="6393942" y="4845368"/>
              <a:ext cx="4325698"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Chốt xong 4 điểm này, đội có thể bắt đầu Sprint 1</a:t>
              </a:r>
            </a:p>
          </p:txBody>
        </p:sp>
      </p:grpSp>
      <p:grpSp>
        <p:nvGrpSpPr>
          <p:cNvPr id="51" name="Group 51"/>
          <p:cNvGrpSpPr/>
          <p:nvPr/>
        </p:nvGrpSpPr>
        <p:grpSpPr>
          <a:xfrm>
            <a:off x="450342" y="6416992"/>
            <a:ext cx="11291316" cy="264033"/>
            <a:chOff x="450342" y="6416992"/>
            <a:chExt cx="11291316" cy="264033"/>
          </a:xfrm>
        </p:grpSpPr>
        <p:sp>
          <p:nvSpPr>
            <p:cNvPr id="48" name="TextBox 48"/>
            <p:cNvSpPr txBox="1"/>
            <p:nvPr/>
          </p:nvSpPr>
          <p:spPr>
            <a:xfrm>
              <a:off x="450342" y="6416992"/>
              <a:ext cx="2490924"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BRD/TRD v2.0 · 16/09/2026</a:t>
              </a:r>
            </a:p>
          </p:txBody>
        </p:sp>
        <p:sp>
          <p:nvSpPr>
            <p:cNvPr id="49" name="TextBox 49"/>
            <p:cNvSpPr txBox="1"/>
            <p:nvPr/>
          </p:nvSpPr>
          <p:spPr>
            <a:xfrm>
              <a:off x="6279642" y="6416992"/>
              <a:ext cx="2084283" cy="264033"/>
            </a:xfrm>
            <a:prstGeom prst="rect">
              <a:avLst/>
            </a:prstGeom>
            <a:noFill/>
            <a:ln>
              <a:noFill/>
            </a:ln>
          </p:spPr>
          <p:txBody>
            <a:bodyPr wrap="none" lIns="0" tIns="0" rIns="0" bIns="0" anchor="t" anchorCtr="0">
              <a:spAutoFit/>
            </a:bodyPr>
            <a:lstStyle/>
            <a:p>
              <a:pPr algn="l"/>
              <a:r>
                <a:rPr lang="vi-VN" sz="1350" dirty="0">
                  <a:solidFill>
                    <a:schemeClr val="accent5"/>
                  </a:solidFill>
                  <a:latin typeface="+mn-lt"/>
                  <a:ea typeface="+mn-ea"/>
                  <a:cs typeface="+mn-cs"/>
                </a:rPr>
                <a:t>DRAFT · Nội bộ — Bí mật</a:t>
              </a:r>
            </a:p>
          </p:txBody>
        </p:sp>
        <p:sp>
          <p:nvSpPr>
            <p:cNvPr id="50" name="TextBox 50"/>
            <p:cNvSpPr txBox="1"/>
            <p:nvPr/>
          </p:nvSpPr>
          <p:spPr>
            <a:xfrm>
              <a:off x="11119123" y="6416992"/>
              <a:ext cx="622535" cy="264033"/>
            </a:xfrm>
            <a:prstGeom prst="rect">
              <a:avLst/>
            </a:prstGeom>
            <a:noFill/>
            <a:ln>
              <a:noFill/>
            </a:ln>
          </p:spPr>
          <p:txBody>
            <a:bodyPr wrap="none" lIns="0" tIns="0" rIns="0" bIns="0" anchor="t" anchorCtr="0">
              <a:spAutoFit/>
            </a:bodyPr>
            <a:lstStyle/>
            <a:p>
              <a:pPr algn="r"/>
              <a:r>
                <a:rPr lang="vi-VN" sz="1350" dirty="0">
                  <a:solidFill>
                    <a:schemeClr val="accent5"/>
                  </a:solidFill>
                  <a:latin typeface="+mn-lt"/>
                  <a:ea typeface="+mn-ea"/>
                  <a:cs typeface="+mn-cs"/>
                </a:rPr>
                <a:t>09 / 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pobby_brd_trd">
  <a:themeElements>
    <a:clrScheme name="pobby_brd_trd">
      <a:dk1>
        <a:srgbClr val="202124"/>
      </a:dk1>
      <a:lt1>
        <a:srgbClr val="FFFFFF"/>
      </a:lt1>
      <a:dk2>
        <a:srgbClr val="1F497D"/>
      </a:dk2>
      <a:lt2>
        <a:srgbClr val="F8F9FA"/>
      </a:lt2>
      <a:accent1>
        <a:srgbClr val="4285F4"/>
      </a:accent1>
      <a:accent2>
        <a:srgbClr val="FBBC05"/>
      </a:accent2>
      <a:accent3>
        <a:srgbClr val="34A853"/>
      </a:accent3>
      <a:accent4>
        <a:srgbClr val="4285F4"/>
      </a:accent4>
      <a:accent5>
        <a:srgbClr val="5F6368"/>
      </a:accent5>
      <a:accent6>
        <a:srgbClr val="DADCE0"/>
      </a:accent6>
      <a:hlink>
        <a:srgbClr val="FBBC05"/>
      </a:hlink>
      <a:folHlink>
        <a:srgbClr val="34A853"/>
      </a:folHlink>
    </a:clrScheme>
    <a:fontScheme name="pobby_brd_trd">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obby_brd_t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obby_brd_trd">
  <a:themeElements>
    <a:clrScheme name="pobby_brd_trd">
      <a:dk1>
        <a:srgbClr val="202124"/>
      </a:dk1>
      <a:lt1>
        <a:srgbClr val="FFFFFF"/>
      </a:lt1>
      <a:dk2>
        <a:srgbClr val="1F497D"/>
      </a:dk2>
      <a:lt2>
        <a:srgbClr val="F8F9FA"/>
      </a:lt2>
      <a:accent1>
        <a:srgbClr val="4285F4"/>
      </a:accent1>
      <a:accent2>
        <a:srgbClr val="FBBC05"/>
      </a:accent2>
      <a:accent3>
        <a:srgbClr val="34A853"/>
      </a:accent3>
      <a:accent4>
        <a:srgbClr val="4285F4"/>
      </a:accent4>
      <a:accent5>
        <a:srgbClr val="5F6368"/>
      </a:accent5>
      <a:accent6>
        <a:srgbClr val="DADCE0"/>
      </a:accent6>
      <a:hlink>
        <a:srgbClr val="FBBC05"/>
      </a:hlink>
      <a:folHlink>
        <a:srgbClr val="34A853"/>
      </a:folHlink>
    </a:clrScheme>
    <a:fontScheme name="pobby_brd_trd">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obby_brd_t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TotalTime>
  <Words>1976</Words>
  <Application>Microsoft Office PowerPoint</Application>
  <PresentationFormat>Widescreen</PresentationFormat>
  <Paragraphs>253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Segoe UI</vt:lpstr>
      <vt:lpstr>pobby_brd_trd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Bach Hoai</cp:lastModifiedBy>
  <cp:revision>2</cp:revision>
  <dcterms:created xsi:type="dcterms:W3CDTF">2026-09-16T22:21:58Z</dcterms:created>
  <dcterms:modified xsi:type="dcterms:W3CDTF">2026-09-17T00:44:06Z</dcterms:modified>
  <cp:category/>
  <cp:contentStatus/>
  <dc:language>vi-VN</dc:language>
</cp:coreProperties>
</file>